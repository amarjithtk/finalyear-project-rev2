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95" r:id="rId2"/>
    <p:sldId id="396" r:id="rId3"/>
    <p:sldId id="397" r:id="rId4"/>
    <p:sldId id="410" r:id="rId5"/>
    <p:sldId id="399" r:id="rId6"/>
    <p:sldId id="400" r:id="rId7"/>
    <p:sldId id="409" r:id="rId8"/>
    <p:sldId id="401" r:id="rId9"/>
    <p:sldId id="384" r:id="rId10"/>
    <p:sldId id="385" r:id="rId11"/>
    <p:sldId id="387" r:id="rId12"/>
    <p:sldId id="388" r:id="rId13"/>
    <p:sldId id="392" r:id="rId14"/>
    <p:sldId id="386" r:id="rId15"/>
    <p:sldId id="361" r:id="rId16"/>
    <p:sldId id="403" r:id="rId17"/>
    <p:sldId id="404" r:id="rId18"/>
    <p:sldId id="411" r:id="rId19"/>
    <p:sldId id="412" r:id="rId20"/>
    <p:sldId id="407" r:id="rId21"/>
    <p:sldId id="40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5FA30-92B0-4DFF-903A-F95469F825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0D219F-BEDD-40FA-A5D3-C8365DC07AC4}">
      <dgm:prSet/>
      <dgm:spPr/>
      <dgm:t>
        <a:bodyPr/>
        <a:lstStyle/>
        <a:p>
          <a:pPr>
            <a:defRPr cap="all"/>
          </a:pPr>
          <a:r>
            <a:rPr lang="en-US" dirty="0"/>
            <a:t>Kerala weather data used as the physical backbone for dataset creation</a:t>
          </a:r>
        </a:p>
      </dgm:t>
    </dgm:pt>
    <dgm:pt modelId="{54F45CA1-5CFD-4706-8DE5-910D5B2CE6FD}" type="parTrans" cxnId="{C3D684B0-E2F4-4B8F-9DE4-B9CA495C96F4}">
      <dgm:prSet/>
      <dgm:spPr/>
      <dgm:t>
        <a:bodyPr/>
        <a:lstStyle/>
        <a:p>
          <a:endParaRPr lang="en-US"/>
        </a:p>
      </dgm:t>
    </dgm:pt>
    <dgm:pt modelId="{D7195DE5-5622-492E-AC74-94225414FB6D}" type="sibTrans" cxnId="{C3D684B0-E2F4-4B8F-9DE4-B9CA495C96F4}">
      <dgm:prSet/>
      <dgm:spPr/>
      <dgm:t>
        <a:bodyPr/>
        <a:lstStyle/>
        <a:p>
          <a:endParaRPr lang="en-US"/>
        </a:p>
      </dgm:t>
    </dgm:pt>
    <dgm:pt modelId="{4E550EF3-EEE4-4EF5-9F2B-2D6C6C2CD159}">
      <dgm:prSet/>
      <dgm:spPr/>
      <dgm:t>
        <a:bodyPr/>
        <a:lstStyle/>
        <a:p>
          <a:pPr>
            <a:defRPr cap="all"/>
          </a:pPr>
          <a:r>
            <a:rPr lang="en-US"/>
            <a:t>Each daily weather record expanded into 24 hourly timestamps</a:t>
          </a:r>
        </a:p>
      </dgm:t>
    </dgm:pt>
    <dgm:pt modelId="{CCDF04AA-4587-4600-BD14-81A6D30DD808}" type="parTrans" cxnId="{7E8D3222-B12F-4D06-94FB-730ACC16E668}">
      <dgm:prSet/>
      <dgm:spPr/>
      <dgm:t>
        <a:bodyPr/>
        <a:lstStyle/>
        <a:p>
          <a:endParaRPr lang="en-US"/>
        </a:p>
      </dgm:t>
    </dgm:pt>
    <dgm:pt modelId="{4AA824F3-4423-4697-B6DD-DA1F99AC6CE4}" type="sibTrans" cxnId="{7E8D3222-B12F-4D06-94FB-730ACC16E668}">
      <dgm:prSet/>
      <dgm:spPr/>
      <dgm:t>
        <a:bodyPr/>
        <a:lstStyle/>
        <a:p>
          <a:endParaRPr lang="en-US"/>
        </a:p>
      </dgm:t>
    </dgm:pt>
    <dgm:pt modelId="{E9CE5654-05A8-4CA5-84CB-8B0741E5366D}">
      <dgm:prSet/>
      <dgm:spPr/>
      <dgm:t>
        <a:bodyPr/>
        <a:lstStyle/>
        <a:p>
          <a:pPr>
            <a:defRPr cap="all"/>
          </a:pPr>
          <a:r>
            <a:rPr lang="en-US" dirty="0"/>
            <a:t> Weather variables used:   temperature  </a:t>
          </a:r>
        </a:p>
        <a:p>
          <a:pPr>
            <a:defRPr cap="all"/>
          </a:pPr>
          <a:r>
            <a:rPr lang="en-US" dirty="0"/>
            <a:t>humidity  </a:t>
          </a:r>
        </a:p>
        <a:p>
          <a:pPr>
            <a:defRPr cap="all"/>
          </a:pPr>
          <a:r>
            <a:rPr lang="en-US" dirty="0"/>
            <a:t>wind speed  </a:t>
          </a:r>
        </a:p>
        <a:p>
          <a:pPr>
            <a:defRPr cap="all"/>
          </a:pPr>
          <a:r>
            <a:rPr lang="en-US" dirty="0"/>
            <a:t>cloud cover  </a:t>
          </a:r>
        </a:p>
        <a:p>
          <a:pPr>
            <a:defRPr cap="all"/>
          </a:pPr>
          <a:r>
            <a:rPr lang="en-US" dirty="0"/>
            <a:t>solar irradiance</a:t>
          </a:r>
        </a:p>
        <a:p>
          <a:pPr>
            <a:defRPr cap="all"/>
          </a:pPr>
          <a:r>
            <a:rPr lang="en-US" dirty="0"/>
            <a:t> Hourly patterns imposed to generate realistic sector-wise demand and renewable generation</a:t>
          </a:r>
        </a:p>
      </dgm:t>
    </dgm:pt>
    <dgm:pt modelId="{48F9AAB9-9832-4874-BCE7-F0699DAB4282}" type="parTrans" cxnId="{D281074F-32DA-4381-9981-0927AC486016}">
      <dgm:prSet/>
      <dgm:spPr/>
      <dgm:t>
        <a:bodyPr/>
        <a:lstStyle/>
        <a:p>
          <a:endParaRPr lang="en-US"/>
        </a:p>
      </dgm:t>
    </dgm:pt>
    <dgm:pt modelId="{7BEAFF42-7F66-4979-BBD3-1EADDD8B2FA2}" type="sibTrans" cxnId="{D281074F-32DA-4381-9981-0927AC486016}">
      <dgm:prSet/>
      <dgm:spPr/>
      <dgm:t>
        <a:bodyPr/>
        <a:lstStyle/>
        <a:p>
          <a:endParaRPr lang="en-US"/>
        </a:p>
      </dgm:t>
    </dgm:pt>
    <dgm:pt modelId="{29CB58F9-99DB-49D2-A7D8-04EC2657993C}">
      <dgm:prSet/>
      <dgm:spPr/>
      <dgm:t>
        <a:bodyPr/>
        <a:lstStyle/>
        <a:p>
          <a:pPr>
            <a:defRPr cap="all"/>
          </a:pPr>
          <a:r>
            <a:rPr lang="en-US" dirty="0"/>
            <a:t>Generated hourly outputs:</a:t>
          </a:r>
        </a:p>
        <a:p>
          <a:pPr>
            <a:defRPr cap="all"/>
          </a:pPr>
          <a:r>
            <a:rPr lang="en-US" dirty="0"/>
            <a:t>residential load commercial load industrial load</a:t>
          </a:r>
        </a:p>
        <a:p>
          <a:pPr>
            <a:defRPr cap="all"/>
          </a:pPr>
          <a:r>
            <a:rPr lang="en-US" dirty="0"/>
            <a:t>critical load</a:t>
          </a:r>
        </a:p>
        <a:p>
          <a:pPr>
            <a:defRPr cap="all"/>
          </a:pPr>
          <a:r>
            <a:rPr lang="en-US" dirty="0"/>
            <a:t>total load: solar generation, wind generation*</a:t>
          </a:r>
        </a:p>
      </dgm:t>
    </dgm:pt>
    <dgm:pt modelId="{B5639CB9-BFAC-4000-80BC-AB5CC8E59A4B}" type="parTrans" cxnId="{A2BDCA26-9AAB-46F2-9115-8EE97869DBC7}">
      <dgm:prSet/>
      <dgm:spPr/>
      <dgm:t>
        <a:bodyPr/>
        <a:lstStyle/>
        <a:p>
          <a:endParaRPr lang="en-US"/>
        </a:p>
      </dgm:t>
    </dgm:pt>
    <dgm:pt modelId="{B680F8DB-8598-4845-9DA0-81561D8937EF}" type="sibTrans" cxnId="{A2BDCA26-9AAB-46F2-9115-8EE97869DBC7}">
      <dgm:prSet/>
      <dgm:spPr/>
      <dgm:t>
        <a:bodyPr/>
        <a:lstStyle/>
        <a:p>
          <a:endParaRPr lang="en-US"/>
        </a:p>
      </dgm:t>
    </dgm:pt>
    <dgm:pt modelId="{F09347DC-640C-404D-B54C-5F14DF494DD8}">
      <dgm:prSet/>
      <dgm:spPr/>
      <dgm:t>
        <a:bodyPr/>
        <a:lstStyle/>
        <a:p>
          <a:pPr>
            <a:defRPr cap="all"/>
          </a:pPr>
          <a:r>
            <a:rPr lang="en-US" dirty="0"/>
            <a:t>The dataset is not purely random. It is created using: realistic weather forcing hour-wise sector behavior renewable power equations feeder-level engineering constraints</a:t>
          </a:r>
        </a:p>
      </dgm:t>
    </dgm:pt>
    <dgm:pt modelId="{B239DB82-FFD5-4A88-A052-427C04FF30E3}" type="parTrans" cxnId="{4486F874-EBCC-42B2-A695-793F1729CAF7}">
      <dgm:prSet/>
      <dgm:spPr/>
      <dgm:t>
        <a:bodyPr/>
        <a:lstStyle/>
        <a:p>
          <a:endParaRPr lang="en-US"/>
        </a:p>
      </dgm:t>
    </dgm:pt>
    <dgm:pt modelId="{9AAADFC9-D58E-45D5-95FC-036C1F14E388}" type="sibTrans" cxnId="{4486F874-EBCC-42B2-A695-793F1729CAF7}">
      <dgm:prSet/>
      <dgm:spPr/>
      <dgm:t>
        <a:bodyPr/>
        <a:lstStyle/>
        <a:p>
          <a:endParaRPr lang="en-US"/>
        </a:p>
      </dgm:t>
    </dgm:pt>
    <dgm:pt modelId="{52B846F2-1848-47DE-87CF-826EC324D29D}" type="pres">
      <dgm:prSet presAssocID="{0785FA30-92B0-4DFF-903A-F95469F825D8}" presName="root" presStyleCnt="0">
        <dgm:presLayoutVars>
          <dgm:dir/>
          <dgm:resizeHandles val="exact"/>
        </dgm:presLayoutVars>
      </dgm:prSet>
      <dgm:spPr/>
    </dgm:pt>
    <dgm:pt modelId="{7410983F-9DE0-4816-BCAA-E811AE038253}" type="pres">
      <dgm:prSet presAssocID="{210D219F-BEDD-40FA-A5D3-C8365DC07AC4}" presName="compNode" presStyleCnt="0"/>
      <dgm:spPr/>
    </dgm:pt>
    <dgm:pt modelId="{63109CB5-E906-4F03-918B-62B8DC822878}" type="pres">
      <dgm:prSet presAssocID="{210D219F-BEDD-40FA-A5D3-C8365DC07AC4}" presName="iconBgRect" presStyleLbl="bgShp" presStyleIdx="0" presStyleCnt="5"/>
      <dgm:spPr/>
    </dgm:pt>
    <dgm:pt modelId="{41481579-A7E0-40EC-8725-E375FB37028E}" type="pres">
      <dgm:prSet presAssocID="{210D219F-BEDD-40FA-A5D3-C8365DC07AC4}" presName="iconRect" presStyleLbl="node1" presStyleIdx="0" presStyleCnt="5"/>
      <dgm:spPr>
        <a:blipFill rotWithShape="1">
          <a:blip xmlns:r="http://schemas.openxmlformats.org/officeDocument/2006/relationships" r:embed="rId1"/>
          <a:srcRect/>
          <a:stretch>
            <a:fillRect t="-21000" b="-2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BD9A8C6-9C9E-4910-AB70-011B17E96A7F}" type="pres">
      <dgm:prSet presAssocID="{210D219F-BEDD-40FA-A5D3-C8365DC07AC4}" presName="spaceRect" presStyleCnt="0"/>
      <dgm:spPr/>
    </dgm:pt>
    <dgm:pt modelId="{E931D52D-20A6-409F-8A36-5961183C9D20}" type="pres">
      <dgm:prSet presAssocID="{210D219F-BEDD-40FA-A5D3-C8365DC07AC4}" presName="textRect" presStyleLbl="revTx" presStyleIdx="0" presStyleCnt="5">
        <dgm:presLayoutVars>
          <dgm:chMax val="1"/>
          <dgm:chPref val="1"/>
        </dgm:presLayoutVars>
      </dgm:prSet>
      <dgm:spPr/>
    </dgm:pt>
    <dgm:pt modelId="{50925537-C53B-4387-9738-AF438E050263}" type="pres">
      <dgm:prSet presAssocID="{D7195DE5-5622-492E-AC74-94225414FB6D}" presName="sibTrans" presStyleCnt="0"/>
      <dgm:spPr/>
    </dgm:pt>
    <dgm:pt modelId="{CE6D6E9D-455A-4F8C-ABDC-8BA847B86FC3}" type="pres">
      <dgm:prSet presAssocID="{4E550EF3-EEE4-4EF5-9F2B-2D6C6C2CD159}" presName="compNode" presStyleCnt="0"/>
      <dgm:spPr/>
    </dgm:pt>
    <dgm:pt modelId="{5D355BD9-B4DF-4075-85ED-83CCDD59D5F1}" type="pres">
      <dgm:prSet presAssocID="{4E550EF3-EEE4-4EF5-9F2B-2D6C6C2CD159}" presName="iconBgRect" presStyleLbl="bgShp" presStyleIdx="1" presStyleCnt="5"/>
      <dgm:spPr/>
    </dgm:pt>
    <dgm:pt modelId="{51BDD25B-7846-4C9C-98EE-E98181DB278B}" type="pres">
      <dgm:prSet presAssocID="{4E550EF3-EEE4-4EF5-9F2B-2D6C6C2CD15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CAA134F5-186A-4BF3-8155-11ECE94914AB}" type="pres">
      <dgm:prSet presAssocID="{4E550EF3-EEE4-4EF5-9F2B-2D6C6C2CD159}" presName="spaceRect" presStyleCnt="0"/>
      <dgm:spPr/>
    </dgm:pt>
    <dgm:pt modelId="{E83B5B5B-FB4C-4E3D-BBD6-F74276B4C1C5}" type="pres">
      <dgm:prSet presAssocID="{4E550EF3-EEE4-4EF5-9F2B-2D6C6C2CD159}" presName="textRect" presStyleLbl="revTx" presStyleIdx="1" presStyleCnt="5">
        <dgm:presLayoutVars>
          <dgm:chMax val="1"/>
          <dgm:chPref val="1"/>
        </dgm:presLayoutVars>
      </dgm:prSet>
      <dgm:spPr/>
    </dgm:pt>
    <dgm:pt modelId="{20421323-7696-4F93-8D66-26482D23513A}" type="pres">
      <dgm:prSet presAssocID="{4AA824F3-4423-4697-B6DD-DA1F99AC6CE4}" presName="sibTrans" presStyleCnt="0"/>
      <dgm:spPr/>
    </dgm:pt>
    <dgm:pt modelId="{C1F679C2-3034-4E06-A8E5-FC6B22BF430F}" type="pres">
      <dgm:prSet presAssocID="{E9CE5654-05A8-4CA5-84CB-8B0741E5366D}" presName="compNode" presStyleCnt="0"/>
      <dgm:spPr/>
    </dgm:pt>
    <dgm:pt modelId="{A3015ADE-FC58-4D0C-B5B7-FF0669C64B1F}" type="pres">
      <dgm:prSet presAssocID="{E9CE5654-05A8-4CA5-84CB-8B0741E5366D}" presName="iconBgRect" presStyleLbl="bgShp" presStyleIdx="2" presStyleCnt="5"/>
      <dgm:spPr/>
    </dgm:pt>
    <dgm:pt modelId="{AEA8C0C2-7C41-4FF2-9C20-8C95C2FDA908}" type="pres">
      <dgm:prSet presAssocID="{E9CE5654-05A8-4CA5-84CB-8B0741E5366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0E241A31-97F9-4420-B68A-E2FCDBBBB755}" type="pres">
      <dgm:prSet presAssocID="{E9CE5654-05A8-4CA5-84CB-8B0741E5366D}" presName="spaceRect" presStyleCnt="0"/>
      <dgm:spPr/>
    </dgm:pt>
    <dgm:pt modelId="{BA4F68A6-2C0C-4BE2-B051-184901356086}" type="pres">
      <dgm:prSet presAssocID="{E9CE5654-05A8-4CA5-84CB-8B0741E5366D}" presName="textRect" presStyleLbl="revTx" presStyleIdx="2" presStyleCnt="5">
        <dgm:presLayoutVars>
          <dgm:chMax val="1"/>
          <dgm:chPref val="1"/>
        </dgm:presLayoutVars>
      </dgm:prSet>
      <dgm:spPr/>
    </dgm:pt>
    <dgm:pt modelId="{32FAD5C2-9A96-478D-8924-D538AF6B8333}" type="pres">
      <dgm:prSet presAssocID="{7BEAFF42-7F66-4979-BBD3-1EADDD8B2FA2}" presName="sibTrans" presStyleCnt="0"/>
      <dgm:spPr/>
    </dgm:pt>
    <dgm:pt modelId="{A90C1802-C7E4-410B-A956-C4A660B82E2A}" type="pres">
      <dgm:prSet presAssocID="{29CB58F9-99DB-49D2-A7D8-04EC2657993C}" presName="compNode" presStyleCnt="0"/>
      <dgm:spPr/>
    </dgm:pt>
    <dgm:pt modelId="{C1701DCA-7D98-412D-B8C4-CEE32663480C}" type="pres">
      <dgm:prSet presAssocID="{29CB58F9-99DB-49D2-A7D8-04EC2657993C}" presName="iconBgRect" presStyleLbl="bgShp" presStyleIdx="3" presStyleCnt="5"/>
      <dgm:spPr/>
    </dgm:pt>
    <dgm:pt modelId="{C9ACEC9B-92EC-420B-889D-E5E643A63D76}" type="pres">
      <dgm:prSet presAssocID="{29CB58F9-99DB-49D2-A7D8-04EC2657993C}" presName="iconRect" presStyleLbl="node1" presStyleIdx="3" presStyleCnt="5"/>
      <dgm:spPr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5746E974-0E68-4FEA-8317-1F48C78D2C77}" type="pres">
      <dgm:prSet presAssocID="{29CB58F9-99DB-49D2-A7D8-04EC2657993C}" presName="spaceRect" presStyleCnt="0"/>
      <dgm:spPr/>
    </dgm:pt>
    <dgm:pt modelId="{4D3EFF14-CDCF-42FB-96AB-AE6968665FEB}" type="pres">
      <dgm:prSet presAssocID="{29CB58F9-99DB-49D2-A7D8-04EC2657993C}" presName="textRect" presStyleLbl="revTx" presStyleIdx="3" presStyleCnt="5">
        <dgm:presLayoutVars>
          <dgm:chMax val="1"/>
          <dgm:chPref val="1"/>
        </dgm:presLayoutVars>
      </dgm:prSet>
      <dgm:spPr/>
    </dgm:pt>
    <dgm:pt modelId="{9015C12E-0230-481D-B227-409DCC583DBA}" type="pres">
      <dgm:prSet presAssocID="{B680F8DB-8598-4845-9DA0-81561D8937EF}" presName="sibTrans" presStyleCnt="0"/>
      <dgm:spPr/>
    </dgm:pt>
    <dgm:pt modelId="{B19AC1CF-E20F-4099-A771-8B475DB57BC0}" type="pres">
      <dgm:prSet presAssocID="{F09347DC-640C-404D-B54C-5F14DF494DD8}" presName="compNode" presStyleCnt="0"/>
      <dgm:spPr/>
    </dgm:pt>
    <dgm:pt modelId="{D22795B1-7A66-4ED7-993B-EEFAD20BF8E2}" type="pres">
      <dgm:prSet presAssocID="{F09347DC-640C-404D-B54C-5F14DF494DD8}" presName="iconBgRect" presStyleLbl="bgShp" presStyleIdx="4" presStyleCnt="5"/>
      <dgm:spPr/>
    </dgm:pt>
    <dgm:pt modelId="{43B8ACF0-F210-4560-89B3-8FE65F30B9EE}" type="pres">
      <dgm:prSet presAssocID="{F09347DC-640C-404D-B54C-5F14DF494DD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E78E2C5-3CE9-40E2-858D-85B613843633}" type="pres">
      <dgm:prSet presAssocID="{F09347DC-640C-404D-B54C-5F14DF494DD8}" presName="spaceRect" presStyleCnt="0"/>
      <dgm:spPr/>
    </dgm:pt>
    <dgm:pt modelId="{6BF84D1D-2FF1-4B3C-832A-5DCAFFEE6FB5}" type="pres">
      <dgm:prSet presAssocID="{F09347DC-640C-404D-B54C-5F14DF494DD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8D3222-B12F-4D06-94FB-730ACC16E668}" srcId="{0785FA30-92B0-4DFF-903A-F95469F825D8}" destId="{4E550EF3-EEE4-4EF5-9F2B-2D6C6C2CD159}" srcOrd="1" destOrd="0" parTransId="{CCDF04AA-4587-4600-BD14-81A6D30DD808}" sibTransId="{4AA824F3-4423-4697-B6DD-DA1F99AC6CE4}"/>
    <dgm:cxn modelId="{A2BDCA26-9AAB-46F2-9115-8EE97869DBC7}" srcId="{0785FA30-92B0-4DFF-903A-F95469F825D8}" destId="{29CB58F9-99DB-49D2-A7D8-04EC2657993C}" srcOrd="3" destOrd="0" parTransId="{B5639CB9-BFAC-4000-80BC-AB5CC8E59A4B}" sibTransId="{B680F8DB-8598-4845-9DA0-81561D8937EF}"/>
    <dgm:cxn modelId="{16C32138-0989-4239-A11D-1928372FDB94}" type="presOf" srcId="{210D219F-BEDD-40FA-A5D3-C8365DC07AC4}" destId="{E931D52D-20A6-409F-8A36-5961183C9D20}" srcOrd="0" destOrd="0" presId="urn:microsoft.com/office/officeart/2018/5/layout/IconCircleLabelList"/>
    <dgm:cxn modelId="{2AC5ED3D-42F8-460B-B733-73DBE47D439A}" type="presOf" srcId="{F09347DC-640C-404D-B54C-5F14DF494DD8}" destId="{6BF84D1D-2FF1-4B3C-832A-5DCAFFEE6FB5}" srcOrd="0" destOrd="0" presId="urn:microsoft.com/office/officeart/2018/5/layout/IconCircleLabelList"/>
    <dgm:cxn modelId="{FFA70246-3B42-49B4-B46A-C3E53DC70293}" type="presOf" srcId="{E9CE5654-05A8-4CA5-84CB-8B0741E5366D}" destId="{BA4F68A6-2C0C-4BE2-B051-184901356086}" srcOrd="0" destOrd="0" presId="urn:microsoft.com/office/officeart/2018/5/layout/IconCircleLabelList"/>
    <dgm:cxn modelId="{D281074F-32DA-4381-9981-0927AC486016}" srcId="{0785FA30-92B0-4DFF-903A-F95469F825D8}" destId="{E9CE5654-05A8-4CA5-84CB-8B0741E5366D}" srcOrd="2" destOrd="0" parTransId="{48F9AAB9-9832-4874-BCE7-F0699DAB4282}" sibTransId="{7BEAFF42-7F66-4979-BBD3-1EADDD8B2FA2}"/>
    <dgm:cxn modelId="{2F8D606F-1F2A-4F52-8FB0-0D659A5A8B5C}" type="presOf" srcId="{29CB58F9-99DB-49D2-A7D8-04EC2657993C}" destId="{4D3EFF14-CDCF-42FB-96AB-AE6968665FEB}" srcOrd="0" destOrd="0" presId="urn:microsoft.com/office/officeart/2018/5/layout/IconCircleLabelList"/>
    <dgm:cxn modelId="{4486F874-EBCC-42B2-A695-793F1729CAF7}" srcId="{0785FA30-92B0-4DFF-903A-F95469F825D8}" destId="{F09347DC-640C-404D-B54C-5F14DF494DD8}" srcOrd="4" destOrd="0" parTransId="{B239DB82-FFD5-4A88-A052-427C04FF30E3}" sibTransId="{9AAADFC9-D58E-45D5-95FC-036C1F14E388}"/>
    <dgm:cxn modelId="{C3D684B0-E2F4-4B8F-9DE4-B9CA495C96F4}" srcId="{0785FA30-92B0-4DFF-903A-F95469F825D8}" destId="{210D219F-BEDD-40FA-A5D3-C8365DC07AC4}" srcOrd="0" destOrd="0" parTransId="{54F45CA1-5CFD-4706-8DE5-910D5B2CE6FD}" sibTransId="{D7195DE5-5622-492E-AC74-94225414FB6D}"/>
    <dgm:cxn modelId="{8D3C7DEA-6BFE-457F-88CF-875B235610BE}" type="presOf" srcId="{0785FA30-92B0-4DFF-903A-F95469F825D8}" destId="{52B846F2-1848-47DE-87CF-826EC324D29D}" srcOrd="0" destOrd="0" presId="urn:microsoft.com/office/officeart/2018/5/layout/IconCircleLabelList"/>
    <dgm:cxn modelId="{3F8EA1F4-F61A-4478-8C3E-0E1AB4D9F920}" type="presOf" srcId="{4E550EF3-EEE4-4EF5-9F2B-2D6C6C2CD159}" destId="{E83B5B5B-FB4C-4E3D-BBD6-F74276B4C1C5}" srcOrd="0" destOrd="0" presId="urn:microsoft.com/office/officeart/2018/5/layout/IconCircleLabelList"/>
    <dgm:cxn modelId="{7259AA73-1AFB-4406-ACBB-569216354970}" type="presParOf" srcId="{52B846F2-1848-47DE-87CF-826EC324D29D}" destId="{7410983F-9DE0-4816-BCAA-E811AE038253}" srcOrd="0" destOrd="0" presId="urn:microsoft.com/office/officeart/2018/5/layout/IconCircleLabelList"/>
    <dgm:cxn modelId="{358CA13A-AF0F-4FD2-AA10-6DB212AA2AF3}" type="presParOf" srcId="{7410983F-9DE0-4816-BCAA-E811AE038253}" destId="{63109CB5-E906-4F03-918B-62B8DC822878}" srcOrd="0" destOrd="0" presId="urn:microsoft.com/office/officeart/2018/5/layout/IconCircleLabelList"/>
    <dgm:cxn modelId="{E427A577-E2B0-4F07-AECD-4D4A5D1A585F}" type="presParOf" srcId="{7410983F-9DE0-4816-BCAA-E811AE038253}" destId="{41481579-A7E0-40EC-8725-E375FB37028E}" srcOrd="1" destOrd="0" presId="urn:microsoft.com/office/officeart/2018/5/layout/IconCircleLabelList"/>
    <dgm:cxn modelId="{B3997AA4-11DE-4348-BE73-640337A35C63}" type="presParOf" srcId="{7410983F-9DE0-4816-BCAA-E811AE038253}" destId="{0BD9A8C6-9C9E-4910-AB70-011B17E96A7F}" srcOrd="2" destOrd="0" presId="urn:microsoft.com/office/officeart/2018/5/layout/IconCircleLabelList"/>
    <dgm:cxn modelId="{BBE642F8-CB9F-46F9-A347-90D1DD537DED}" type="presParOf" srcId="{7410983F-9DE0-4816-BCAA-E811AE038253}" destId="{E931D52D-20A6-409F-8A36-5961183C9D20}" srcOrd="3" destOrd="0" presId="urn:microsoft.com/office/officeart/2018/5/layout/IconCircleLabelList"/>
    <dgm:cxn modelId="{2BFA184B-E494-438E-BA34-557960D5C4D3}" type="presParOf" srcId="{52B846F2-1848-47DE-87CF-826EC324D29D}" destId="{50925537-C53B-4387-9738-AF438E050263}" srcOrd="1" destOrd="0" presId="urn:microsoft.com/office/officeart/2018/5/layout/IconCircleLabelList"/>
    <dgm:cxn modelId="{BBE74B03-0168-4E50-97E6-E106E7D70473}" type="presParOf" srcId="{52B846F2-1848-47DE-87CF-826EC324D29D}" destId="{CE6D6E9D-455A-4F8C-ABDC-8BA847B86FC3}" srcOrd="2" destOrd="0" presId="urn:microsoft.com/office/officeart/2018/5/layout/IconCircleLabelList"/>
    <dgm:cxn modelId="{588BEB8C-7A95-4E8E-AD6D-9EBBFD7DDAB1}" type="presParOf" srcId="{CE6D6E9D-455A-4F8C-ABDC-8BA847B86FC3}" destId="{5D355BD9-B4DF-4075-85ED-83CCDD59D5F1}" srcOrd="0" destOrd="0" presId="urn:microsoft.com/office/officeart/2018/5/layout/IconCircleLabelList"/>
    <dgm:cxn modelId="{7BEFC63D-6689-4F48-AE06-B805060BF022}" type="presParOf" srcId="{CE6D6E9D-455A-4F8C-ABDC-8BA847B86FC3}" destId="{51BDD25B-7846-4C9C-98EE-E98181DB278B}" srcOrd="1" destOrd="0" presId="urn:microsoft.com/office/officeart/2018/5/layout/IconCircleLabelList"/>
    <dgm:cxn modelId="{2AA6CFED-8D9A-4FCA-8170-EFB92A93BA81}" type="presParOf" srcId="{CE6D6E9D-455A-4F8C-ABDC-8BA847B86FC3}" destId="{CAA134F5-186A-4BF3-8155-11ECE94914AB}" srcOrd="2" destOrd="0" presId="urn:microsoft.com/office/officeart/2018/5/layout/IconCircleLabelList"/>
    <dgm:cxn modelId="{6E3400E5-54E7-4491-A529-9900C8512D4F}" type="presParOf" srcId="{CE6D6E9D-455A-4F8C-ABDC-8BA847B86FC3}" destId="{E83B5B5B-FB4C-4E3D-BBD6-F74276B4C1C5}" srcOrd="3" destOrd="0" presId="urn:microsoft.com/office/officeart/2018/5/layout/IconCircleLabelList"/>
    <dgm:cxn modelId="{E3498062-603F-4696-B881-4DABA0B33185}" type="presParOf" srcId="{52B846F2-1848-47DE-87CF-826EC324D29D}" destId="{20421323-7696-4F93-8D66-26482D23513A}" srcOrd="3" destOrd="0" presId="urn:microsoft.com/office/officeart/2018/5/layout/IconCircleLabelList"/>
    <dgm:cxn modelId="{26D46007-C35B-4110-B233-23798FC1E007}" type="presParOf" srcId="{52B846F2-1848-47DE-87CF-826EC324D29D}" destId="{C1F679C2-3034-4E06-A8E5-FC6B22BF430F}" srcOrd="4" destOrd="0" presId="urn:microsoft.com/office/officeart/2018/5/layout/IconCircleLabelList"/>
    <dgm:cxn modelId="{DF8BE878-3320-4A14-B136-6B32B963F298}" type="presParOf" srcId="{C1F679C2-3034-4E06-A8E5-FC6B22BF430F}" destId="{A3015ADE-FC58-4D0C-B5B7-FF0669C64B1F}" srcOrd="0" destOrd="0" presId="urn:microsoft.com/office/officeart/2018/5/layout/IconCircleLabelList"/>
    <dgm:cxn modelId="{64BE0E67-846F-4BD8-BE5F-4A711F0B39F9}" type="presParOf" srcId="{C1F679C2-3034-4E06-A8E5-FC6B22BF430F}" destId="{AEA8C0C2-7C41-4FF2-9C20-8C95C2FDA908}" srcOrd="1" destOrd="0" presId="urn:microsoft.com/office/officeart/2018/5/layout/IconCircleLabelList"/>
    <dgm:cxn modelId="{1085C41F-BEDF-4636-BFB8-4DC47636DCA5}" type="presParOf" srcId="{C1F679C2-3034-4E06-A8E5-FC6B22BF430F}" destId="{0E241A31-97F9-4420-B68A-E2FCDBBBB755}" srcOrd="2" destOrd="0" presId="urn:microsoft.com/office/officeart/2018/5/layout/IconCircleLabelList"/>
    <dgm:cxn modelId="{77642587-6282-49E5-97C8-4621376265F4}" type="presParOf" srcId="{C1F679C2-3034-4E06-A8E5-FC6B22BF430F}" destId="{BA4F68A6-2C0C-4BE2-B051-184901356086}" srcOrd="3" destOrd="0" presId="urn:microsoft.com/office/officeart/2018/5/layout/IconCircleLabelList"/>
    <dgm:cxn modelId="{CBA33F2B-9A75-46D7-ACAC-A961D0E37D1B}" type="presParOf" srcId="{52B846F2-1848-47DE-87CF-826EC324D29D}" destId="{32FAD5C2-9A96-478D-8924-D538AF6B8333}" srcOrd="5" destOrd="0" presId="urn:microsoft.com/office/officeart/2018/5/layout/IconCircleLabelList"/>
    <dgm:cxn modelId="{9EE24E1A-4889-45D7-8D78-BD0BF13F227F}" type="presParOf" srcId="{52B846F2-1848-47DE-87CF-826EC324D29D}" destId="{A90C1802-C7E4-410B-A956-C4A660B82E2A}" srcOrd="6" destOrd="0" presId="urn:microsoft.com/office/officeart/2018/5/layout/IconCircleLabelList"/>
    <dgm:cxn modelId="{E44F8BF8-88D9-4316-9B9D-FC44ECB33E26}" type="presParOf" srcId="{A90C1802-C7E4-410B-A956-C4A660B82E2A}" destId="{C1701DCA-7D98-412D-B8C4-CEE32663480C}" srcOrd="0" destOrd="0" presId="urn:microsoft.com/office/officeart/2018/5/layout/IconCircleLabelList"/>
    <dgm:cxn modelId="{A6FEDABF-6D01-4F78-8905-71FA66F37EF4}" type="presParOf" srcId="{A90C1802-C7E4-410B-A956-C4A660B82E2A}" destId="{C9ACEC9B-92EC-420B-889D-E5E643A63D76}" srcOrd="1" destOrd="0" presId="urn:microsoft.com/office/officeart/2018/5/layout/IconCircleLabelList"/>
    <dgm:cxn modelId="{5718BE8F-6A35-4016-B2E0-D617A67746D3}" type="presParOf" srcId="{A90C1802-C7E4-410B-A956-C4A660B82E2A}" destId="{5746E974-0E68-4FEA-8317-1F48C78D2C77}" srcOrd="2" destOrd="0" presId="urn:microsoft.com/office/officeart/2018/5/layout/IconCircleLabelList"/>
    <dgm:cxn modelId="{CC2FD4A5-F1BD-4097-99F6-0B2DCA2271DE}" type="presParOf" srcId="{A90C1802-C7E4-410B-A956-C4A660B82E2A}" destId="{4D3EFF14-CDCF-42FB-96AB-AE6968665FEB}" srcOrd="3" destOrd="0" presId="urn:microsoft.com/office/officeart/2018/5/layout/IconCircleLabelList"/>
    <dgm:cxn modelId="{E339A860-E614-4398-A23A-77024FF2605F}" type="presParOf" srcId="{52B846F2-1848-47DE-87CF-826EC324D29D}" destId="{9015C12E-0230-481D-B227-409DCC583DBA}" srcOrd="7" destOrd="0" presId="urn:microsoft.com/office/officeart/2018/5/layout/IconCircleLabelList"/>
    <dgm:cxn modelId="{F75D547D-DFCA-446F-B032-55944C6EA6E2}" type="presParOf" srcId="{52B846F2-1848-47DE-87CF-826EC324D29D}" destId="{B19AC1CF-E20F-4099-A771-8B475DB57BC0}" srcOrd="8" destOrd="0" presId="urn:microsoft.com/office/officeart/2018/5/layout/IconCircleLabelList"/>
    <dgm:cxn modelId="{4B6004B4-858C-48FE-B9A3-F7A17A4DA165}" type="presParOf" srcId="{B19AC1CF-E20F-4099-A771-8B475DB57BC0}" destId="{D22795B1-7A66-4ED7-993B-EEFAD20BF8E2}" srcOrd="0" destOrd="0" presId="urn:microsoft.com/office/officeart/2018/5/layout/IconCircleLabelList"/>
    <dgm:cxn modelId="{DB1E3E14-1D56-4EE2-A186-DA60979ECA83}" type="presParOf" srcId="{B19AC1CF-E20F-4099-A771-8B475DB57BC0}" destId="{43B8ACF0-F210-4560-89B3-8FE65F30B9EE}" srcOrd="1" destOrd="0" presId="urn:microsoft.com/office/officeart/2018/5/layout/IconCircleLabelList"/>
    <dgm:cxn modelId="{BADC094A-0FF7-4FA5-BBD1-7BF04E0FCE2E}" type="presParOf" srcId="{B19AC1CF-E20F-4099-A771-8B475DB57BC0}" destId="{1E78E2C5-3CE9-40E2-858D-85B613843633}" srcOrd="2" destOrd="0" presId="urn:microsoft.com/office/officeart/2018/5/layout/IconCircleLabelList"/>
    <dgm:cxn modelId="{9722A107-C055-4212-A080-6D4B5586538F}" type="presParOf" srcId="{B19AC1CF-E20F-4099-A771-8B475DB57BC0}" destId="{6BF84D1D-2FF1-4B3C-832A-5DCAFFEE6F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8EE4C6-D0FF-4487-B8CB-36D090D8CB5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B280FA-872B-4DBA-B44A-DB328C52E8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arranged in chronological order </a:t>
          </a:r>
        </a:p>
      </dgm:t>
    </dgm:pt>
    <dgm:pt modelId="{7CAF2858-1C27-4005-B2F5-0A4B76CCE614}" type="parTrans" cxnId="{4176B714-73DC-41C2-83F5-9704833BFD33}">
      <dgm:prSet/>
      <dgm:spPr/>
      <dgm:t>
        <a:bodyPr/>
        <a:lstStyle/>
        <a:p>
          <a:endParaRPr lang="en-US"/>
        </a:p>
      </dgm:t>
    </dgm:pt>
    <dgm:pt modelId="{1D5E8AF9-8E7D-423F-9BA7-64A3332A50B1}" type="sibTrans" cxnId="{4176B714-73DC-41C2-83F5-9704833BFD33}">
      <dgm:prSet/>
      <dgm:spPr/>
      <dgm:t>
        <a:bodyPr/>
        <a:lstStyle/>
        <a:p>
          <a:endParaRPr lang="en-US"/>
        </a:p>
      </dgm:t>
    </dgm:pt>
    <dgm:pt modelId="{544B53F0-61C6-4945-BF43-0AD36EA137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 variables and target variables normalized using min-max scaling</a:t>
          </a:r>
        </a:p>
      </dgm:t>
    </dgm:pt>
    <dgm:pt modelId="{3BE26C12-9A08-42CE-996E-8CFD9F36BF8D}" type="parTrans" cxnId="{623F7CD8-9DF5-4643-8FEA-4148C2C184F9}">
      <dgm:prSet/>
      <dgm:spPr/>
      <dgm:t>
        <a:bodyPr/>
        <a:lstStyle/>
        <a:p>
          <a:endParaRPr lang="en-US"/>
        </a:p>
      </dgm:t>
    </dgm:pt>
    <dgm:pt modelId="{C688FE19-180C-4AD5-9D5E-A15278E9D3AC}" type="sibTrans" cxnId="{623F7CD8-9DF5-4643-8FEA-4148C2C184F9}">
      <dgm:prSet/>
      <dgm:spPr/>
      <dgm:t>
        <a:bodyPr/>
        <a:lstStyle/>
        <a:p>
          <a:endParaRPr lang="en-US"/>
        </a:p>
      </dgm:t>
    </dgm:pt>
    <dgm:pt modelId="{294F2769-0CAC-4909-9F5D-265EAD8F71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Sliding-window sequence generation used for time-series learning</a:t>
          </a:r>
        </a:p>
      </dgm:t>
    </dgm:pt>
    <dgm:pt modelId="{FD0F9341-7868-4051-881D-2CF4B48E9BD8}" type="parTrans" cxnId="{50DE17B1-32CC-40D7-B2FA-D9C6D06CBB49}">
      <dgm:prSet/>
      <dgm:spPr/>
      <dgm:t>
        <a:bodyPr/>
        <a:lstStyle/>
        <a:p>
          <a:endParaRPr lang="en-US"/>
        </a:p>
      </dgm:t>
    </dgm:pt>
    <dgm:pt modelId="{54B06473-8360-4A83-8EEC-4052DF11B135}" type="sibTrans" cxnId="{50DE17B1-32CC-40D7-B2FA-D9C6D06CBB49}">
      <dgm:prSet/>
      <dgm:spPr/>
      <dgm:t>
        <a:bodyPr/>
        <a:lstStyle/>
        <a:p>
          <a:endParaRPr lang="en-US"/>
        </a:p>
      </dgm:t>
    </dgm:pt>
    <dgm:pt modelId="{7047213F-7780-4BC6-8CAF-750DFEF1BCEF}" type="pres">
      <dgm:prSet presAssocID="{4C8EE4C6-D0FF-4487-B8CB-36D090D8CB5C}" presName="root" presStyleCnt="0">
        <dgm:presLayoutVars>
          <dgm:dir/>
          <dgm:resizeHandles val="exact"/>
        </dgm:presLayoutVars>
      </dgm:prSet>
      <dgm:spPr/>
    </dgm:pt>
    <dgm:pt modelId="{D783E351-473F-472F-AD61-E30B60DF9D2E}" type="pres">
      <dgm:prSet presAssocID="{02B280FA-872B-4DBA-B44A-DB328C52E8D7}" presName="compNode" presStyleCnt="0"/>
      <dgm:spPr/>
    </dgm:pt>
    <dgm:pt modelId="{659CF10D-D615-4A3D-A3E7-66E580BE9F6A}" type="pres">
      <dgm:prSet presAssocID="{02B280FA-872B-4DBA-B44A-DB328C52E8D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7D7E9F6-43C4-4397-BCF8-9A33BBA9B7AC}" type="pres">
      <dgm:prSet presAssocID="{02B280FA-872B-4DBA-B44A-DB328C52E8D7}" presName="spaceRect" presStyleCnt="0"/>
      <dgm:spPr/>
    </dgm:pt>
    <dgm:pt modelId="{A75ED2A3-4131-4294-864A-10FBDC3E7B4E}" type="pres">
      <dgm:prSet presAssocID="{02B280FA-872B-4DBA-B44A-DB328C52E8D7}" presName="textRect" presStyleLbl="revTx" presStyleIdx="0" presStyleCnt="3">
        <dgm:presLayoutVars>
          <dgm:chMax val="1"/>
          <dgm:chPref val="1"/>
        </dgm:presLayoutVars>
      </dgm:prSet>
      <dgm:spPr/>
    </dgm:pt>
    <dgm:pt modelId="{8E651C46-5FEB-4CE7-B580-0EA29B52E79D}" type="pres">
      <dgm:prSet presAssocID="{1D5E8AF9-8E7D-423F-9BA7-64A3332A50B1}" presName="sibTrans" presStyleCnt="0"/>
      <dgm:spPr/>
    </dgm:pt>
    <dgm:pt modelId="{D340156B-3F6D-487A-830E-1FA554D9D01E}" type="pres">
      <dgm:prSet presAssocID="{544B53F0-61C6-4945-BF43-0AD36EA137EB}" presName="compNode" presStyleCnt="0"/>
      <dgm:spPr/>
    </dgm:pt>
    <dgm:pt modelId="{A0851884-B850-4602-83D4-74BEBE162368}" type="pres">
      <dgm:prSet presAssocID="{544B53F0-61C6-4945-BF43-0AD36EA137E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A3F494E-B606-40A7-9DA6-05AC049DD1AC}" type="pres">
      <dgm:prSet presAssocID="{544B53F0-61C6-4945-BF43-0AD36EA137EB}" presName="spaceRect" presStyleCnt="0"/>
      <dgm:spPr/>
    </dgm:pt>
    <dgm:pt modelId="{E88E6643-F2C0-45AE-82C3-03547A502DAE}" type="pres">
      <dgm:prSet presAssocID="{544B53F0-61C6-4945-BF43-0AD36EA137EB}" presName="textRect" presStyleLbl="revTx" presStyleIdx="1" presStyleCnt="3">
        <dgm:presLayoutVars>
          <dgm:chMax val="1"/>
          <dgm:chPref val="1"/>
        </dgm:presLayoutVars>
      </dgm:prSet>
      <dgm:spPr/>
    </dgm:pt>
    <dgm:pt modelId="{029CC371-F917-46DF-9938-CDC75AA95488}" type="pres">
      <dgm:prSet presAssocID="{C688FE19-180C-4AD5-9D5E-A15278E9D3AC}" presName="sibTrans" presStyleCnt="0"/>
      <dgm:spPr/>
    </dgm:pt>
    <dgm:pt modelId="{3472580C-2A18-4592-8F5E-3DA038084772}" type="pres">
      <dgm:prSet presAssocID="{294F2769-0CAC-4909-9F5D-265EAD8F718E}" presName="compNode" presStyleCnt="0"/>
      <dgm:spPr/>
    </dgm:pt>
    <dgm:pt modelId="{C8EF96C1-BC79-4D67-B680-7ED788185A97}" type="pres">
      <dgm:prSet presAssocID="{294F2769-0CAC-4909-9F5D-265EAD8F718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AAA2DFA1-85F2-4E7E-B7AE-A8E4ADA17D5C}" type="pres">
      <dgm:prSet presAssocID="{294F2769-0CAC-4909-9F5D-265EAD8F718E}" presName="spaceRect" presStyleCnt="0"/>
      <dgm:spPr/>
    </dgm:pt>
    <dgm:pt modelId="{D49A0F30-D9B1-4E7D-B983-4150422945F0}" type="pres">
      <dgm:prSet presAssocID="{294F2769-0CAC-4909-9F5D-265EAD8F71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FCBB80D-4AE9-4D16-AF17-05E5BFEFF92B}" type="presOf" srcId="{294F2769-0CAC-4909-9F5D-265EAD8F718E}" destId="{D49A0F30-D9B1-4E7D-B983-4150422945F0}" srcOrd="0" destOrd="0" presId="urn:microsoft.com/office/officeart/2018/2/layout/IconLabelList"/>
    <dgm:cxn modelId="{4176B714-73DC-41C2-83F5-9704833BFD33}" srcId="{4C8EE4C6-D0FF-4487-B8CB-36D090D8CB5C}" destId="{02B280FA-872B-4DBA-B44A-DB328C52E8D7}" srcOrd="0" destOrd="0" parTransId="{7CAF2858-1C27-4005-B2F5-0A4B76CCE614}" sibTransId="{1D5E8AF9-8E7D-423F-9BA7-64A3332A50B1}"/>
    <dgm:cxn modelId="{E37E2A22-9BF1-468C-B186-8F096456E755}" type="presOf" srcId="{4C8EE4C6-D0FF-4487-B8CB-36D090D8CB5C}" destId="{7047213F-7780-4BC6-8CAF-750DFEF1BCEF}" srcOrd="0" destOrd="0" presId="urn:microsoft.com/office/officeart/2018/2/layout/IconLabelList"/>
    <dgm:cxn modelId="{8FEBAA50-78DA-4ADD-837B-EA6D6AF46064}" type="presOf" srcId="{544B53F0-61C6-4945-BF43-0AD36EA137EB}" destId="{E88E6643-F2C0-45AE-82C3-03547A502DAE}" srcOrd="0" destOrd="0" presId="urn:microsoft.com/office/officeart/2018/2/layout/IconLabelList"/>
    <dgm:cxn modelId="{74F0F397-BC9D-4FDF-B838-F0045F95ADB0}" type="presOf" srcId="{02B280FA-872B-4DBA-B44A-DB328C52E8D7}" destId="{A75ED2A3-4131-4294-864A-10FBDC3E7B4E}" srcOrd="0" destOrd="0" presId="urn:microsoft.com/office/officeart/2018/2/layout/IconLabelList"/>
    <dgm:cxn modelId="{50DE17B1-32CC-40D7-B2FA-D9C6D06CBB49}" srcId="{4C8EE4C6-D0FF-4487-B8CB-36D090D8CB5C}" destId="{294F2769-0CAC-4909-9F5D-265EAD8F718E}" srcOrd="2" destOrd="0" parTransId="{FD0F9341-7868-4051-881D-2CF4B48E9BD8}" sibTransId="{54B06473-8360-4A83-8EEC-4052DF11B135}"/>
    <dgm:cxn modelId="{623F7CD8-9DF5-4643-8FEA-4148C2C184F9}" srcId="{4C8EE4C6-D0FF-4487-B8CB-36D090D8CB5C}" destId="{544B53F0-61C6-4945-BF43-0AD36EA137EB}" srcOrd="1" destOrd="0" parTransId="{3BE26C12-9A08-42CE-996E-8CFD9F36BF8D}" sibTransId="{C688FE19-180C-4AD5-9D5E-A15278E9D3AC}"/>
    <dgm:cxn modelId="{51CED10F-9E7E-4B1B-8B41-1A326CA63286}" type="presParOf" srcId="{7047213F-7780-4BC6-8CAF-750DFEF1BCEF}" destId="{D783E351-473F-472F-AD61-E30B60DF9D2E}" srcOrd="0" destOrd="0" presId="urn:microsoft.com/office/officeart/2018/2/layout/IconLabelList"/>
    <dgm:cxn modelId="{BA0A1AF2-7974-42F8-B58F-66C756DECAA5}" type="presParOf" srcId="{D783E351-473F-472F-AD61-E30B60DF9D2E}" destId="{659CF10D-D615-4A3D-A3E7-66E580BE9F6A}" srcOrd="0" destOrd="0" presId="urn:microsoft.com/office/officeart/2018/2/layout/IconLabelList"/>
    <dgm:cxn modelId="{4E55CDE1-E86A-4C77-BA8E-5DFE3F5CE20A}" type="presParOf" srcId="{D783E351-473F-472F-AD61-E30B60DF9D2E}" destId="{07D7E9F6-43C4-4397-BCF8-9A33BBA9B7AC}" srcOrd="1" destOrd="0" presId="urn:microsoft.com/office/officeart/2018/2/layout/IconLabelList"/>
    <dgm:cxn modelId="{03D02789-6591-4685-A980-5138A1F12C2B}" type="presParOf" srcId="{D783E351-473F-472F-AD61-E30B60DF9D2E}" destId="{A75ED2A3-4131-4294-864A-10FBDC3E7B4E}" srcOrd="2" destOrd="0" presId="urn:microsoft.com/office/officeart/2018/2/layout/IconLabelList"/>
    <dgm:cxn modelId="{5698E8A4-DCEF-43BA-9C91-179F0C76A724}" type="presParOf" srcId="{7047213F-7780-4BC6-8CAF-750DFEF1BCEF}" destId="{8E651C46-5FEB-4CE7-B580-0EA29B52E79D}" srcOrd="1" destOrd="0" presId="urn:microsoft.com/office/officeart/2018/2/layout/IconLabelList"/>
    <dgm:cxn modelId="{B8BEA82D-F104-436D-9152-C8837555E718}" type="presParOf" srcId="{7047213F-7780-4BC6-8CAF-750DFEF1BCEF}" destId="{D340156B-3F6D-487A-830E-1FA554D9D01E}" srcOrd="2" destOrd="0" presId="urn:microsoft.com/office/officeart/2018/2/layout/IconLabelList"/>
    <dgm:cxn modelId="{0E4B4D1F-4DE6-45AA-9583-40AD3CC32610}" type="presParOf" srcId="{D340156B-3F6D-487A-830E-1FA554D9D01E}" destId="{A0851884-B850-4602-83D4-74BEBE162368}" srcOrd="0" destOrd="0" presId="urn:microsoft.com/office/officeart/2018/2/layout/IconLabelList"/>
    <dgm:cxn modelId="{2EE2D8ED-DAF4-4BD3-B049-C4B41452D675}" type="presParOf" srcId="{D340156B-3F6D-487A-830E-1FA554D9D01E}" destId="{2A3F494E-B606-40A7-9DA6-05AC049DD1AC}" srcOrd="1" destOrd="0" presId="urn:microsoft.com/office/officeart/2018/2/layout/IconLabelList"/>
    <dgm:cxn modelId="{3D79FBCA-1A58-4E7C-9BC8-CA0657011525}" type="presParOf" srcId="{D340156B-3F6D-487A-830E-1FA554D9D01E}" destId="{E88E6643-F2C0-45AE-82C3-03547A502DAE}" srcOrd="2" destOrd="0" presId="urn:microsoft.com/office/officeart/2018/2/layout/IconLabelList"/>
    <dgm:cxn modelId="{EDE2FF48-33F7-4B9B-924C-B72924CA23C2}" type="presParOf" srcId="{7047213F-7780-4BC6-8CAF-750DFEF1BCEF}" destId="{029CC371-F917-46DF-9938-CDC75AA95488}" srcOrd="3" destOrd="0" presId="urn:microsoft.com/office/officeart/2018/2/layout/IconLabelList"/>
    <dgm:cxn modelId="{0B51A352-5995-48C9-8268-6E1DD3563F46}" type="presParOf" srcId="{7047213F-7780-4BC6-8CAF-750DFEF1BCEF}" destId="{3472580C-2A18-4592-8F5E-3DA038084772}" srcOrd="4" destOrd="0" presId="urn:microsoft.com/office/officeart/2018/2/layout/IconLabelList"/>
    <dgm:cxn modelId="{FF7E5762-F348-4A33-9E8A-D474D9A8FB18}" type="presParOf" srcId="{3472580C-2A18-4592-8F5E-3DA038084772}" destId="{C8EF96C1-BC79-4D67-B680-7ED788185A97}" srcOrd="0" destOrd="0" presId="urn:microsoft.com/office/officeart/2018/2/layout/IconLabelList"/>
    <dgm:cxn modelId="{B39821E9-D0A7-4B71-8B98-D0FA01BBBD14}" type="presParOf" srcId="{3472580C-2A18-4592-8F5E-3DA038084772}" destId="{AAA2DFA1-85F2-4E7E-B7AE-A8E4ADA17D5C}" srcOrd="1" destOrd="0" presId="urn:microsoft.com/office/officeart/2018/2/layout/IconLabelList"/>
    <dgm:cxn modelId="{E1FB9259-EB28-4F0C-8ACC-E250A34F07BF}" type="presParOf" srcId="{3472580C-2A18-4592-8F5E-3DA038084772}" destId="{D49A0F30-D9B1-4E7D-B983-4150422945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8CE73A-CBC5-4E39-82FA-D6AE70B5ACC0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B7324A3-BAA7-4DBD-9004-EB898DC6A7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Open DSS produces numerical outputs for each hourly operating state</a:t>
          </a:r>
        </a:p>
      </dgm:t>
    </dgm:pt>
    <dgm:pt modelId="{A229B693-5128-4ABD-9DB6-E219C9C20504}" type="parTrans" cxnId="{9DE0C5CB-EB95-4E06-8BAF-4CD71EE5C0B4}">
      <dgm:prSet/>
      <dgm:spPr/>
      <dgm:t>
        <a:bodyPr/>
        <a:lstStyle/>
        <a:p>
          <a:endParaRPr lang="en-US"/>
        </a:p>
      </dgm:t>
    </dgm:pt>
    <dgm:pt modelId="{53BEA13B-51E2-4A37-999C-E9F9F3C930AF}" type="sibTrans" cxnId="{9DE0C5CB-EB95-4E06-8BAF-4CD71EE5C0B4}">
      <dgm:prSet/>
      <dgm:spPr/>
      <dgm:t>
        <a:bodyPr/>
        <a:lstStyle/>
        <a:p>
          <a:endParaRPr lang="en-US"/>
        </a:p>
      </dgm:t>
    </dgm:pt>
    <dgm:pt modelId="{053DB2BA-CDD0-4140-9C11-F2F34A63D7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LLM layer converts technical outputs into readable operational insights</a:t>
          </a:r>
        </a:p>
      </dgm:t>
    </dgm:pt>
    <dgm:pt modelId="{A955C164-37AD-4931-AE4F-FFB83FFAA970}" type="parTrans" cxnId="{DFD73790-25DC-4560-BE6B-26ABC6D09361}">
      <dgm:prSet/>
      <dgm:spPr/>
      <dgm:t>
        <a:bodyPr/>
        <a:lstStyle/>
        <a:p>
          <a:endParaRPr lang="en-US"/>
        </a:p>
      </dgm:t>
    </dgm:pt>
    <dgm:pt modelId="{642B71FD-5FA3-4C1B-B04A-0B8A9D813234}" type="sibTrans" cxnId="{DFD73790-25DC-4560-BE6B-26ABC6D09361}">
      <dgm:prSet/>
      <dgm:spPr/>
      <dgm:t>
        <a:bodyPr/>
        <a:lstStyle/>
        <a:p>
          <a:endParaRPr lang="en-US"/>
        </a:p>
      </dgm:t>
    </dgm:pt>
    <dgm:pt modelId="{075B93EB-987E-411C-ADE1-32358E2914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Helps identify  stressed hours ,undervoltage periods , overload windows, renewable shortfall periods ,peak grid dependence, recurring evening-risk patterns</a:t>
          </a:r>
        </a:p>
      </dgm:t>
    </dgm:pt>
    <dgm:pt modelId="{B919D29C-BECC-4577-9DFB-150D247B2F11}" type="parTrans" cxnId="{F66297F3-6A55-47B7-8764-BF8460F97AFC}">
      <dgm:prSet/>
      <dgm:spPr/>
      <dgm:t>
        <a:bodyPr/>
        <a:lstStyle/>
        <a:p>
          <a:endParaRPr lang="en-US"/>
        </a:p>
      </dgm:t>
    </dgm:pt>
    <dgm:pt modelId="{EE6BBC1E-10EB-4C5C-A2E6-32ADBEAD95C2}" type="sibTrans" cxnId="{F66297F3-6A55-47B7-8764-BF8460F97AFC}">
      <dgm:prSet/>
      <dgm:spPr/>
      <dgm:t>
        <a:bodyPr/>
        <a:lstStyle/>
        <a:p>
          <a:endParaRPr lang="en-US"/>
        </a:p>
      </dgm:t>
    </dgm:pt>
    <dgm:pt modelId="{1998D533-5269-43A2-B703-2FD8506180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Example interpretation: evening peak hours increase feeder stress due to residential demand 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daytime solar support reduces grid import*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wind variability affects renewable contribution during non-solar hours</a:t>
          </a:r>
        </a:p>
      </dgm:t>
    </dgm:pt>
    <dgm:pt modelId="{E4A23B46-52A5-4C19-9EC4-1FA605C01E8D}" type="parTrans" cxnId="{02AF4035-B1A1-44FD-8D72-B1F30ED35CC3}">
      <dgm:prSet/>
      <dgm:spPr/>
      <dgm:t>
        <a:bodyPr/>
        <a:lstStyle/>
        <a:p>
          <a:endParaRPr lang="en-US"/>
        </a:p>
      </dgm:t>
    </dgm:pt>
    <dgm:pt modelId="{4F2B5B3D-F485-4F87-AA42-BBF753783DE8}" type="sibTrans" cxnId="{02AF4035-B1A1-44FD-8D72-B1F30ED35CC3}">
      <dgm:prSet/>
      <dgm:spPr/>
      <dgm:t>
        <a:bodyPr/>
        <a:lstStyle/>
        <a:p>
          <a:endParaRPr lang="en-US"/>
        </a:p>
      </dgm:t>
    </dgm:pt>
    <dgm:pt modelId="{E5795BC6-E8BB-4C4D-93A3-3E812CFD5542}" type="pres">
      <dgm:prSet presAssocID="{9E8CE73A-CBC5-4E39-82FA-D6AE70B5ACC0}" presName="root" presStyleCnt="0">
        <dgm:presLayoutVars>
          <dgm:dir/>
          <dgm:resizeHandles val="exact"/>
        </dgm:presLayoutVars>
      </dgm:prSet>
      <dgm:spPr/>
    </dgm:pt>
    <dgm:pt modelId="{5704487B-3927-4434-A27B-89CB6AD08F7F}" type="pres">
      <dgm:prSet presAssocID="{0B7324A3-BAA7-4DBD-9004-EB898DC6A711}" presName="compNode" presStyleCnt="0"/>
      <dgm:spPr/>
    </dgm:pt>
    <dgm:pt modelId="{19C19AB6-8AE6-484D-B133-91298918C402}" type="pres">
      <dgm:prSet presAssocID="{0B7324A3-BAA7-4DBD-9004-EB898DC6A711}" presName="iconBgRect" presStyleLbl="bgShp" presStyleIdx="0" presStyleCnt="4"/>
      <dgm:spPr/>
    </dgm:pt>
    <dgm:pt modelId="{97AD6D8D-BC35-4908-8687-AE1D7DF41047}" type="pres">
      <dgm:prSet presAssocID="{0B7324A3-BAA7-4DBD-9004-EB898DC6A71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7AA004B-7E06-4229-B606-0723BBAEBD8E}" type="pres">
      <dgm:prSet presAssocID="{0B7324A3-BAA7-4DBD-9004-EB898DC6A711}" presName="spaceRect" presStyleCnt="0"/>
      <dgm:spPr/>
    </dgm:pt>
    <dgm:pt modelId="{63F696AF-D569-4F7B-A715-94307E5DE4B7}" type="pres">
      <dgm:prSet presAssocID="{0B7324A3-BAA7-4DBD-9004-EB898DC6A711}" presName="textRect" presStyleLbl="revTx" presStyleIdx="0" presStyleCnt="4">
        <dgm:presLayoutVars>
          <dgm:chMax val="1"/>
          <dgm:chPref val="1"/>
        </dgm:presLayoutVars>
      </dgm:prSet>
      <dgm:spPr/>
    </dgm:pt>
    <dgm:pt modelId="{14AE7D53-B169-4828-9607-D0321D896A8C}" type="pres">
      <dgm:prSet presAssocID="{53BEA13B-51E2-4A37-999C-E9F9F3C930AF}" presName="sibTrans" presStyleCnt="0"/>
      <dgm:spPr/>
    </dgm:pt>
    <dgm:pt modelId="{83A9655D-034C-469E-A4D7-8068777E2629}" type="pres">
      <dgm:prSet presAssocID="{053DB2BA-CDD0-4140-9C11-F2F34A63D7EF}" presName="compNode" presStyleCnt="0"/>
      <dgm:spPr/>
    </dgm:pt>
    <dgm:pt modelId="{2868445B-2419-4416-96C9-E33076E1E2E7}" type="pres">
      <dgm:prSet presAssocID="{053DB2BA-CDD0-4140-9C11-F2F34A63D7EF}" presName="iconBgRect" presStyleLbl="bgShp" presStyleIdx="1" presStyleCnt="4"/>
      <dgm:spPr/>
    </dgm:pt>
    <dgm:pt modelId="{C88AFFB6-83C5-462F-834E-167148414C76}" type="pres">
      <dgm:prSet presAssocID="{053DB2BA-CDD0-4140-9C11-F2F34A63D7E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99E26C6-4700-4407-A98D-282450E177EA}" type="pres">
      <dgm:prSet presAssocID="{053DB2BA-CDD0-4140-9C11-F2F34A63D7EF}" presName="spaceRect" presStyleCnt="0"/>
      <dgm:spPr/>
    </dgm:pt>
    <dgm:pt modelId="{3F11CE5A-A49A-4E86-B8F6-EC7D35877FC6}" type="pres">
      <dgm:prSet presAssocID="{053DB2BA-CDD0-4140-9C11-F2F34A63D7EF}" presName="textRect" presStyleLbl="revTx" presStyleIdx="1" presStyleCnt="4">
        <dgm:presLayoutVars>
          <dgm:chMax val="1"/>
          <dgm:chPref val="1"/>
        </dgm:presLayoutVars>
      </dgm:prSet>
      <dgm:spPr/>
    </dgm:pt>
    <dgm:pt modelId="{7EB00C4A-2884-43C8-A4C2-AE8287C64ACA}" type="pres">
      <dgm:prSet presAssocID="{642B71FD-5FA3-4C1B-B04A-0B8A9D813234}" presName="sibTrans" presStyleCnt="0"/>
      <dgm:spPr/>
    </dgm:pt>
    <dgm:pt modelId="{81EBEE41-8D1A-4604-B6D6-70D889B0F6D2}" type="pres">
      <dgm:prSet presAssocID="{075B93EB-987E-411C-ADE1-32358E29140B}" presName="compNode" presStyleCnt="0"/>
      <dgm:spPr/>
    </dgm:pt>
    <dgm:pt modelId="{8A4A5CCF-04C5-48FF-9771-74C757BCE72B}" type="pres">
      <dgm:prSet presAssocID="{075B93EB-987E-411C-ADE1-32358E29140B}" presName="iconBgRect" presStyleLbl="bgShp" presStyleIdx="2" presStyleCnt="4"/>
      <dgm:spPr/>
    </dgm:pt>
    <dgm:pt modelId="{66555A4B-A8C0-43DB-B052-0DD0E8461CC5}" type="pres">
      <dgm:prSet presAssocID="{075B93EB-987E-411C-ADE1-32358E29140B}" presName="iconRect" presStyleLbl="node1" presStyleIdx="2" presStyleCnt="4"/>
      <dgm:spPr>
        <a:blipFill rotWithShape="1">
          <a:blip xmlns:r="http://schemas.openxmlformats.org/officeDocument/2006/relationships" r:embed="rId3"/>
          <a:srcRect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F8F11587-6E2B-4435-8AAB-C88DF9075D40}" type="pres">
      <dgm:prSet presAssocID="{075B93EB-987E-411C-ADE1-32358E29140B}" presName="spaceRect" presStyleCnt="0"/>
      <dgm:spPr/>
    </dgm:pt>
    <dgm:pt modelId="{0C984616-6243-4F2E-9155-0AF28E40E438}" type="pres">
      <dgm:prSet presAssocID="{075B93EB-987E-411C-ADE1-32358E29140B}" presName="textRect" presStyleLbl="revTx" presStyleIdx="2" presStyleCnt="4">
        <dgm:presLayoutVars>
          <dgm:chMax val="1"/>
          <dgm:chPref val="1"/>
        </dgm:presLayoutVars>
      </dgm:prSet>
      <dgm:spPr/>
    </dgm:pt>
    <dgm:pt modelId="{EF21B979-391B-4BF5-9680-BD3BF1EA9DF2}" type="pres">
      <dgm:prSet presAssocID="{EE6BBC1E-10EB-4C5C-A2E6-32ADBEAD95C2}" presName="sibTrans" presStyleCnt="0"/>
      <dgm:spPr/>
    </dgm:pt>
    <dgm:pt modelId="{AF47449E-89B5-4191-ABD9-2FAE15D4C022}" type="pres">
      <dgm:prSet presAssocID="{1998D533-5269-43A2-B703-2FD850618024}" presName="compNode" presStyleCnt="0"/>
      <dgm:spPr/>
    </dgm:pt>
    <dgm:pt modelId="{ED1C6C65-B02F-4B0C-A9F8-609615DD491F}" type="pres">
      <dgm:prSet presAssocID="{1998D533-5269-43A2-B703-2FD850618024}" presName="iconBgRect" presStyleLbl="bgShp" presStyleIdx="3" presStyleCnt="4" custLinFactNeighborX="1" custLinFactNeighborY="2438"/>
      <dgm:spPr/>
    </dgm:pt>
    <dgm:pt modelId="{2B241302-397C-4D3C-9D2C-A72D3CE7F643}" type="pres">
      <dgm:prSet presAssocID="{1998D533-5269-43A2-B703-2FD85061802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6E6AE8F4-8AA5-43CC-B8ED-E239B377150D}" type="pres">
      <dgm:prSet presAssocID="{1998D533-5269-43A2-B703-2FD850618024}" presName="spaceRect" presStyleCnt="0"/>
      <dgm:spPr/>
    </dgm:pt>
    <dgm:pt modelId="{88600486-79EA-4742-808C-34D0C5ADA845}" type="pres">
      <dgm:prSet presAssocID="{1998D533-5269-43A2-B703-2FD85061802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AF4035-B1A1-44FD-8D72-B1F30ED35CC3}" srcId="{9E8CE73A-CBC5-4E39-82FA-D6AE70B5ACC0}" destId="{1998D533-5269-43A2-B703-2FD850618024}" srcOrd="3" destOrd="0" parTransId="{E4A23B46-52A5-4C19-9EC4-1FA605C01E8D}" sibTransId="{4F2B5B3D-F485-4F87-AA42-BBF753783DE8}"/>
    <dgm:cxn modelId="{9713196E-C587-44F5-A27A-9C5CE2230E79}" type="presOf" srcId="{9E8CE73A-CBC5-4E39-82FA-D6AE70B5ACC0}" destId="{E5795BC6-E8BB-4C4D-93A3-3E812CFD5542}" srcOrd="0" destOrd="0" presId="urn:microsoft.com/office/officeart/2018/5/layout/IconCircleLabelList"/>
    <dgm:cxn modelId="{17AD7F58-A4C8-43BC-876D-9DBF3597274B}" type="presOf" srcId="{0B7324A3-BAA7-4DBD-9004-EB898DC6A711}" destId="{63F696AF-D569-4F7B-A715-94307E5DE4B7}" srcOrd="0" destOrd="0" presId="urn:microsoft.com/office/officeart/2018/5/layout/IconCircleLabelList"/>
    <dgm:cxn modelId="{DFD73790-25DC-4560-BE6B-26ABC6D09361}" srcId="{9E8CE73A-CBC5-4E39-82FA-D6AE70B5ACC0}" destId="{053DB2BA-CDD0-4140-9C11-F2F34A63D7EF}" srcOrd="1" destOrd="0" parTransId="{A955C164-37AD-4931-AE4F-FFB83FFAA970}" sibTransId="{642B71FD-5FA3-4C1B-B04A-0B8A9D813234}"/>
    <dgm:cxn modelId="{9DE0C5CB-EB95-4E06-8BAF-4CD71EE5C0B4}" srcId="{9E8CE73A-CBC5-4E39-82FA-D6AE70B5ACC0}" destId="{0B7324A3-BAA7-4DBD-9004-EB898DC6A711}" srcOrd="0" destOrd="0" parTransId="{A229B693-5128-4ABD-9DB6-E219C9C20504}" sibTransId="{53BEA13B-51E2-4A37-999C-E9F9F3C930AF}"/>
    <dgm:cxn modelId="{D9B8E8DF-0DD9-4711-BD4C-752E06A5AE87}" type="presOf" srcId="{075B93EB-987E-411C-ADE1-32358E29140B}" destId="{0C984616-6243-4F2E-9155-0AF28E40E438}" srcOrd="0" destOrd="0" presId="urn:microsoft.com/office/officeart/2018/5/layout/IconCircleLabelList"/>
    <dgm:cxn modelId="{BD487FEA-CAF0-41F8-B25F-D1640C7D4A3A}" type="presOf" srcId="{1998D533-5269-43A2-B703-2FD850618024}" destId="{88600486-79EA-4742-808C-34D0C5ADA845}" srcOrd="0" destOrd="0" presId="urn:microsoft.com/office/officeart/2018/5/layout/IconCircleLabelList"/>
    <dgm:cxn modelId="{F66297F3-6A55-47B7-8764-BF8460F97AFC}" srcId="{9E8CE73A-CBC5-4E39-82FA-D6AE70B5ACC0}" destId="{075B93EB-987E-411C-ADE1-32358E29140B}" srcOrd="2" destOrd="0" parTransId="{B919D29C-BECC-4577-9DFB-150D247B2F11}" sibTransId="{EE6BBC1E-10EB-4C5C-A2E6-32ADBEAD95C2}"/>
    <dgm:cxn modelId="{D4732FFC-A3DF-4FAE-BAF2-4C89963DD434}" type="presOf" srcId="{053DB2BA-CDD0-4140-9C11-F2F34A63D7EF}" destId="{3F11CE5A-A49A-4E86-B8F6-EC7D35877FC6}" srcOrd="0" destOrd="0" presId="urn:microsoft.com/office/officeart/2018/5/layout/IconCircleLabelList"/>
    <dgm:cxn modelId="{232592AB-4A2B-4009-98D3-6F65E222430E}" type="presParOf" srcId="{E5795BC6-E8BB-4C4D-93A3-3E812CFD5542}" destId="{5704487B-3927-4434-A27B-89CB6AD08F7F}" srcOrd="0" destOrd="0" presId="urn:microsoft.com/office/officeart/2018/5/layout/IconCircleLabelList"/>
    <dgm:cxn modelId="{B25A226D-EFBA-40D1-B692-F7644D9CE676}" type="presParOf" srcId="{5704487B-3927-4434-A27B-89CB6AD08F7F}" destId="{19C19AB6-8AE6-484D-B133-91298918C402}" srcOrd="0" destOrd="0" presId="urn:microsoft.com/office/officeart/2018/5/layout/IconCircleLabelList"/>
    <dgm:cxn modelId="{348D158E-A060-4536-9FFB-DD6320DB9581}" type="presParOf" srcId="{5704487B-3927-4434-A27B-89CB6AD08F7F}" destId="{97AD6D8D-BC35-4908-8687-AE1D7DF41047}" srcOrd="1" destOrd="0" presId="urn:microsoft.com/office/officeart/2018/5/layout/IconCircleLabelList"/>
    <dgm:cxn modelId="{031FB5E5-4021-41DD-8E54-290F75874582}" type="presParOf" srcId="{5704487B-3927-4434-A27B-89CB6AD08F7F}" destId="{C7AA004B-7E06-4229-B606-0723BBAEBD8E}" srcOrd="2" destOrd="0" presId="urn:microsoft.com/office/officeart/2018/5/layout/IconCircleLabelList"/>
    <dgm:cxn modelId="{F67796BD-D7CB-4CDB-BF22-49A4D55AABFF}" type="presParOf" srcId="{5704487B-3927-4434-A27B-89CB6AD08F7F}" destId="{63F696AF-D569-4F7B-A715-94307E5DE4B7}" srcOrd="3" destOrd="0" presId="urn:microsoft.com/office/officeart/2018/5/layout/IconCircleLabelList"/>
    <dgm:cxn modelId="{BFFFB32A-2CEB-4C4E-BD4B-000E313BE523}" type="presParOf" srcId="{E5795BC6-E8BB-4C4D-93A3-3E812CFD5542}" destId="{14AE7D53-B169-4828-9607-D0321D896A8C}" srcOrd="1" destOrd="0" presId="urn:microsoft.com/office/officeart/2018/5/layout/IconCircleLabelList"/>
    <dgm:cxn modelId="{662DD259-70AA-4224-985F-8DC3183DD64E}" type="presParOf" srcId="{E5795BC6-E8BB-4C4D-93A3-3E812CFD5542}" destId="{83A9655D-034C-469E-A4D7-8068777E2629}" srcOrd="2" destOrd="0" presId="urn:microsoft.com/office/officeart/2018/5/layout/IconCircleLabelList"/>
    <dgm:cxn modelId="{328432D9-38F9-4DEB-B952-2FCFBB0F5F9A}" type="presParOf" srcId="{83A9655D-034C-469E-A4D7-8068777E2629}" destId="{2868445B-2419-4416-96C9-E33076E1E2E7}" srcOrd="0" destOrd="0" presId="urn:microsoft.com/office/officeart/2018/5/layout/IconCircleLabelList"/>
    <dgm:cxn modelId="{06E1D6FB-7467-4539-BF49-7A560EA2D29E}" type="presParOf" srcId="{83A9655D-034C-469E-A4D7-8068777E2629}" destId="{C88AFFB6-83C5-462F-834E-167148414C76}" srcOrd="1" destOrd="0" presId="urn:microsoft.com/office/officeart/2018/5/layout/IconCircleLabelList"/>
    <dgm:cxn modelId="{BC84A184-AC76-41FD-AC76-65A046547235}" type="presParOf" srcId="{83A9655D-034C-469E-A4D7-8068777E2629}" destId="{C99E26C6-4700-4407-A98D-282450E177EA}" srcOrd="2" destOrd="0" presId="urn:microsoft.com/office/officeart/2018/5/layout/IconCircleLabelList"/>
    <dgm:cxn modelId="{B4D98B0E-00D1-4241-997E-63BF43A99F23}" type="presParOf" srcId="{83A9655D-034C-469E-A4D7-8068777E2629}" destId="{3F11CE5A-A49A-4E86-B8F6-EC7D35877FC6}" srcOrd="3" destOrd="0" presId="urn:microsoft.com/office/officeart/2018/5/layout/IconCircleLabelList"/>
    <dgm:cxn modelId="{D891C7DC-AD1C-4B1C-AD28-D81F1C23B49C}" type="presParOf" srcId="{E5795BC6-E8BB-4C4D-93A3-3E812CFD5542}" destId="{7EB00C4A-2884-43C8-A4C2-AE8287C64ACA}" srcOrd="3" destOrd="0" presId="urn:microsoft.com/office/officeart/2018/5/layout/IconCircleLabelList"/>
    <dgm:cxn modelId="{A1ED695F-A7C3-4184-9C85-3B566D15A318}" type="presParOf" srcId="{E5795BC6-E8BB-4C4D-93A3-3E812CFD5542}" destId="{81EBEE41-8D1A-4604-B6D6-70D889B0F6D2}" srcOrd="4" destOrd="0" presId="urn:microsoft.com/office/officeart/2018/5/layout/IconCircleLabelList"/>
    <dgm:cxn modelId="{A59525CA-6FB7-4962-B9C9-7739254FA166}" type="presParOf" srcId="{81EBEE41-8D1A-4604-B6D6-70D889B0F6D2}" destId="{8A4A5CCF-04C5-48FF-9771-74C757BCE72B}" srcOrd="0" destOrd="0" presId="urn:microsoft.com/office/officeart/2018/5/layout/IconCircleLabelList"/>
    <dgm:cxn modelId="{8A6D4C28-5BF0-453C-BA6F-6CF76903BED3}" type="presParOf" srcId="{81EBEE41-8D1A-4604-B6D6-70D889B0F6D2}" destId="{66555A4B-A8C0-43DB-B052-0DD0E8461CC5}" srcOrd="1" destOrd="0" presId="urn:microsoft.com/office/officeart/2018/5/layout/IconCircleLabelList"/>
    <dgm:cxn modelId="{34687AE0-22E4-4580-BF33-9B93FD379C24}" type="presParOf" srcId="{81EBEE41-8D1A-4604-B6D6-70D889B0F6D2}" destId="{F8F11587-6E2B-4435-8AAB-C88DF9075D40}" srcOrd="2" destOrd="0" presId="urn:microsoft.com/office/officeart/2018/5/layout/IconCircleLabelList"/>
    <dgm:cxn modelId="{E39446D4-FD85-4E5C-969A-4E521E3A386A}" type="presParOf" srcId="{81EBEE41-8D1A-4604-B6D6-70D889B0F6D2}" destId="{0C984616-6243-4F2E-9155-0AF28E40E438}" srcOrd="3" destOrd="0" presId="urn:microsoft.com/office/officeart/2018/5/layout/IconCircleLabelList"/>
    <dgm:cxn modelId="{EDCCBB5B-FE6B-4603-BA11-DA32EDF663F8}" type="presParOf" srcId="{E5795BC6-E8BB-4C4D-93A3-3E812CFD5542}" destId="{EF21B979-391B-4BF5-9680-BD3BF1EA9DF2}" srcOrd="5" destOrd="0" presId="urn:microsoft.com/office/officeart/2018/5/layout/IconCircleLabelList"/>
    <dgm:cxn modelId="{FD1E4292-56D6-474E-9840-7273D8D9E49F}" type="presParOf" srcId="{E5795BC6-E8BB-4C4D-93A3-3E812CFD5542}" destId="{AF47449E-89B5-4191-ABD9-2FAE15D4C022}" srcOrd="6" destOrd="0" presId="urn:microsoft.com/office/officeart/2018/5/layout/IconCircleLabelList"/>
    <dgm:cxn modelId="{AFB4C8EE-A68D-4BCC-8513-3369B24E6244}" type="presParOf" srcId="{AF47449E-89B5-4191-ABD9-2FAE15D4C022}" destId="{ED1C6C65-B02F-4B0C-A9F8-609615DD491F}" srcOrd="0" destOrd="0" presId="urn:microsoft.com/office/officeart/2018/5/layout/IconCircleLabelList"/>
    <dgm:cxn modelId="{9F69DF92-24DB-4463-904B-0F01CB97DB33}" type="presParOf" srcId="{AF47449E-89B5-4191-ABD9-2FAE15D4C022}" destId="{2B241302-397C-4D3C-9D2C-A72D3CE7F643}" srcOrd="1" destOrd="0" presId="urn:microsoft.com/office/officeart/2018/5/layout/IconCircleLabelList"/>
    <dgm:cxn modelId="{286233D0-A65F-46D7-A15E-1F689834BB9E}" type="presParOf" srcId="{AF47449E-89B5-4191-ABD9-2FAE15D4C022}" destId="{6E6AE8F4-8AA5-43CC-B8ED-E239B377150D}" srcOrd="2" destOrd="0" presId="urn:microsoft.com/office/officeart/2018/5/layout/IconCircleLabelList"/>
    <dgm:cxn modelId="{65064134-6BE4-4BCE-B25C-6D0AFEC161DC}" type="presParOf" srcId="{AF47449E-89B5-4191-ABD9-2FAE15D4C022}" destId="{88600486-79EA-4742-808C-34D0C5ADA8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DDCF71-A706-4DDD-B870-8F045658BBB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28CC95-2963-4E94-AFC6-C4ABB4F17E54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Kerala-adapted IEEE 13-bus microgrid was designed</a:t>
          </a:r>
        </a:p>
      </dgm:t>
    </dgm:pt>
    <dgm:pt modelId="{28054475-B3BC-4F57-8209-CE737BA6C381}" type="parTrans" cxnId="{214C0B73-8F97-4071-B907-781AD77F2EC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70969E-7A2D-4D9B-B090-49E38FC0DD24}" type="sibTrans" cxnId="{214C0B73-8F97-4071-B907-781AD77F2EC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E84984-C682-4EA5-ABB3-8C4CD0A1746F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Weather-driven hourly synthetic dataset was generated</a:t>
          </a:r>
        </a:p>
      </dgm:t>
    </dgm:pt>
    <dgm:pt modelId="{382041F9-7A10-4BAD-A33A-BD79C2588B1A}" type="parTrans" cxnId="{62B40189-543A-4F47-B119-FF198812C47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99635E-CBCB-4A68-A57F-C0AE9CBFA2A2}" type="sibTrans" cxnId="{62B40189-543A-4F47-B119-FF198812C47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DB8CD7-3622-4451-8E3D-57FD4C59DEE2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CNN-LSTM forecasted sector-wise load and renewable generation</a:t>
          </a:r>
        </a:p>
      </dgm:t>
    </dgm:pt>
    <dgm:pt modelId="{6FD575A6-D48D-4990-8ADB-7860645DE3CD}" type="parTrans" cxnId="{747134FF-AB2D-4310-8E45-D2E6A77FC9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782D90-9FEB-4E40-AA51-A42B28563E7C}" type="sibTrans" cxnId="{747134FF-AB2D-4310-8E45-D2E6A77FC94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13992B-3732-4ABC-BAE6-9F590E05CC3A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OpenDSS validated the forecasted operating conditions</a:t>
          </a:r>
        </a:p>
      </dgm:t>
    </dgm:pt>
    <dgm:pt modelId="{482F5AE1-183A-45D8-86A0-4A7903417887}" type="parTrans" cxnId="{0A6320AA-D7A8-4BB0-A652-D10DED1DE1B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F49EB0-8426-4A45-A7AA-AAD17B0EA9E5}" type="sibTrans" cxnId="{0A6320AA-D7A8-4BB0-A652-D10DED1DE1B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979F73-FC70-46E1-B795-4E927B36E414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LLM-based analysis transformed simulation outputs into decision-support insights</a:t>
          </a:r>
        </a:p>
      </dgm:t>
    </dgm:pt>
    <dgm:pt modelId="{E3303BA4-B684-4454-8899-B5277A5B8843}" type="parTrans" cxnId="{FC14ECAC-4846-4A69-939B-D46C8C47305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F521C6-5366-44A3-8606-0D7FB2C59F33}" type="sibTrans" cxnId="{FC14ECAC-4846-4A69-939B-D46C8C47305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6704C5-E746-435A-B69C-F5C664AB8C63}" type="pres">
      <dgm:prSet presAssocID="{D7DDCF71-A706-4DDD-B870-8F045658BBBE}" presName="vert0" presStyleCnt="0">
        <dgm:presLayoutVars>
          <dgm:dir/>
          <dgm:animOne val="branch"/>
          <dgm:animLvl val="lvl"/>
        </dgm:presLayoutVars>
      </dgm:prSet>
      <dgm:spPr/>
    </dgm:pt>
    <dgm:pt modelId="{3CFE1269-B1C8-4C43-8309-F3C82E945C14}" type="pres">
      <dgm:prSet presAssocID="{E428CC95-2963-4E94-AFC6-C4ABB4F17E54}" presName="thickLine" presStyleLbl="alignNode1" presStyleIdx="0" presStyleCnt="5"/>
      <dgm:spPr/>
    </dgm:pt>
    <dgm:pt modelId="{16215FFA-40EE-4C46-9400-644B1FE161AC}" type="pres">
      <dgm:prSet presAssocID="{E428CC95-2963-4E94-AFC6-C4ABB4F17E54}" presName="horz1" presStyleCnt="0"/>
      <dgm:spPr/>
    </dgm:pt>
    <dgm:pt modelId="{C08D9C40-DC55-4CEF-966F-C76C6E670FB3}" type="pres">
      <dgm:prSet presAssocID="{E428CC95-2963-4E94-AFC6-C4ABB4F17E54}" presName="tx1" presStyleLbl="revTx" presStyleIdx="0" presStyleCnt="5"/>
      <dgm:spPr/>
    </dgm:pt>
    <dgm:pt modelId="{9C05DDB8-4920-4446-958C-09E64B5FB359}" type="pres">
      <dgm:prSet presAssocID="{E428CC95-2963-4E94-AFC6-C4ABB4F17E54}" presName="vert1" presStyleCnt="0"/>
      <dgm:spPr/>
    </dgm:pt>
    <dgm:pt modelId="{97FC2262-486E-4F95-875F-AD6F76752B29}" type="pres">
      <dgm:prSet presAssocID="{51E84984-C682-4EA5-ABB3-8C4CD0A1746F}" presName="thickLine" presStyleLbl="alignNode1" presStyleIdx="1" presStyleCnt="5"/>
      <dgm:spPr/>
    </dgm:pt>
    <dgm:pt modelId="{044046BA-BB3D-4427-B74B-E9F0B11DA551}" type="pres">
      <dgm:prSet presAssocID="{51E84984-C682-4EA5-ABB3-8C4CD0A1746F}" presName="horz1" presStyleCnt="0"/>
      <dgm:spPr/>
    </dgm:pt>
    <dgm:pt modelId="{675D7F95-6B23-461D-BEBB-E71F147F172D}" type="pres">
      <dgm:prSet presAssocID="{51E84984-C682-4EA5-ABB3-8C4CD0A1746F}" presName="tx1" presStyleLbl="revTx" presStyleIdx="1" presStyleCnt="5"/>
      <dgm:spPr/>
    </dgm:pt>
    <dgm:pt modelId="{CB1A0EB6-FA60-4563-BF0B-C8C816BE7CA3}" type="pres">
      <dgm:prSet presAssocID="{51E84984-C682-4EA5-ABB3-8C4CD0A1746F}" presName="vert1" presStyleCnt="0"/>
      <dgm:spPr/>
    </dgm:pt>
    <dgm:pt modelId="{F86F5750-17F8-4517-85D5-EC506F1E56B8}" type="pres">
      <dgm:prSet presAssocID="{DDDB8CD7-3622-4451-8E3D-57FD4C59DEE2}" presName="thickLine" presStyleLbl="alignNode1" presStyleIdx="2" presStyleCnt="5"/>
      <dgm:spPr/>
    </dgm:pt>
    <dgm:pt modelId="{44823A7B-2513-423C-A65D-D03A1D440C37}" type="pres">
      <dgm:prSet presAssocID="{DDDB8CD7-3622-4451-8E3D-57FD4C59DEE2}" presName="horz1" presStyleCnt="0"/>
      <dgm:spPr/>
    </dgm:pt>
    <dgm:pt modelId="{9E30449E-7924-4ECC-9B6A-538223D5C99F}" type="pres">
      <dgm:prSet presAssocID="{DDDB8CD7-3622-4451-8E3D-57FD4C59DEE2}" presName="tx1" presStyleLbl="revTx" presStyleIdx="2" presStyleCnt="5"/>
      <dgm:spPr/>
    </dgm:pt>
    <dgm:pt modelId="{B0E2C388-DF8E-46E3-B3E1-CCFC2D99B80F}" type="pres">
      <dgm:prSet presAssocID="{DDDB8CD7-3622-4451-8E3D-57FD4C59DEE2}" presName="vert1" presStyleCnt="0"/>
      <dgm:spPr/>
    </dgm:pt>
    <dgm:pt modelId="{E0412ECB-127B-4CAE-A14F-C896F3F6D1FF}" type="pres">
      <dgm:prSet presAssocID="{A113992B-3732-4ABC-BAE6-9F590E05CC3A}" presName="thickLine" presStyleLbl="alignNode1" presStyleIdx="3" presStyleCnt="5"/>
      <dgm:spPr/>
    </dgm:pt>
    <dgm:pt modelId="{A4A8866C-5CAF-475C-B5D4-26BA47D86101}" type="pres">
      <dgm:prSet presAssocID="{A113992B-3732-4ABC-BAE6-9F590E05CC3A}" presName="horz1" presStyleCnt="0"/>
      <dgm:spPr/>
    </dgm:pt>
    <dgm:pt modelId="{F52D406C-A99D-4B95-B4AB-6B11B50B339A}" type="pres">
      <dgm:prSet presAssocID="{A113992B-3732-4ABC-BAE6-9F590E05CC3A}" presName="tx1" presStyleLbl="revTx" presStyleIdx="3" presStyleCnt="5"/>
      <dgm:spPr/>
    </dgm:pt>
    <dgm:pt modelId="{91AD8180-5149-419A-8DF5-AA1346DEB7F3}" type="pres">
      <dgm:prSet presAssocID="{A113992B-3732-4ABC-BAE6-9F590E05CC3A}" presName="vert1" presStyleCnt="0"/>
      <dgm:spPr/>
    </dgm:pt>
    <dgm:pt modelId="{8879FF86-92FD-4CDD-8BEE-78B9C3F46C9E}" type="pres">
      <dgm:prSet presAssocID="{E3979F73-FC70-46E1-B795-4E927B36E414}" presName="thickLine" presStyleLbl="alignNode1" presStyleIdx="4" presStyleCnt="5"/>
      <dgm:spPr/>
    </dgm:pt>
    <dgm:pt modelId="{7D24399F-D429-4DF2-8560-C74655DD2F4B}" type="pres">
      <dgm:prSet presAssocID="{E3979F73-FC70-46E1-B795-4E927B36E414}" presName="horz1" presStyleCnt="0"/>
      <dgm:spPr/>
    </dgm:pt>
    <dgm:pt modelId="{0A95D96B-2A02-4EBE-8FD0-3604F02BBDA4}" type="pres">
      <dgm:prSet presAssocID="{E3979F73-FC70-46E1-B795-4E927B36E414}" presName="tx1" presStyleLbl="revTx" presStyleIdx="4" presStyleCnt="5"/>
      <dgm:spPr/>
    </dgm:pt>
    <dgm:pt modelId="{D376D484-681A-4271-B168-A92D1EDF69E8}" type="pres">
      <dgm:prSet presAssocID="{E3979F73-FC70-46E1-B795-4E927B36E414}" presName="vert1" presStyleCnt="0"/>
      <dgm:spPr/>
    </dgm:pt>
  </dgm:ptLst>
  <dgm:cxnLst>
    <dgm:cxn modelId="{E7153934-B6D1-4B99-9FBC-C9D39EDCD2D3}" type="presOf" srcId="{D7DDCF71-A706-4DDD-B870-8F045658BBBE}" destId="{5F6704C5-E746-435A-B69C-F5C664AB8C63}" srcOrd="0" destOrd="0" presId="urn:microsoft.com/office/officeart/2008/layout/LinedList"/>
    <dgm:cxn modelId="{214C0B73-8F97-4071-B907-781AD77F2EC3}" srcId="{D7DDCF71-A706-4DDD-B870-8F045658BBBE}" destId="{E428CC95-2963-4E94-AFC6-C4ABB4F17E54}" srcOrd="0" destOrd="0" parTransId="{28054475-B3BC-4F57-8209-CE737BA6C381}" sibTransId="{AC70969E-7A2D-4D9B-B090-49E38FC0DD24}"/>
    <dgm:cxn modelId="{74E14376-A9BF-40B9-8BF5-72C539C058BB}" type="presOf" srcId="{E428CC95-2963-4E94-AFC6-C4ABB4F17E54}" destId="{C08D9C40-DC55-4CEF-966F-C76C6E670FB3}" srcOrd="0" destOrd="0" presId="urn:microsoft.com/office/officeart/2008/layout/LinedList"/>
    <dgm:cxn modelId="{640B3679-2C99-479F-8D1C-E5A88BC30B71}" type="presOf" srcId="{51E84984-C682-4EA5-ABB3-8C4CD0A1746F}" destId="{675D7F95-6B23-461D-BEBB-E71F147F172D}" srcOrd="0" destOrd="0" presId="urn:microsoft.com/office/officeart/2008/layout/LinedList"/>
    <dgm:cxn modelId="{62B40189-543A-4F47-B119-FF198812C473}" srcId="{D7DDCF71-A706-4DDD-B870-8F045658BBBE}" destId="{51E84984-C682-4EA5-ABB3-8C4CD0A1746F}" srcOrd="1" destOrd="0" parTransId="{382041F9-7A10-4BAD-A33A-BD79C2588B1A}" sibTransId="{8699635E-CBCB-4A68-A57F-C0AE9CBFA2A2}"/>
    <dgm:cxn modelId="{8DA0E191-7F5E-42AA-BE12-4B1F84930017}" type="presOf" srcId="{E3979F73-FC70-46E1-B795-4E927B36E414}" destId="{0A95D96B-2A02-4EBE-8FD0-3604F02BBDA4}" srcOrd="0" destOrd="0" presId="urn:microsoft.com/office/officeart/2008/layout/LinedList"/>
    <dgm:cxn modelId="{BE1642A9-A620-4DED-B554-15C3FE90331E}" type="presOf" srcId="{A113992B-3732-4ABC-BAE6-9F590E05CC3A}" destId="{F52D406C-A99D-4B95-B4AB-6B11B50B339A}" srcOrd="0" destOrd="0" presId="urn:microsoft.com/office/officeart/2008/layout/LinedList"/>
    <dgm:cxn modelId="{0A6320AA-D7A8-4BB0-A652-D10DED1DE1B6}" srcId="{D7DDCF71-A706-4DDD-B870-8F045658BBBE}" destId="{A113992B-3732-4ABC-BAE6-9F590E05CC3A}" srcOrd="3" destOrd="0" parTransId="{482F5AE1-183A-45D8-86A0-4A7903417887}" sibTransId="{55F49EB0-8426-4A45-A7AA-AAD17B0EA9E5}"/>
    <dgm:cxn modelId="{FC14ECAC-4846-4A69-939B-D46C8C473058}" srcId="{D7DDCF71-A706-4DDD-B870-8F045658BBBE}" destId="{E3979F73-FC70-46E1-B795-4E927B36E414}" srcOrd="4" destOrd="0" parTransId="{E3303BA4-B684-4454-8899-B5277A5B8843}" sibTransId="{56F521C6-5366-44A3-8606-0D7FB2C59F33}"/>
    <dgm:cxn modelId="{03DD61BB-72E8-4152-9CDE-1B665E49D37F}" type="presOf" srcId="{DDDB8CD7-3622-4451-8E3D-57FD4C59DEE2}" destId="{9E30449E-7924-4ECC-9B6A-538223D5C99F}" srcOrd="0" destOrd="0" presId="urn:microsoft.com/office/officeart/2008/layout/LinedList"/>
    <dgm:cxn modelId="{747134FF-AB2D-4310-8E45-D2E6A77FC948}" srcId="{D7DDCF71-A706-4DDD-B870-8F045658BBBE}" destId="{DDDB8CD7-3622-4451-8E3D-57FD4C59DEE2}" srcOrd="2" destOrd="0" parTransId="{6FD575A6-D48D-4990-8ADB-7860645DE3CD}" sibTransId="{6A782D90-9FEB-4E40-AA51-A42B28563E7C}"/>
    <dgm:cxn modelId="{B3721F10-58F8-4B47-B538-637248414422}" type="presParOf" srcId="{5F6704C5-E746-435A-B69C-F5C664AB8C63}" destId="{3CFE1269-B1C8-4C43-8309-F3C82E945C14}" srcOrd="0" destOrd="0" presId="urn:microsoft.com/office/officeart/2008/layout/LinedList"/>
    <dgm:cxn modelId="{2AF9E0E8-7E7C-4C40-A4BF-DB6D3F1A964E}" type="presParOf" srcId="{5F6704C5-E746-435A-B69C-F5C664AB8C63}" destId="{16215FFA-40EE-4C46-9400-644B1FE161AC}" srcOrd="1" destOrd="0" presId="urn:microsoft.com/office/officeart/2008/layout/LinedList"/>
    <dgm:cxn modelId="{5958EF42-AED2-462A-B1BA-9072E71A7AAD}" type="presParOf" srcId="{16215FFA-40EE-4C46-9400-644B1FE161AC}" destId="{C08D9C40-DC55-4CEF-966F-C76C6E670FB3}" srcOrd="0" destOrd="0" presId="urn:microsoft.com/office/officeart/2008/layout/LinedList"/>
    <dgm:cxn modelId="{4445BF3D-61F4-4DA9-91BB-0C34F4518BA6}" type="presParOf" srcId="{16215FFA-40EE-4C46-9400-644B1FE161AC}" destId="{9C05DDB8-4920-4446-958C-09E64B5FB359}" srcOrd="1" destOrd="0" presId="urn:microsoft.com/office/officeart/2008/layout/LinedList"/>
    <dgm:cxn modelId="{6E21A2B2-BFAF-486A-92B4-8FC2F8E39CCC}" type="presParOf" srcId="{5F6704C5-E746-435A-B69C-F5C664AB8C63}" destId="{97FC2262-486E-4F95-875F-AD6F76752B29}" srcOrd="2" destOrd="0" presId="urn:microsoft.com/office/officeart/2008/layout/LinedList"/>
    <dgm:cxn modelId="{C06CF69A-15C1-42EE-87BA-E69408348814}" type="presParOf" srcId="{5F6704C5-E746-435A-B69C-F5C664AB8C63}" destId="{044046BA-BB3D-4427-B74B-E9F0B11DA551}" srcOrd="3" destOrd="0" presId="urn:microsoft.com/office/officeart/2008/layout/LinedList"/>
    <dgm:cxn modelId="{E0582799-31EE-425E-924A-4132FE04D8E8}" type="presParOf" srcId="{044046BA-BB3D-4427-B74B-E9F0B11DA551}" destId="{675D7F95-6B23-461D-BEBB-E71F147F172D}" srcOrd="0" destOrd="0" presId="urn:microsoft.com/office/officeart/2008/layout/LinedList"/>
    <dgm:cxn modelId="{8663295E-DD66-4DFF-A512-7078046873CF}" type="presParOf" srcId="{044046BA-BB3D-4427-B74B-E9F0B11DA551}" destId="{CB1A0EB6-FA60-4563-BF0B-C8C816BE7CA3}" srcOrd="1" destOrd="0" presId="urn:microsoft.com/office/officeart/2008/layout/LinedList"/>
    <dgm:cxn modelId="{B74E49F9-5597-43AA-BD32-621814ADC383}" type="presParOf" srcId="{5F6704C5-E746-435A-B69C-F5C664AB8C63}" destId="{F86F5750-17F8-4517-85D5-EC506F1E56B8}" srcOrd="4" destOrd="0" presId="urn:microsoft.com/office/officeart/2008/layout/LinedList"/>
    <dgm:cxn modelId="{CDF81FB6-88A3-44C8-8B5D-0872F3ED751F}" type="presParOf" srcId="{5F6704C5-E746-435A-B69C-F5C664AB8C63}" destId="{44823A7B-2513-423C-A65D-D03A1D440C37}" srcOrd="5" destOrd="0" presId="urn:microsoft.com/office/officeart/2008/layout/LinedList"/>
    <dgm:cxn modelId="{E3CDE6EA-F1EC-4B5B-AF11-CFE5493F2C99}" type="presParOf" srcId="{44823A7B-2513-423C-A65D-D03A1D440C37}" destId="{9E30449E-7924-4ECC-9B6A-538223D5C99F}" srcOrd="0" destOrd="0" presId="urn:microsoft.com/office/officeart/2008/layout/LinedList"/>
    <dgm:cxn modelId="{85273916-3A8A-458E-BA3E-72BE4EB4DA0D}" type="presParOf" srcId="{44823A7B-2513-423C-A65D-D03A1D440C37}" destId="{B0E2C388-DF8E-46E3-B3E1-CCFC2D99B80F}" srcOrd="1" destOrd="0" presId="urn:microsoft.com/office/officeart/2008/layout/LinedList"/>
    <dgm:cxn modelId="{4F236DEC-4BBE-457D-BD80-3D4A688E5C9D}" type="presParOf" srcId="{5F6704C5-E746-435A-B69C-F5C664AB8C63}" destId="{E0412ECB-127B-4CAE-A14F-C896F3F6D1FF}" srcOrd="6" destOrd="0" presId="urn:microsoft.com/office/officeart/2008/layout/LinedList"/>
    <dgm:cxn modelId="{7FC6D296-CF33-40E2-953D-DEBBC390DB87}" type="presParOf" srcId="{5F6704C5-E746-435A-B69C-F5C664AB8C63}" destId="{A4A8866C-5CAF-475C-B5D4-26BA47D86101}" srcOrd="7" destOrd="0" presId="urn:microsoft.com/office/officeart/2008/layout/LinedList"/>
    <dgm:cxn modelId="{F9C8ADB5-1FA6-41FA-9C4C-75AEC1AB8F14}" type="presParOf" srcId="{A4A8866C-5CAF-475C-B5D4-26BA47D86101}" destId="{F52D406C-A99D-4B95-B4AB-6B11B50B339A}" srcOrd="0" destOrd="0" presId="urn:microsoft.com/office/officeart/2008/layout/LinedList"/>
    <dgm:cxn modelId="{16593F84-20A9-4A43-8E69-A7547C6F3154}" type="presParOf" srcId="{A4A8866C-5CAF-475C-B5D4-26BA47D86101}" destId="{91AD8180-5149-419A-8DF5-AA1346DEB7F3}" srcOrd="1" destOrd="0" presId="urn:microsoft.com/office/officeart/2008/layout/LinedList"/>
    <dgm:cxn modelId="{AC9E162B-25AD-4295-8309-BA7AA0D242E0}" type="presParOf" srcId="{5F6704C5-E746-435A-B69C-F5C664AB8C63}" destId="{8879FF86-92FD-4CDD-8BEE-78B9C3F46C9E}" srcOrd="8" destOrd="0" presId="urn:microsoft.com/office/officeart/2008/layout/LinedList"/>
    <dgm:cxn modelId="{A4128062-D5B0-450F-AE9C-90B5F7A65B94}" type="presParOf" srcId="{5F6704C5-E746-435A-B69C-F5C664AB8C63}" destId="{7D24399F-D429-4DF2-8560-C74655DD2F4B}" srcOrd="9" destOrd="0" presId="urn:microsoft.com/office/officeart/2008/layout/LinedList"/>
    <dgm:cxn modelId="{9B9259E6-F015-48D3-A54F-D181A4D9F216}" type="presParOf" srcId="{7D24399F-D429-4DF2-8560-C74655DD2F4B}" destId="{0A95D96B-2A02-4EBE-8FD0-3604F02BBDA4}" srcOrd="0" destOrd="0" presId="urn:microsoft.com/office/officeart/2008/layout/LinedList"/>
    <dgm:cxn modelId="{DF320052-0F7F-4A24-8F81-9D23C0364656}" type="presParOf" srcId="{7D24399F-D429-4DF2-8560-C74655DD2F4B}" destId="{D376D484-681A-4271-B168-A92D1EDF69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09CB5-E906-4F03-918B-62B8DC822878}">
      <dsp:nvSpPr>
        <dsp:cNvPr id="0" name=""/>
        <dsp:cNvSpPr/>
      </dsp:nvSpPr>
      <dsp:spPr>
        <a:xfrm>
          <a:off x="767725" y="353363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81579-A7E0-40EC-8725-E375FB37028E}">
      <dsp:nvSpPr>
        <dsp:cNvPr id="0" name=""/>
        <dsp:cNvSpPr/>
      </dsp:nvSpPr>
      <dsp:spPr>
        <a:xfrm>
          <a:off x="1001725" y="587363"/>
          <a:ext cx="630000" cy="630000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21000" b="-21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1D52D-20A6-409F-8A36-5961183C9D20}">
      <dsp:nvSpPr>
        <dsp:cNvPr id="0" name=""/>
        <dsp:cNvSpPr/>
      </dsp:nvSpPr>
      <dsp:spPr>
        <a:xfrm>
          <a:off x="416725" y="1793363"/>
          <a:ext cx="1800000" cy="201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Kerala weather data used as the physical backbone for dataset creation</a:t>
          </a:r>
        </a:p>
      </dsp:txBody>
      <dsp:txXfrm>
        <a:off x="416725" y="1793363"/>
        <a:ext cx="1800000" cy="2010937"/>
      </dsp:txXfrm>
    </dsp:sp>
    <dsp:sp modelId="{5D355BD9-B4DF-4075-85ED-83CCDD59D5F1}">
      <dsp:nvSpPr>
        <dsp:cNvPr id="0" name=""/>
        <dsp:cNvSpPr/>
      </dsp:nvSpPr>
      <dsp:spPr>
        <a:xfrm>
          <a:off x="2882725" y="353363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DD25B-7846-4C9C-98EE-E98181DB278B}">
      <dsp:nvSpPr>
        <dsp:cNvPr id="0" name=""/>
        <dsp:cNvSpPr/>
      </dsp:nvSpPr>
      <dsp:spPr>
        <a:xfrm>
          <a:off x="3116725" y="58736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B5B5B-FB4C-4E3D-BBD6-F74276B4C1C5}">
      <dsp:nvSpPr>
        <dsp:cNvPr id="0" name=""/>
        <dsp:cNvSpPr/>
      </dsp:nvSpPr>
      <dsp:spPr>
        <a:xfrm>
          <a:off x="2531725" y="1793363"/>
          <a:ext cx="1800000" cy="201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Each daily weather record expanded into 24 hourly timestamps</a:t>
          </a:r>
        </a:p>
      </dsp:txBody>
      <dsp:txXfrm>
        <a:off x="2531725" y="1793363"/>
        <a:ext cx="1800000" cy="2010937"/>
      </dsp:txXfrm>
    </dsp:sp>
    <dsp:sp modelId="{A3015ADE-FC58-4D0C-B5B7-FF0669C64B1F}">
      <dsp:nvSpPr>
        <dsp:cNvPr id="0" name=""/>
        <dsp:cNvSpPr/>
      </dsp:nvSpPr>
      <dsp:spPr>
        <a:xfrm>
          <a:off x="4997725" y="353363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8C0C2-7C41-4FF2-9C20-8C95C2FDA908}">
      <dsp:nvSpPr>
        <dsp:cNvPr id="0" name=""/>
        <dsp:cNvSpPr/>
      </dsp:nvSpPr>
      <dsp:spPr>
        <a:xfrm>
          <a:off x="5231725" y="58736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F68A6-2C0C-4BE2-B051-184901356086}">
      <dsp:nvSpPr>
        <dsp:cNvPr id="0" name=""/>
        <dsp:cNvSpPr/>
      </dsp:nvSpPr>
      <dsp:spPr>
        <a:xfrm>
          <a:off x="4646725" y="1793363"/>
          <a:ext cx="1800000" cy="201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Weather variables used:   temperature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humidity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wind speed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cloud cover 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solar irradiance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Hourly patterns imposed to generate realistic sector-wise demand and renewable generation</a:t>
          </a:r>
        </a:p>
      </dsp:txBody>
      <dsp:txXfrm>
        <a:off x="4646725" y="1793363"/>
        <a:ext cx="1800000" cy="2010937"/>
      </dsp:txXfrm>
    </dsp:sp>
    <dsp:sp modelId="{C1701DCA-7D98-412D-B8C4-CEE32663480C}">
      <dsp:nvSpPr>
        <dsp:cNvPr id="0" name=""/>
        <dsp:cNvSpPr/>
      </dsp:nvSpPr>
      <dsp:spPr>
        <a:xfrm>
          <a:off x="7112725" y="353363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CEC9B-92EC-420B-889D-E5E643A63D76}">
      <dsp:nvSpPr>
        <dsp:cNvPr id="0" name=""/>
        <dsp:cNvSpPr/>
      </dsp:nvSpPr>
      <dsp:spPr>
        <a:xfrm>
          <a:off x="7346725" y="587363"/>
          <a:ext cx="630000" cy="630000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EFF14-CDCF-42FB-96AB-AE6968665FEB}">
      <dsp:nvSpPr>
        <dsp:cNvPr id="0" name=""/>
        <dsp:cNvSpPr/>
      </dsp:nvSpPr>
      <dsp:spPr>
        <a:xfrm>
          <a:off x="6761725" y="1793363"/>
          <a:ext cx="1800000" cy="201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Generated hourly outputs: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residential load commercial load industrial load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critical load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total load: solar generation, wind generation*</a:t>
          </a:r>
        </a:p>
      </dsp:txBody>
      <dsp:txXfrm>
        <a:off x="6761725" y="1793363"/>
        <a:ext cx="1800000" cy="2010937"/>
      </dsp:txXfrm>
    </dsp:sp>
    <dsp:sp modelId="{D22795B1-7A66-4ED7-993B-EEFAD20BF8E2}">
      <dsp:nvSpPr>
        <dsp:cNvPr id="0" name=""/>
        <dsp:cNvSpPr/>
      </dsp:nvSpPr>
      <dsp:spPr>
        <a:xfrm>
          <a:off x="9227725" y="353363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8ACF0-F210-4560-89B3-8FE65F30B9EE}">
      <dsp:nvSpPr>
        <dsp:cNvPr id="0" name=""/>
        <dsp:cNvSpPr/>
      </dsp:nvSpPr>
      <dsp:spPr>
        <a:xfrm>
          <a:off x="9461725" y="58736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84D1D-2FF1-4B3C-832A-5DCAFFEE6FB5}">
      <dsp:nvSpPr>
        <dsp:cNvPr id="0" name=""/>
        <dsp:cNvSpPr/>
      </dsp:nvSpPr>
      <dsp:spPr>
        <a:xfrm>
          <a:off x="8876725" y="1793363"/>
          <a:ext cx="1800000" cy="201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The dataset is not purely random. It is created using: realistic weather forcing hour-wise sector behavior renewable power equations feeder-level engineering constraints</a:t>
          </a:r>
        </a:p>
      </dsp:txBody>
      <dsp:txXfrm>
        <a:off x="8876725" y="1793363"/>
        <a:ext cx="1800000" cy="2010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CF10D-D615-4A3D-A3E7-66E580BE9F6A}">
      <dsp:nvSpPr>
        <dsp:cNvPr id="0" name=""/>
        <dsp:cNvSpPr/>
      </dsp:nvSpPr>
      <dsp:spPr>
        <a:xfrm>
          <a:off x="1039163" y="518948"/>
          <a:ext cx="1114226" cy="1114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ED2A3-4131-4294-864A-10FBDC3E7B4E}">
      <dsp:nvSpPr>
        <dsp:cNvPr id="0" name=""/>
        <dsp:cNvSpPr/>
      </dsp:nvSpPr>
      <dsp:spPr>
        <a:xfrm>
          <a:off x="358247" y="1956946"/>
          <a:ext cx="247605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Dataset arranged in chronological order </a:t>
          </a:r>
        </a:p>
      </dsp:txBody>
      <dsp:txXfrm>
        <a:off x="358247" y="1956946"/>
        <a:ext cx="2476058" cy="720000"/>
      </dsp:txXfrm>
    </dsp:sp>
    <dsp:sp modelId="{A0851884-B850-4602-83D4-74BEBE162368}">
      <dsp:nvSpPr>
        <dsp:cNvPr id="0" name=""/>
        <dsp:cNvSpPr/>
      </dsp:nvSpPr>
      <dsp:spPr>
        <a:xfrm>
          <a:off x="3948532" y="518948"/>
          <a:ext cx="1114226" cy="1114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E6643-F2C0-45AE-82C3-03547A502DAE}">
      <dsp:nvSpPr>
        <dsp:cNvPr id="0" name=""/>
        <dsp:cNvSpPr/>
      </dsp:nvSpPr>
      <dsp:spPr>
        <a:xfrm>
          <a:off x="3267616" y="1956946"/>
          <a:ext cx="247605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Input variables and target variables normalized using min-max scaling</a:t>
          </a:r>
        </a:p>
      </dsp:txBody>
      <dsp:txXfrm>
        <a:off x="3267616" y="1956946"/>
        <a:ext cx="2476058" cy="720000"/>
      </dsp:txXfrm>
    </dsp:sp>
    <dsp:sp modelId="{C8EF96C1-BC79-4D67-B680-7ED788185A97}">
      <dsp:nvSpPr>
        <dsp:cNvPr id="0" name=""/>
        <dsp:cNvSpPr/>
      </dsp:nvSpPr>
      <dsp:spPr>
        <a:xfrm>
          <a:off x="6857901" y="518948"/>
          <a:ext cx="1114226" cy="1114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A0F30-D9B1-4E7D-B983-4150422945F0}">
      <dsp:nvSpPr>
        <dsp:cNvPr id="0" name=""/>
        <dsp:cNvSpPr/>
      </dsp:nvSpPr>
      <dsp:spPr>
        <a:xfrm>
          <a:off x="6176985" y="1956946"/>
          <a:ext cx="247605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Sliding-window sequence generation used for time-series learning</a:t>
          </a:r>
        </a:p>
      </dsp:txBody>
      <dsp:txXfrm>
        <a:off x="6176985" y="1956946"/>
        <a:ext cx="247605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19AB6-8AE6-484D-B133-91298918C402}">
      <dsp:nvSpPr>
        <dsp:cNvPr id="0" name=""/>
        <dsp:cNvSpPr/>
      </dsp:nvSpPr>
      <dsp:spPr>
        <a:xfrm>
          <a:off x="973190" y="518530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D6D8D-BC35-4908-8687-AE1D7DF41047}">
      <dsp:nvSpPr>
        <dsp:cNvPr id="0" name=""/>
        <dsp:cNvSpPr/>
      </dsp:nvSpPr>
      <dsp:spPr>
        <a:xfrm>
          <a:off x="1242597" y="787937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696AF-D569-4F7B-A715-94307E5DE4B7}">
      <dsp:nvSpPr>
        <dsp:cNvPr id="0" name=""/>
        <dsp:cNvSpPr/>
      </dsp:nvSpPr>
      <dsp:spPr>
        <a:xfrm>
          <a:off x="569079" y="2176420"/>
          <a:ext cx="2072362" cy="165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Open DSS produces numerical outputs for each hourly operating state</a:t>
          </a:r>
        </a:p>
      </dsp:txBody>
      <dsp:txXfrm>
        <a:off x="569079" y="2176420"/>
        <a:ext cx="2072362" cy="1656386"/>
      </dsp:txXfrm>
    </dsp:sp>
    <dsp:sp modelId="{2868445B-2419-4416-96C9-E33076E1E2E7}">
      <dsp:nvSpPr>
        <dsp:cNvPr id="0" name=""/>
        <dsp:cNvSpPr/>
      </dsp:nvSpPr>
      <dsp:spPr>
        <a:xfrm>
          <a:off x="3408216" y="518530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8AFFB6-83C5-462F-834E-167148414C76}">
      <dsp:nvSpPr>
        <dsp:cNvPr id="0" name=""/>
        <dsp:cNvSpPr/>
      </dsp:nvSpPr>
      <dsp:spPr>
        <a:xfrm>
          <a:off x="3677623" y="787937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1CE5A-A49A-4E86-B8F6-EC7D35877FC6}">
      <dsp:nvSpPr>
        <dsp:cNvPr id="0" name=""/>
        <dsp:cNvSpPr/>
      </dsp:nvSpPr>
      <dsp:spPr>
        <a:xfrm>
          <a:off x="3004105" y="2176420"/>
          <a:ext cx="2072362" cy="165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LLM layer converts technical outputs into readable operational insights</a:t>
          </a:r>
        </a:p>
      </dsp:txBody>
      <dsp:txXfrm>
        <a:off x="3004105" y="2176420"/>
        <a:ext cx="2072362" cy="1656386"/>
      </dsp:txXfrm>
    </dsp:sp>
    <dsp:sp modelId="{8A4A5CCF-04C5-48FF-9771-74C757BCE72B}">
      <dsp:nvSpPr>
        <dsp:cNvPr id="0" name=""/>
        <dsp:cNvSpPr/>
      </dsp:nvSpPr>
      <dsp:spPr>
        <a:xfrm>
          <a:off x="5843242" y="518530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55A4B-A8C0-43DB-B052-0DD0E8461CC5}">
      <dsp:nvSpPr>
        <dsp:cNvPr id="0" name=""/>
        <dsp:cNvSpPr/>
      </dsp:nvSpPr>
      <dsp:spPr>
        <a:xfrm>
          <a:off x="6112649" y="787937"/>
          <a:ext cx="725326" cy="725326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84616-6243-4F2E-9155-0AF28E40E438}">
      <dsp:nvSpPr>
        <dsp:cNvPr id="0" name=""/>
        <dsp:cNvSpPr/>
      </dsp:nvSpPr>
      <dsp:spPr>
        <a:xfrm>
          <a:off x="5439131" y="2176420"/>
          <a:ext cx="2072362" cy="165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Helps identify  stressed hours ,undervoltage periods , overload windows, renewable shortfall periods ,peak grid dependence, recurring evening-risk patterns</a:t>
          </a:r>
        </a:p>
      </dsp:txBody>
      <dsp:txXfrm>
        <a:off x="5439131" y="2176420"/>
        <a:ext cx="2072362" cy="1656386"/>
      </dsp:txXfrm>
    </dsp:sp>
    <dsp:sp modelId="{ED1C6C65-B02F-4B0C-A9F8-609615DD491F}">
      <dsp:nvSpPr>
        <dsp:cNvPr id="0" name=""/>
        <dsp:cNvSpPr/>
      </dsp:nvSpPr>
      <dsp:spPr>
        <a:xfrm>
          <a:off x="8278280" y="549350"/>
          <a:ext cx="1264141" cy="126414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41302-397C-4D3C-9D2C-A72D3CE7F643}">
      <dsp:nvSpPr>
        <dsp:cNvPr id="0" name=""/>
        <dsp:cNvSpPr/>
      </dsp:nvSpPr>
      <dsp:spPr>
        <a:xfrm>
          <a:off x="8547675" y="787937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00486-79EA-4742-808C-34D0C5ADA845}">
      <dsp:nvSpPr>
        <dsp:cNvPr id="0" name=""/>
        <dsp:cNvSpPr/>
      </dsp:nvSpPr>
      <dsp:spPr>
        <a:xfrm>
          <a:off x="7874157" y="2176420"/>
          <a:ext cx="2072362" cy="165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Example interpretation: evening peak hours increase feeder stress due to residential demand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daytime solar support reduces grid import*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wind variability affects renewable contribution during non-solar hours</a:t>
          </a:r>
        </a:p>
      </dsp:txBody>
      <dsp:txXfrm>
        <a:off x="7874157" y="2176420"/>
        <a:ext cx="2072362" cy="16563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E1269-B1C8-4C43-8309-F3C82E945C14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D9C40-DC55-4CEF-966F-C76C6E670FB3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Kerala-adapted IEEE 13-bus microgrid was designed</a:t>
          </a:r>
        </a:p>
      </dsp:txBody>
      <dsp:txXfrm>
        <a:off x="0" y="531"/>
        <a:ext cx="10515600" cy="870055"/>
      </dsp:txXfrm>
    </dsp:sp>
    <dsp:sp modelId="{97FC2262-486E-4F95-875F-AD6F76752B29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D7F95-6B23-461D-BEBB-E71F147F172D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Weather-driven hourly synthetic dataset was generated</a:t>
          </a:r>
        </a:p>
      </dsp:txBody>
      <dsp:txXfrm>
        <a:off x="0" y="870586"/>
        <a:ext cx="10515600" cy="870055"/>
      </dsp:txXfrm>
    </dsp:sp>
    <dsp:sp modelId="{F86F5750-17F8-4517-85D5-EC506F1E56B8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0449E-7924-4ECC-9B6A-538223D5C99F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CNN-LSTM forecasted sector-wise load and renewable generation</a:t>
          </a:r>
        </a:p>
      </dsp:txBody>
      <dsp:txXfrm>
        <a:off x="0" y="1740641"/>
        <a:ext cx="10515600" cy="870055"/>
      </dsp:txXfrm>
    </dsp:sp>
    <dsp:sp modelId="{E0412ECB-127B-4CAE-A14F-C896F3F6D1FF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D406C-A99D-4B95-B4AB-6B11B50B339A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OpenDSS validated the forecasted operating conditions</a:t>
          </a:r>
        </a:p>
      </dsp:txBody>
      <dsp:txXfrm>
        <a:off x="0" y="2610696"/>
        <a:ext cx="10515600" cy="870055"/>
      </dsp:txXfrm>
    </dsp:sp>
    <dsp:sp modelId="{8879FF86-92FD-4CDD-8BEE-78B9C3F46C9E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5D96B-2A02-4EBE-8FD0-3604F02BBDA4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LLM-based analysis transformed simulation outputs into decision-support insights</a:t>
          </a: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E1738-6EB3-49DB-820A-3C3EC7A08C0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E4312-2625-45D4-B8A7-C5CEAA63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1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ml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6C3D-BCAA-B064-F491-A9249E887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8C400-13F4-9A58-E285-D9AF27311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E7826-7392-9C36-B470-B9A5815E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91CF-661A-5399-A057-7F50DB8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48B74-3493-9587-53CD-214226D5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6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45F7-2880-9DE5-2552-A2962F9A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D34B-AD11-5299-C8CB-2F794D0D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E2830-39F8-2079-B16C-B0EE5FF9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F7FB-0920-9548-C2EA-EED924B8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F8235-CF7E-77D0-3290-69EA74E6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7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0406-F023-4E2E-F415-7FAAFA713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97DED-196B-0837-B1D2-3A01A57ED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1E6F4-E2DC-C7F8-012D-2427CBAE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5AEDF-6D23-0E51-D178-1D8397FD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58767-8D74-BB18-AFB6-B20A5585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9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6B6B-2A76-E605-CEA2-5531CDB5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43F5-7D26-1983-A608-7F2221936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610A9-2E3D-01E5-45E9-6E9DB1DF2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5A4D6-E028-B390-E4B0-FAB658BF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0A405-1710-E78F-9C8C-8F3A3DCF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603E2-42A0-35C8-4F8E-0525273B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7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41B7-CDB9-7447-9BEE-2CB42A63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A69FC-0427-CAE2-6DC4-307A4AEA1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17EC3-52EC-0D48-D34D-4C01F65BF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3252C-5ED9-1831-64DA-A06608050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3CC26-B7FB-3BE3-B753-6087AAAFC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790D0-8E36-3919-A8A2-5B859ECD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97BC3-1358-F5C9-D8D1-ED45966ED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3299D-55E0-80BA-7B49-58BF1495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9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303B-71B9-320F-541F-B195EC44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8DD86-D1A1-CC1B-B25D-12A365C6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E2A27-0BE5-90EA-7B1D-69B68686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E63C9-2803-1FB0-21C0-27F4159A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5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0B385-80C4-F6C1-6C3C-572F1BDA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CE404-B274-C49B-B287-28568079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89813-3990-CCBA-7708-9E2C53B1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0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41A2-593B-1681-238F-EA12D343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4C3C-B694-5FB9-8619-BA847E06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49F0D-3992-E93C-D361-307AB42D2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57CA5-0C47-1BFC-4B44-58EE1010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7EFA0-6403-8192-0A55-8CD94273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7359D-BAE6-9BE9-586D-B2EF76D6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5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C103-7AA8-3CED-E6A9-9B4E3777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B2C6F-0901-6AC5-406A-934F859E8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06FDF-98BA-1BB6-F1B5-A7A708B59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1C58C-C32D-7B6F-40CC-F66E59DF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2D8C5-0A4B-4876-8C86-84CDD1A1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15566-2A95-8744-5A66-18873BD7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1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9234-0A52-2651-0E7E-6DA53B96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3418B-D1EB-FBF6-DD27-A2BE46B3B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039D2-2BC9-10E1-B5D6-D259DF9E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31BC7-CD1B-6D06-9851-9B7CC85B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3E15F-BADF-EB00-8352-52891ED5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8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82ABD-3E2D-3936-9AD5-15CD8A7AE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81F5E-56C3-0BEF-BE89-1226BE3B9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D6A56-0C27-43A3-B2BC-98B514BF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E9D70-C5D1-59B5-9090-DEBCF4C8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01B3-E5E5-6298-4BFC-25A96A23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A15-4947-F39A-A849-787C8934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5F2EE-62BC-966E-59D4-7FE41C74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433CA-DF02-843D-BCAD-A9B2699FF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8B98E-FE9F-48C0-9A86-CDBBCE443958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DF64-7B94-0CC4-B659-03D611A53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1DDB-BEE0-9E09-1796-6001884D1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00428-83C4-4FF1-BAC5-C74A43F1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7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ABB36-E57A-18F9-4F12-1A84BB3D4DAB}"/>
              </a:ext>
            </a:extLst>
          </p:cNvPr>
          <p:cNvSpPr txBox="1"/>
          <p:nvPr/>
        </p:nvSpPr>
        <p:spPr>
          <a:xfrm>
            <a:off x="1777069" y="1805996"/>
            <a:ext cx="8514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AI/ML based Load Forecasting on Distribution Networks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Technology Calicut - Wikipedia">
            <a:extLst>
              <a:ext uri="{FF2B5EF4-FFF2-40B4-BE49-F238E27FC236}">
                <a16:creationId xmlns:a16="http://schemas.microsoft.com/office/drawing/2014/main" id="{A5F5C583-A5E4-3110-1E01-5BF0F8DA3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447" y="3851676"/>
            <a:ext cx="1210068" cy="147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59E1B-74F9-96BB-5AF0-31B5A91E809E}"/>
              </a:ext>
            </a:extLst>
          </p:cNvPr>
          <p:cNvSpPr txBox="1"/>
          <p:nvPr/>
        </p:nvSpPr>
        <p:spPr>
          <a:xfrm>
            <a:off x="3101129" y="1341237"/>
            <a:ext cx="5989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Project Title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5F72E-7082-1F95-1582-D1466CA0EE14}"/>
              </a:ext>
            </a:extLst>
          </p:cNvPr>
          <p:cNvSpPr txBox="1"/>
          <p:nvPr/>
        </p:nvSpPr>
        <p:spPr>
          <a:xfrm>
            <a:off x="3039611" y="440683"/>
            <a:ext cx="5989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Mid Semester Review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6E44D-E10A-9F90-3D9E-4261C87DAF74}"/>
              </a:ext>
            </a:extLst>
          </p:cNvPr>
          <p:cNvSpPr txBox="1"/>
          <p:nvPr/>
        </p:nvSpPr>
        <p:spPr>
          <a:xfrm>
            <a:off x="1015068" y="3884103"/>
            <a:ext cx="2961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Dr. Karthikeyan .V </a:t>
            </a:r>
          </a:p>
          <a:p>
            <a:pPr algn="ctr"/>
            <a:r>
              <a:rPr lang="en-US" b="1" dirty="0"/>
              <a:t>Assistant Professor</a:t>
            </a:r>
          </a:p>
          <a:p>
            <a:pPr algn="ctr"/>
            <a:r>
              <a:rPr lang="en-US" b="1" dirty="0"/>
              <a:t> NIT Calicut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C7E53-C2EC-4A9D-8DCA-8C052F724105}"/>
              </a:ext>
            </a:extLst>
          </p:cNvPr>
          <p:cNvSpPr txBox="1"/>
          <p:nvPr/>
        </p:nvSpPr>
        <p:spPr>
          <a:xfrm>
            <a:off x="8001000" y="3807880"/>
            <a:ext cx="3450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Amarjith T K (B220682EE)</a:t>
            </a:r>
          </a:p>
          <a:p>
            <a:pPr algn="ctr"/>
            <a:r>
              <a:rPr lang="en-IN" b="1" dirty="0"/>
              <a:t>Adarsh S (B220108EE) </a:t>
            </a:r>
          </a:p>
          <a:p>
            <a:pPr algn="ctr"/>
            <a:r>
              <a:rPr lang="en-IN" b="1" dirty="0"/>
              <a:t>Cherin Jacob Sabu (B220025EE) </a:t>
            </a:r>
          </a:p>
          <a:p>
            <a:pPr algn="ctr"/>
            <a:r>
              <a:rPr lang="en-IN" b="1" dirty="0"/>
              <a:t>Anargha A L (B220166EE)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7607D-4506-0E2F-787D-2B9D1C96E30B}"/>
              </a:ext>
            </a:extLst>
          </p:cNvPr>
          <p:cNvSpPr txBox="1"/>
          <p:nvPr/>
        </p:nvSpPr>
        <p:spPr>
          <a:xfrm>
            <a:off x="1777069" y="3314570"/>
            <a:ext cx="296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Project Guide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41948-591B-CBCB-F5EF-B3CD0B84F49F}"/>
              </a:ext>
            </a:extLst>
          </p:cNvPr>
          <p:cNvSpPr txBox="1"/>
          <p:nvPr/>
        </p:nvSpPr>
        <p:spPr>
          <a:xfrm>
            <a:off x="8934275" y="3314570"/>
            <a:ext cx="296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Presented by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A26B5-5E7A-9609-AFD3-C2B93D07BC3D}"/>
              </a:ext>
            </a:extLst>
          </p:cNvPr>
          <p:cNvSpPr txBox="1"/>
          <p:nvPr/>
        </p:nvSpPr>
        <p:spPr>
          <a:xfrm>
            <a:off x="3390081" y="5809765"/>
            <a:ext cx="470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Department of Electrical Engineering National Institute of Technology Calicut</a:t>
            </a:r>
            <a:endParaRPr lang="en-IN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BD115-116E-A46B-39D1-DAC5274A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4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EB3B-A249-A2A8-6373-6F03E753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DE49-69B7-084B-AD83-347F6ED9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17" y="1589313"/>
            <a:ext cx="10515600" cy="46808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IEEE 13-bus distribution feeder adapted for Kerala 11 kV conditions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Grid-connected microgrid with renewable integration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grid modeled as 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buses retained as electrical junctions to preserve feeder topology and voltage-drop behavior.</a:t>
            </a:r>
          </a:p>
          <a:p>
            <a:endParaRPr lang="en-US" sz="2000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B4F8878-7E0E-E50D-330A-344DD96F7F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224421"/>
              </p:ext>
            </p:extLst>
          </p:nvPr>
        </p:nvGraphicFramePr>
        <p:xfrm>
          <a:off x="3218323" y="3242824"/>
          <a:ext cx="4354285" cy="21576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1330">
                  <a:extLst>
                    <a:ext uri="{9D8B030D-6E8A-4147-A177-3AD203B41FA5}">
                      <a16:colId xmlns:a16="http://schemas.microsoft.com/office/drawing/2014/main" val="3086211034"/>
                    </a:ext>
                  </a:extLst>
                </a:gridCol>
                <a:gridCol w="1351330">
                  <a:extLst>
                    <a:ext uri="{9D8B030D-6E8A-4147-A177-3AD203B41FA5}">
                      <a16:colId xmlns:a16="http://schemas.microsoft.com/office/drawing/2014/main" val="996369242"/>
                    </a:ext>
                  </a:extLst>
                </a:gridCol>
                <a:gridCol w="1651625">
                  <a:extLst>
                    <a:ext uri="{9D8B030D-6E8A-4147-A177-3AD203B41FA5}">
                      <a16:colId xmlns:a16="http://schemas.microsoft.com/office/drawing/2014/main" val="2164254869"/>
                    </a:ext>
                  </a:extLst>
                </a:gridCol>
              </a:tblGrid>
              <a:tr h="222724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07960"/>
                  </a:ext>
                </a:extLst>
              </a:tr>
              <a:tr h="38976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Slack /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650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97855"/>
                  </a:ext>
                </a:extLst>
              </a:tr>
              <a:tr h="72385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634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671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684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</a:t>
                      </a:r>
                    </a:p>
                    <a:p>
                      <a:r>
                        <a:rPr lang="en-US" sz="1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622381"/>
                  </a:ext>
                </a:extLst>
              </a:tr>
              <a:tr h="38976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675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 680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 PV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Generation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15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73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9954-7913-482D-CFCC-7A9870C5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Single Line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46B741-D9DF-693D-77D3-D7D144E20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0171" y="1304868"/>
            <a:ext cx="7043058" cy="528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48A5-D91D-8830-5356-08B9172E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Ratings and Design Choices</a:t>
            </a:r>
            <a:endParaRPr lang="en-US" sz="32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2AAB05-070A-24BB-5FA0-FB4DC9535806}"/>
              </a:ext>
            </a:extLst>
          </p:cNvPr>
          <p:cNvGrpSpPr/>
          <p:nvPr/>
        </p:nvGrpSpPr>
        <p:grpSpPr>
          <a:xfrm>
            <a:off x="167811" y="1630337"/>
            <a:ext cx="11856378" cy="2276868"/>
            <a:chOff x="227743" y="1265148"/>
            <a:chExt cx="14732000" cy="2501900"/>
          </a:xfrm>
        </p:grpSpPr>
        <p:sp>
          <p:nvSpPr>
            <p:cNvPr id="46" name="Shape 4">
              <a:extLst>
                <a:ext uri="{FF2B5EF4-FFF2-40B4-BE49-F238E27FC236}">
                  <a16:creationId xmlns:a16="http://schemas.microsoft.com/office/drawing/2014/main" id="{C2830DD6-787F-FBF7-023F-603242D657EB}"/>
                </a:ext>
              </a:extLst>
            </p:cNvPr>
            <p:cNvSpPr/>
            <p:nvPr/>
          </p:nvSpPr>
          <p:spPr>
            <a:xfrm>
              <a:off x="227743" y="1265148"/>
              <a:ext cx="14732000" cy="0"/>
            </a:xfrm>
            <a:prstGeom prst="straightConnector1">
              <a:avLst/>
            </a:prstGeom>
            <a:noFill/>
            <a:ln w="12700">
              <a:solidFill>
                <a:srgbClr val="D0D8D6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2A8317CD-9FED-3781-EBCB-B0A1540B0359}"/>
                </a:ext>
              </a:extLst>
            </p:cNvPr>
            <p:cNvSpPr/>
            <p:nvPr/>
          </p:nvSpPr>
          <p:spPr>
            <a:xfrm>
              <a:off x="227743" y="1481048"/>
              <a:ext cx="3429000" cy="2286000"/>
            </a:xfrm>
            <a:prstGeom prst="rect">
              <a:avLst/>
            </a:prstGeom>
            <a:solidFill>
              <a:srgbClr val="E8EEED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6">
              <a:extLst>
                <a:ext uri="{FF2B5EF4-FFF2-40B4-BE49-F238E27FC236}">
                  <a16:creationId xmlns:a16="http://schemas.microsoft.com/office/drawing/2014/main" id="{AA81F9F3-CABA-1474-8DFD-729A582FAB44}"/>
                </a:ext>
              </a:extLst>
            </p:cNvPr>
            <p:cNvSpPr/>
            <p:nvPr/>
          </p:nvSpPr>
          <p:spPr>
            <a:xfrm>
              <a:off x="507143" y="1671548"/>
              <a:ext cx="355600" cy="406400"/>
            </a:xfrm>
            <a:custGeom>
              <a:avLst/>
              <a:gdLst/>
              <a:ahLst/>
              <a:cxnLst/>
              <a:rect l="l" t="t" r="r" b="b"/>
              <a:pathLst>
                <a:path w="355600" h="406400">
                  <a:moveTo>
                    <a:pt x="268923" y="-7858"/>
                  </a:moveTo>
                  <a:cubicBezTo>
                    <a:pt x="278368" y="-1032"/>
                    <a:pt x="281861" y="11351"/>
                    <a:pt x="277574" y="22146"/>
                  </a:cubicBezTo>
                  <a:lnTo>
                    <a:pt x="215344" y="177800"/>
                  </a:lnTo>
                  <a:lnTo>
                    <a:pt x="330200" y="177800"/>
                  </a:lnTo>
                  <a:cubicBezTo>
                    <a:pt x="340916" y="177800"/>
                    <a:pt x="350441" y="184468"/>
                    <a:pt x="354092" y="194548"/>
                  </a:cubicBezTo>
                  <a:cubicBezTo>
                    <a:pt x="357743" y="204629"/>
                    <a:pt x="354648" y="215900"/>
                    <a:pt x="346472" y="222726"/>
                  </a:cubicBezTo>
                  <a:lnTo>
                    <a:pt x="117872" y="413226"/>
                  </a:lnTo>
                  <a:cubicBezTo>
                    <a:pt x="108903" y="420688"/>
                    <a:pt x="96123" y="421084"/>
                    <a:pt x="86678" y="414258"/>
                  </a:cubicBezTo>
                  <a:cubicBezTo>
                    <a:pt x="77232" y="407432"/>
                    <a:pt x="73739" y="395049"/>
                    <a:pt x="78026" y="384254"/>
                  </a:cubicBezTo>
                  <a:lnTo>
                    <a:pt x="140256" y="228600"/>
                  </a:lnTo>
                  <a:lnTo>
                    <a:pt x="25400" y="228600"/>
                  </a:lnTo>
                  <a:cubicBezTo>
                    <a:pt x="14684" y="228600"/>
                    <a:pt x="5159" y="221933"/>
                    <a:pt x="1508" y="211852"/>
                  </a:cubicBezTo>
                  <a:cubicBezTo>
                    <a:pt x="-2143" y="201771"/>
                    <a:pt x="952" y="190500"/>
                    <a:pt x="9128" y="183674"/>
                  </a:cubicBezTo>
                  <a:lnTo>
                    <a:pt x="237728" y="-6826"/>
                  </a:lnTo>
                  <a:cubicBezTo>
                    <a:pt x="246698" y="-14288"/>
                    <a:pt x="259477" y="-14684"/>
                    <a:pt x="268923" y="-7858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FBA70C55-F4C1-B93E-26C6-62937D97F4DD}"/>
                </a:ext>
              </a:extLst>
            </p:cNvPr>
            <p:cNvSpPr/>
            <p:nvPr/>
          </p:nvSpPr>
          <p:spPr>
            <a:xfrm>
              <a:off x="1015143" y="1671548"/>
              <a:ext cx="24130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b="1" dirty="0">
                  <a:solidFill>
                    <a:srgbClr val="1B4D4D"/>
                  </a:solidFill>
                  <a:latin typeface="Times New Roman" panose="02020603050405020304" pitchFamily="18" charset="0"/>
                  <a:ea typeface="QuattrocentoSans" pitchFamily="34" charset="-122"/>
                  <a:cs typeface="Times New Roman" panose="02020603050405020304" pitchFamily="18" charset="0"/>
                </a:rPr>
                <a:t>Base System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8">
              <a:extLst>
                <a:ext uri="{FF2B5EF4-FFF2-40B4-BE49-F238E27FC236}">
                  <a16:creationId xmlns:a16="http://schemas.microsoft.com/office/drawing/2014/main" id="{0C716E12-E308-D0CC-068F-C62D81529978}"/>
                </a:ext>
              </a:extLst>
            </p:cNvPr>
            <p:cNvSpPr/>
            <p:nvPr/>
          </p:nvSpPr>
          <p:spPr>
            <a:xfrm>
              <a:off x="481743" y="2204948"/>
              <a:ext cx="2921000" cy="139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IEEE 13-bus feeder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11 kV operating voltage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~4 MW max demand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Grid support for shortfall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9">
              <a:extLst>
                <a:ext uri="{FF2B5EF4-FFF2-40B4-BE49-F238E27FC236}">
                  <a16:creationId xmlns:a16="http://schemas.microsoft.com/office/drawing/2014/main" id="{E16B13B3-C3F0-F4E9-ED18-FEA8AB66EFE7}"/>
                </a:ext>
              </a:extLst>
            </p:cNvPr>
            <p:cNvSpPr/>
            <p:nvPr/>
          </p:nvSpPr>
          <p:spPr>
            <a:xfrm>
              <a:off x="3910743" y="1481048"/>
              <a:ext cx="3429000" cy="2286000"/>
            </a:xfrm>
            <a:prstGeom prst="rect">
              <a:avLst/>
            </a:prstGeom>
            <a:solidFill>
              <a:srgbClr val="E8EEED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Shape 10">
              <a:extLst>
                <a:ext uri="{FF2B5EF4-FFF2-40B4-BE49-F238E27FC236}">
                  <a16:creationId xmlns:a16="http://schemas.microsoft.com/office/drawing/2014/main" id="{69E7EA25-9C2B-EFC9-8782-A737B123472D}"/>
                </a:ext>
              </a:extLst>
            </p:cNvPr>
            <p:cNvSpPr/>
            <p:nvPr/>
          </p:nvSpPr>
          <p:spPr>
            <a:xfrm>
              <a:off x="4139343" y="1671548"/>
              <a:ext cx="457200" cy="406400"/>
            </a:xfrm>
            <a:custGeom>
              <a:avLst/>
              <a:gdLst/>
              <a:ahLst/>
              <a:cxnLst/>
              <a:rect l="l" t="t" r="r" b="b"/>
              <a:pathLst>
                <a:path w="457200" h="406400">
                  <a:moveTo>
                    <a:pt x="96679" y="25400"/>
                  </a:moveTo>
                  <a:cubicBezTo>
                    <a:pt x="72866" y="25400"/>
                    <a:pt x="52229" y="41910"/>
                    <a:pt x="47069" y="65167"/>
                  </a:cubicBezTo>
                  <a:lnTo>
                    <a:pt x="7620" y="242967"/>
                  </a:lnTo>
                  <a:cubicBezTo>
                    <a:pt x="556" y="274717"/>
                    <a:pt x="24686" y="304800"/>
                    <a:pt x="57150" y="304800"/>
                  </a:cubicBezTo>
                  <a:lnTo>
                    <a:pt x="203279" y="304800"/>
                  </a:lnTo>
                  <a:lnTo>
                    <a:pt x="203279" y="355600"/>
                  </a:lnTo>
                  <a:lnTo>
                    <a:pt x="152479" y="355600"/>
                  </a:lnTo>
                  <a:cubicBezTo>
                    <a:pt x="138430" y="355600"/>
                    <a:pt x="127079" y="366951"/>
                    <a:pt x="127079" y="381000"/>
                  </a:cubicBezTo>
                  <a:cubicBezTo>
                    <a:pt x="127079" y="395049"/>
                    <a:pt x="138430" y="406400"/>
                    <a:pt x="152479" y="406400"/>
                  </a:cubicBezTo>
                  <a:lnTo>
                    <a:pt x="304879" y="406400"/>
                  </a:lnTo>
                  <a:cubicBezTo>
                    <a:pt x="318929" y="406400"/>
                    <a:pt x="330279" y="395049"/>
                    <a:pt x="330279" y="381000"/>
                  </a:cubicBezTo>
                  <a:cubicBezTo>
                    <a:pt x="330279" y="366951"/>
                    <a:pt x="318929" y="355600"/>
                    <a:pt x="304879" y="355600"/>
                  </a:cubicBezTo>
                  <a:lnTo>
                    <a:pt x="254079" y="355600"/>
                  </a:lnTo>
                  <a:lnTo>
                    <a:pt x="254079" y="304800"/>
                  </a:lnTo>
                  <a:lnTo>
                    <a:pt x="400209" y="304800"/>
                  </a:lnTo>
                  <a:cubicBezTo>
                    <a:pt x="432673" y="304800"/>
                    <a:pt x="456883" y="274717"/>
                    <a:pt x="449818" y="242967"/>
                  </a:cubicBezTo>
                  <a:lnTo>
                    <a:pt x="410289" y="65167"/>
                  </a:lnTo>
                  <a:cubicBezTo>
                    <a:pt x="405130" y="41910"/>
                    <a:pt x="384572" y="25400"/>
                    <a:pt x="360759" y="25400"/>
                  </a:cubicBezTo>
                  <a:lnTo>
                    <a:pt x="96679" y="25400"/>
                  </a:lnTo>
                  <a:close/>
                  <a:moveTo>
                    <a:pt x="194945" y="76200"/>
                  </a:moveTo>
                  <a:lnTo>
                    <a:pt x="262573" y="76200"/>
                  </a:lnTo>
                  <a:lnTo>
                    <a:pt x="268367" y="146050"/>
                  </a:lnTo>
                  <a:lnTo>
                    <a:pt x="189151" y="146050"/>
                  </a:lnTo>
                  <a:lnTo>
                    <a:pt x="194945" y="76200"/>
                  </a:lnTo>
                  <a:close/>
                  <a:moveTo>
                    <a:pt x="150892" y="146050"/>
                  </a:moveTo>
                  <a:lnTo>
                    <a:pt x="81201" y="146050"/>
                  </a:lnTo>
                  <a:lnTo>
                    <a:pt x="96758" y="76200"/>
                  </a:lnTo>
                  <a:lnTo>
                    <a:pt x="156766" y="76200"/>
                  </a:lnTo>
                  <a:lnTo>
                    <a:pt x="150971" y="146050"/>
                  </a:lnTo>
                  <a:close/>
                  <a:moveTo>
                    <a:pt x="72708" y="184150"/>
                  </a:moveTo>
                  <a:lnTo>
                    <a:pt x="147717" y="184150"/>
                  </a:lnTo>
                  <a:lnTo>
                    <a:pt x="141922" y="254000"/>
                  </a:lnTo>
                  <a:lnTo>
                    <a:pt x="57229" y="254000"/>
                  </a:lnTo>
                  <a:lnTo>
                    <a:pt x="72787" y="184150"/>
                  </a:lnTo>
                  <a:close/>
                  <a:moveTo>
                    <a:pt x="185896" y="184150"/>
                  </a:moveTo>
                  <a:lnTo>
                    <a:pt x="271463" y="184150"/>
                  </a:lnTo>
                  <a:lnTo>
                    <a:pt x="277257" y="254000"/>
                  </a:lnTo>
                  <a:lnTo>
                    <a:pt x="180023" y="254000"/>
                  </a:lnTo>
                  <a:lnTo>
                    <a:pt x="185817" y="184150"/>
                  </a:lnTo>
                  <a:close/>
                  <a:moveTo>
                    <a:pt x="309721" y="184150"/>
                  </a:moveTo>
                  <a:lnTo>
                    <a:pt x="384731" y="184150"/>
                  </a:lnTo>
                  <a:lnTo>
                    <a:pt x="400288" y="254000"/>
                  </a:lnTo>
                  <a:lnTo>
                    <a:pt x="315595" y="254000"/>
                  </a:lnTo>
                  <a:lnTo>
                    <a:pt x="309801" y="184150"/>
                  </a:lnTo>
                  <a:close/>
                  <a:moveTo>
                    <a:pt x="376238" y="146050"/>
                  </a:moveTo>
                  <a:lnTo>
                    <a:pt x="306546" y="146050"/>
                  </a:lnTo>
                  <a:lnTo>
                    <a:pt x="300752" y="76200"/>
                  </a:lnTo>
                  <a:lnTo>
                    <a:pt x="360759" y="76200"/>
                  </a:lnTo>
                  <a:lnTo>
                    <a:pt x="376317" y="146050"/>
                  </a:ln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C35C8193-6759-BB44-6429-89E54372A783}"/>
                </a:ext>
              </a:extLst>
            </p:cNvPr>
            <p:cNvSpPr/>
            <p:nvPr/>
          </p:nvSpPr>
          <p:spPr>
            <a:xfrm>
              <a:off x="4698143" y="1671548"/>
              <a:ext cx="24130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b="1" dirty="0">
                  <a:solidFill>
                    <a:srgbClr val="1B4D4D"/>
                  </a:solidFill>
                  <a:latin typeface="Times New Roman" panose="02020603050405020304" pitchFamily="18" charset="0"/>
                  <a:ea typeface="QuattrocentoSans" pitchFamily="34" charset="-122"/>
                  <a:cs typeface="Times New Roman" panose="02020603050405020304" pitchFamily="18" charset="0"/>
                </a:rPr>
                <a:t>Renewable DER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12">
              <a:extLst>
                <a:ext uri="{FF2B5EF4-FFF2-40B4-BE49-F238E27FC236}">
                  <a16:creationId xmlns:a16="http://schemas.microsoft.com/office/drawing/2014/main" id="{3DA2A741-0CA6-7D05-721C-67B9920A6DFE}"/>
                </a:ext>
              </a:extLst>
            </p:cNvPr>
            <p:cNvSpPr/>
            <p:nvPr/>
          </p:nvSpPr>
          <p:spPr>
            <a:xfrm>
              <a:off x="4164743" y="2204948"/>
              <a:ext cx="2921000" cy="139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Solar PV: 1.2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Wind: 0.8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Total DER: 2.0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No battery storage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13">
              <a:extLst>
                <a:ext uri="{FF2B5EF4-FFF2-40B4-BE49-F238E27FC236}">
                  <a16:creationId xmlns:a16="http://schemas.microsoft.com/office/drawing/2014/main" id="{A82F89F6-0F89-3DD6-DCB1-02045967BC96}"/>
                </a:ext>
              </a:extLst>
            </p:cNvPr>
            <p:cNvSpPr/>
            <p:nvPr/>
          </p:nvSpPr>
          <p:spPr>
            <a:xfrm>
              <a:off x="7593743" y="1481048"/>
              <a:ext cx="3429000" cy="2286000"/>
            </a:xfrm>
            <a:prstGeom prst="rect">
              <a:avLst/>
            </a:prstGeom>
            <a:solidFill>
              <a:srgbClr val="E8EEED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Shape 14">
              <a:extLst>
                <a:ext uri="{FF2B5EF4-FFF2-40B4-BE49-F238E27FC236}">
                  <a16:creationId xmlns:a16="http://schemas.microsoft.com/office/drawing/2014/main" id="{BC6ED91C-7C26-DBBB-C914-04BE217A178B}"/>
                </a:ext>
              </a:extLst>
            </p:cNvPr>
            <p:cNvSpPr/>
            <p:nvPr/>
          </p:nvSpPr>
          <p:spPr>
            <a:xfrm>
              <a:off x="7898543" y="1671548"/>
              <a:ext cx="304800" cy="406400"/>
            </a:xfrm>
            <a:custGeom>
              <a:avLst/>
              <a:gdLst/>
              <a:ahLst/>
              <a:cxnLst/>
              <a:rect l="l" t="t" r="r" b="b"/>
              <a:pathLst>
                <a:path w="304800" h="406400">
                  <a:moveTo>
                    <a:pt x="50800" y="0"/>
                  </a:moveTo>
                  <a:cubicBezTo>
                    <a:pt x="22781" y="0"/>
                    <a:pt x="0" y="22781"/>
                    <a:pt x="0" y="50800"/>
                  </a:cubicBezTo>
                  <a:lnTo>
                    <a:pt x="0" y="355600"/>
                  </a:lnTo>
                  <a:cubicBezTo>
                    <a:pt x="0" y="383619"/>
                    <a:pt x="22781" y="406400"/>
                    <a:pt x="50800" y="406400"/>
                  </a:cubicBezTo>
                  <a:lnTo>
                    <a:pt x="254000" y="406400"/>
                  </a:lnTo>
                  <a:cubicBezTo>
                    <a:pt x="282019" y="406400"/>
                    <a:pt x="304800" y="383619"/>
                    <a:pt x="304800" y="355600"/>
                  </a:cubicBezTo>
                  <a:lnTo>
                    <a:pt x="304800" y="50800"/>
                  </a:lnTo>
                  <a:cubicBezTo>
                    <a:pt x="304800" y="22781"/>
                    <a:pt x="282019" y="0"/>
                    <a:pt x="254000" y="0"/>
                  </a:cubicBezTo>
                  <a:lnTo>
                    <a:pt x="50800" y="0"/>
                  </a:lnTo>
                  <a:close/>
                  <a:moveTo>
                    <a:pt x="139700" y="279400"/>
                  </a:moveTo>
                  <a:lnTo>
                    <a:pt x="165100" y="279400"/>
                  </a:lnTo>
                  <a:cubicBezTo>
                    <a:pt x="179149" y="279400"/>
                    <a:pt x="190500" y="290751"/>
                    <a:pt x="190500" y="304800"/>
                  </a:cubicBezTo>
                  <a:lnTo>
                    <a:pt x="190500" y="368300"/>
                  </a:lnTo>
                  <a:lnTo>
                    <a:pt x="114300" y="368300"/>
                  </a:lnTo>
                  <a:lnTo>
                    <a:pt x="114300" y="304800"/>
                  </a:lnTo>
                  <a:cubicBezTo>
                    <a:pt x="114300" y="290751"/>
                    <a:pt x="125651" y="279400"/>
                    <a:pt x="139700" y="279400"/>
                  </a:cubicBezTo>
                  <a:close/>
                  <a:moveTo>
                    <a:pt x="76200" y="88900"/>
                  </a:moveTo>
                  <a:cubicBezTo>
                    <a:pt x="76200" y="81915"/>
                    <a:pt x="81915" y="76200"/>
                    <a:pt x="88900" y="76200"/>
                  </a:cubicBezTo>
                  <a:lnTo>
                    <a:pt x="114300" y="76200"/>
                  </a:lnTo>
                  <a:cubicBezTo>
                    <a:pt x="121285" y="76200"/>
                    <a:pt x="127000" y="81915"/>
                    <a:pt x="127000" y="88900"/>
                  </a:cubicBezTo>
                  <a:lnTo>
                    <a:pt x="127000" y="114300"/>
                  </a:lnTo>
                  <a:cubicBezTo>
                    <a:pt x="127000" y="121285"/>
                    <a:pt x="121285" y="127000"/>
                    <a:pt x="114300" y="127000"/>
                  </a:cubicBezTo>
                  <a:lnTo>
                    <a:pt x="88900" y="127000"/>
                  </a:lnTo>
                  <a:cubicBezTo>
                    <a:pt x="81915" y="127000"/>
                    <a:pt x="76200" y="121285"/>
                    <a:pt x="76200" y="114300"/>
                  </a:cubicBezTo>
                  <a:lnTo>
                    <a:pt x="76200" y="88900"/>
                  </a:lnTo>
                  <a:close/>
                  <a:moveTo>
                    <a:pt x="190500" y="76200"/>
                  </a:moveTo>
                  <a:lnTo>
                    <a:pt x="215900" y="76200"/>
                  </a:lnTo>
                  <a:cubicBezTo>
                    <a:pt x="222885" y="76200"/>
                    <a:pt x="228600" y="81915"/>
                    <a:pt x="228600" y="88900"/>
                  </a:cubicBezTo>
                  <a:lnTo>
                    <a:pt x="228600" y="114300"/>
                  </a:lnTo>
                  <a:cubicBezTo>
                    <a:pt x="228600" y="121285"/>
                    <a:pt x="222885" y="127000"/>
                    <a:pt x="215900" y="127000"/>
                  </a:cubicBezTo>
                  <a:lnTo>
                    <a:pt x="190500" y="127000"/>
                  </a:lnTo>
                  <a:cubicBezTo>
                    <a:pt x="183515" y="127000"/>
                    <a:pt x="177800" y="121285"/>
                    <a:pt x="177800" y="114300"/>
                  </a:cubicBezTo>
                  <a:lnTo>
                    <a:pt x="177800" y="88900"/>
                  </a:lnTo>
                  <a:cubicBezTo>
                    <a:pt x="177800" y="81915"/>
                    <a:pt x="183515" y="76200"/>
                    <a:pt x="190500" y="76200"/>
                  </a:cubicBezTo>
                  <a:close/>
                  <a:moveTo>
                    <a:pt x="76200" y="190500"/>
                  </a:moveTo>
                  <a:cubicBezTo>
                    <a:pt x="76200" y="183515"/>
                    <a:pt x="81915" y="177800"/>
                    <a:pt x="88900" y="177800"/>
                  </a:cubicBezTo>
                  <a:lnTo>
                    <a:pt x="114300" y="177800"/>
                  </a:lnTo>
                  <a:cubicBezTo>
                    <a:pt x="121285" y="177800"/>
                    <a:pt x="127000" y="183515"/>
                    <a:pt x="127000" y="190500"/>
                  </a:cubicBezTo>
                  <a:lnTo>
                    <a:pt x="127000" y="215900"/>
                  </a:lnTo>
                  <a:cubicBezTo>
                    <a:pt x="127000" y="222885"/>
                    <a:pt x="121285" y="228600"/>
                    <a:pt x="114300" y="228600"/>
                  </a:cubicBezTo>
                  <a:lnTo>
                    <a:pt x="88900" y="228600"/>
                  </a:lnTo>
                  <a:cubicBezTo>
                    <a:pt x="81915" y="228600"/>
                    <a:pt x="76200" y="222885"/>
                    <a:pt x="76200" y="215900"/>
                  </a:cubicBezTo>
                  <a:lnTo>
                    <a:pt x="76200" y="190500"/>
                  </a:lnTo>
                  <a:close/>
                  <a:moveTo>
                    <a:pt x="190500" y="177800"/>
                  </a:moveTo>
                  <a:lnTo>
                    <a:pt x="215900" y="177800"/>
                  </a:lnTo>
                  <a:cubicBezTo>
                    <a:pt x="222885" y="177800"/>
                    <a:pt x="228600" y="183515"/>
                    <a:pt x="228600" y="190500"/>
                  </a:cubicBezTo>
                  <a:lnTo>
                    <a:pt x="228600" y="215900"/>
                  </a:lnTo>
                  <a:cubicBezTo>
                    <a:pt x="228600" y="222885"/>
                    <a:pt x="222885" y="228600"/>
                    <a:pt x="215900" y="228600"/>
                  </a:cubicBezTo>
                  <a:lnTo>
                    <a:pt x="190500" y="228600"/>
                  </a:lnTo>
                  <a:cubicBezTo>
                    <a:pt x="183515" y="228600"/>
                    <a:pt x="177800" y="222885"/>
                    <a:pt x="177800" y="215900"/>
                  </a:cubicBezTo>
                  <a:lnTo>
                    <a:pt x="177800" y="190500"/>
                  </a:lnTo>
                  <a:cubicBezTo>
                    <a:pt x="177800" y="183515"/>
                    <a:pt x="183515" y="177800"/>
                    <a:pt x="190500" y="177800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15">
              <a:extLst>
                <a:ext uri="{FF2B5EF4-FFF2-40B4-BE49-F238E27FC236}">
                  <a16:creationId xmlns:a16="http://schemas.microsoft.com/office/drawing/2014/main" id="{8A145082-04ED-3115-DA93-C772AF9458D1}"/>
                </a:ext>
              </a:extLst>
            </p:cNvPr>
            <p:cNvSpPr/>
            <p:nvPr/>
          </p:nvSpPr>
          <p:spPr>
            <a:xfrm>
              <a:off x="8381143" y="1671548"/>
              <a:ext cx="24130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b="1" dirty="0">
                  <a:solidFill>
                    <a:srgbClr val="1B4D4D"/>
                  </a:solidFill>
                  <a:latin typeface="Times New Roman" panose="02020603050405020304" pitchFamily="18" charset="0"/>
                  <a:ea typeface="QuattrocentoSans" pitchFamily="34" charset="-122"/>
                  <a:cs typeface="Times New Roman" panose="02020603050405020304" pitchFamily="18" charset="0"/>
                </a:rPr>
                <a:t>Load Sectors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AC11E8EA-2FD2-71ED-589F-D69B0FD92B59}"/>
                </a:ext>
              </a:extLst>
            </p:cNvPr>
            <p:cNvSpPr/>
            <p:nvPr/>
          </p:nvSpPr>
          <p:spPr>
            <a:xfrm>
              <a:off x="7847743" y="2204948"/>
              <a:ext cx="2921000" cy="139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Residential: evening peak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Commercial: working hours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Industrial: daytime stable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Critical: always-priority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17">
              <a:extLst>
                <a:ext uri="{FF2B5EF4-FFF2-40B4-BE49-F238E27FC236}">
                  <a16:creationId xmlns:a16="http://schemas.microsoft.com/office/drawing/2014/main" id="{B7037AA7-1D52-8E9B-7801-4279F4CE9C89}"/>
                </a:ext>
              </a:extLst>
            </p:cNvPr>
            <p:cNvSpPr/>
            <p:nvPr/>
          </p:nvSpPr>
          <p:spPr>
            <a:xfrm>
              <a:off x="11276743" y="1481048"/>
              <a:ext cx="3683000" cy="2286000"/>
            </a:xfrm>
            <a:prstGeom prst="rect">
              <a:avLst/>
            </a:prstGeom>
            <a:solidFill>
              <a:srgbClr val="E8EEED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Shape 18">
              <a:extLst>
                <a:ext uri="{FF2B5EF4-FFF2-40B4-BE49-F238E27FC236}">
                  <a16:creationId xmlns:a16="http://schemas.microsoft.com/office/drawing/2014/main" id="{875FA88A-7C8D-E73F-D35C-839F20E0A95D}"/>
                </a:ext>
              </a:extLst>
            </p:cNvPr>
            <p:cNvSpPr/>
            <p:nvPr/>
          </p:nvSpPr>
          <p:spPr>
            <a:xfrm>
              <a:off x="11530743" y="167154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50800" y="50800"/>
                  </a:moveTo>
                  <a:cubicBezTo>
                    <a:pt x="50800" y="36751"/>
                    <a:pt x="39449" y="25400"/>
                    <a:pt x="25400" y="25400"/>
                  </a:cubicBezTo>
                  <a:cubicBezTo>
                    <a:pt x="11351" y="25400"/>
                    <a:pt x="0" y="36751"/>
                    <a:pt x="0" y="50800"/>
                  </a:cubicBezTo>
                  <a:lnTo>
                    <a:pt x="0" y="317500"/>
                  </a:lnTo>
                  <a:cubicBezTo>
                    <a:pt x="0" y="352584"/>
                    <a:pt x="28416" y="381000"/>
                    <a:pt x="63500" y="381000"/>
                  </a:cubicBezTo>
                  <a:lnTo>
                    <a:pt x="381000" y="381000"/>
                  </a:lnTo>
                  <a:cubicBezTo>
                    <a:pt x="395049" y="381000"/>
                    <a:pt x="406400" y="369649"/>
                    <a:pt x="406400" y="355600"/>
                  </a:cubicBezTo>
                  <a:cubicBezTo>
                    <a:pt x="406400" y="341551"/>
                    <a:pt x="395049" y="330200"/>
                    <a:pt x="381000" y="330200"/>
                  </a:cubicBezTo>
                  <a:lnTo>
                    <a:pt x="63500" y="330200"/>
                  </a:lnTo>
                  <a:cubicBezTo>
                    <a:pt x="56515" y="330200"/>
                    <a:pt x="50800" y="324485"/>
                    <a:pt x="50800" y="317500"/>
                  </a:cubicBezTo>
                  <a:lnTo>
                    <a:pt x="50800" y="50800"/>
                  </a:lnTo>
                  <a:close/>
                  <a:moveTo>
                    <a:pt x="373539" y="119539"/>
                  </a:moveTo>
                  <a:cubicBezTo>
                    <a:pt x="383461" y="109617"/>
                    <a:pt x="383461" y="93504"/>
                    <a:pt x="373539" y="83582"/>
                  </a:cubicBezTo>
                  <a:cubicBezTo>
                    <a:pt x="363617" y="73660"/>
                    <a:pt x="347504" y="73660"/>
                    <a:pt x="337582" y="83582"/>
                  </a:cubicBezTo>
                  <a:lnTo>
                    <a:pt x="254000" y="167243"/>
                  </a:lnTo>
                  <a:lnTo>
                    <a:pt x="208439" y="121761"/>
                  </a:lnTo>
                  <a:cubicBezTo>
                    <a:pt x="198517" y="111839"/>
                    <a:pt x="182404" y="111839"/>
                    <a:pt x="172482" y="121761"/>
                  </a:cubicBezTo>
                  <a:lnTo>
                    <a:pt x="96282" y="197961"/>
                  </a:lnTo>
                  <a:cubicBezTo>
                    <a:pt x="86360" y="207883"/>
                    <a:pt x="86360" y="223996"/>
                    <a:pt x="96282" y="233918"/>
                  </a:cubicBezTo>
                  <a:cubicBezTo>
                    <a:pt x="106204" y="243840"/>
                    <a:pt x="122317" y="243840"/>
                    <a:pt x="132239" y="233918"/>
                  </a:cubicBezTo>
                  <a:lnTo>
                    <a:pt x="190500" y="175657"/>
                  </a:lnTo>
                  <a:lnTo>
                    <a:pt x="236061" y="221218"/>
                  </a:lnTo>
                  <a:cubicBezTo>
                    <a:pt x="245983" y="231140"/>
                    <a:pt x="262096" y="231140"/>
                    <a:pt x="272018" y="221218"/>
                  </a:cubicBezTo>
                  <a:lnTo>
                    <a:pt x="373618" y="119618"/>
                  </a:ln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F6274B2F-A6FB-AA99-2999-0D5442737824}"/>
                </a:ext>
              </a:extLst>
            </p:cNvPr>
            <p:cNvSpPr/>
            <p:nvPr/>
          </p:nvSpPr>
          <p:spPr>
            <a:xfrm>
              <a:off x="12064143" y="1671548"/>
              <a:ext cx="26670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00" b="1" dirty="0">
                  <a:solidFill>
                    <a:srgbClr val="1B4D4D"/>
                  </a:solidFill>
                  <a:latin typeface="Times New Roman" panose="02020603050405020304" pitchFamily="18" charset="0"/>
                  <a:ea typeface="QuattrocentoSans" pitchFamily="34" charset="-122"/>
                  <a:cs typeface="Times New Roman" panose="02020603050405020304" pitchFamily="18" charset="0"/>
                </a:rPr>
                <a:t>Peak Allocation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20">
              <a:extLst>
                <a:ext uri="{FF2B5EF4-FFF2-40B4-BE49-F238E27FC236}">
                  <a16:creationId xmlns:a16="http://schemas.microsoft.com/office/drawing/2014/main" id="{448D52A0-FFDD-0670-2E32-DE8F8B9CDED8}"/>
                </a:ext>
              </a:extLst>
            </p:cNvPr>
            <p:cNvSpPr/>
            <p:nvPr/>
          </p:nvSpPr>
          <p:spPr>
            <a:xfrm>
              <a:off x="11530743" y="2204948"/>
              <a:ext cx="3175000" cy="139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Residential: 1.5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Commercial: 0.8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Industrial: 1.1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1A1A1A"/>
                  </a:solidFill>
                  <a:latin typeface="Times New Roman" panose="02020603050405020304" pitchFamily="18" charset="0"/>
                  <a:ea typeface="Quattrocento Sans" pitchFamily="34" charset="-122"/>
                  <a:cs typeface="Times New Roman" panose="02020603050405020304" pitchFamily="18" charset="0"/>
                </a:rPr>
                <a:t>Critical: 0.4 MW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 23">
            <a:extLst>
              <a:ext uri="{FF2B5EF4-FFF2-40B4-BE49-F238E27FC236}">
                <a16:creationId xmlns:a16="http://schemas.microsoft.com/office/drawing/2014/main" id="{132AB5FC-7622-391C-8A4D-8D04838386E8}"/>
              </a:ext>
            </a:extLst>
          </p:cNvPr>
          <p:cNvSpPr/>
          <p:nvPr/>
        </p:nvSpPr>
        <p:spPr>
          <a:xfrm>
            <a:off x="5758095" y="3872531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Design Rationale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646108E3-20C3-98C1-3D3D-EA2B925C1858}"/>
              </a:ext>
            </a:extLst>
          </p:cNvPr>
          <p:cNvSpPr/>
          <p:nvPr/>
        </p:nvSpPr>
        <p:spPr>
          <a:xfrm>
            <a:off x="5758095" y="4380531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87E2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Residential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sector captures the strong evening peak typical of Kerala households, driven by cooling and lighting loads.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C87E2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Industrial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load provides daytime stability with consistent factory operation patterns.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C87E2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Commercial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sector reflects working-hour demand from offices and retail.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C87E2F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Critical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load represents always-priority supply for hospitals, telecom, and water infrastructure.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14C58C58-E0BB-80C7-459A-04B347A62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108992"/>
              </p:ext>
            </p:extLst>
          </p:nvPr>
        </p:nvGraphicFramePr>
        <p:xfrm>
          <a:off x="1331359" y="4380531"/>
          <a:ext cx="3024883" cy="2217709"/>
        </p:xfrm>
        <a:graphic>
          <a:graphicData uri="http://schemas.openxmlformats.org/drawingml/2006/table">
            <a:tbl>
              <a:tblPr/>
              <a:tblGrid>
                <a:gridCol w="1309099">
                  <a:extLst>
                    <a:ext uri="{9D8B030D-6E8A-4147-A177-3AD203B41FA5}">
                      <a16:colId xmlns:a16="http://schemas.microsoft.com/office/drawing/2014/main" val="2502128287"/>
                    </a:ext>
                  </a:extLst>
                </a:gridCol>
                <a:gridCol w="780836">
                  <a:extLst>
                    <a:ext uri="{9D8B030D-6E8A-4147-A177-3AD203B41FA5}">
                      <a16:colId xmlns:a16="http://schemas.microsoft.com/office/drawing/2014/main" val="1054295313"/>
                    </a:ext>
                  </a:extLst>
                </a:gridCol>
                <a:gridCol w="934948">
                  <a:extLst>
                    <a:ext uri="{9D8B030D-6E8A-4147-A177-3AD203B41FA5}">
                      <a16:colId xmlns:a16="http://schemas.microsoft.com/office/drawing/2014/main" val="712805803"/>
                    </a:ext>
                  </a:extLst>
                </a:gridCol>
              </a:tblGrid>
              <a:tr h="355149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Load Sector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Bus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Peak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61777"/>
                  </a:ext>
                </a:extLst>
              </a:tr>
              <a:tr h="35514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Residential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634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1.5 MW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76062"/>
                  </a:ext>
                </a:extLst>
              </a:tr>
              <a:tr h="35514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Commercial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684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0.8 MW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64548"/>
                  </a:ext>
                </a:extLst>
              </a:tr>
              <a:tr h="35514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Industrial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671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1.1 MW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15591"/>
                  </a:ext>
                </a:extLst>
              </a:tr>
              <a:tr h="35514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Critical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692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0.4 MW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482849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Total Demand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QuattrocentoSans" pitchFamily="34" charset="-122"/>
                          <a:cs typeface="Times New Roman" panose="02020603050405020304" pitchFamily="18" charset="0"/>
                        </a:rPr>
                        <a:t>~3.8 MW</a:t>
                      </a:r>
                      <a:endParaRPr lang="en-US" sz="1200" dirty="0">
                        <a:latin typeface="Times New Roman" panose="02020603050405020304" pitchFamily="18" charset="0"/>
                        <a:ea typeface="QuattrocentoSans" charset="0"/>
                        <a:cs typeface="Times New Roman" panose="02020603050405020304" pitchFamily="18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068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03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502A1D-565A-AEB9-1D9A-6F7B0B3D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Weather-Driven Dataset for Kerala Microgrid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98E55D-8DD0-EDED-3D6C-3788B0853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260776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578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427568-9129-E553-5E23-F687070D4610}"/>
              </a:ext>
            </a:extLst>
          </p:cNvPr>
          <p:cNvSpPr/>
          <p:nvPr/>
        </p:nvSpPr>
        <p:spPr>
          <a:xfrm>
            <a:off x="435430" y="1764050"/>
            <a:ext cx="3243941" cy="486534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next hour values of load and renewable generation using the previous 24 hours* of system history.</a:t>
            </a:r>
          </a:p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1846E-2D1A-0446-87B3-2963CCBC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 Architecture for Hourly Microgrid Forecasting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07D63F-4162-ACB2-4214-DEDB1FE720DA}"/>
              </a:ext>
            </a:extLst>
          </p:cNvPr>
          <p:cNvSpPr/>
          <p:nvPr/>
        </p:nvSpPr>
        <p:spPr>
          <a:xfrm>
            <a:off x="3853544" y="1764051"/>
            <a:ext cx="3243941" cy="486534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b="1" dirty="0"/>
              <a:t>Weather inputs: </a:t>
            </a:r>
            <a:r>
              <a:rPr lang="en-US" dirty="0"/>
              <a:t>temperature ,humidity* wind speed, cloud cover, solar irradiance,</a:t>
            </a:r>
          </a:p>
          <a:p>
            <a:r>
              <a:rPr lang="en-US" b="1" dirty="0"/>
              <a:t>Historical power inputs: </a:t>
            </a:r>
            <a:r>
              <a:rPr lang="en-US" dirty="0"/>
              <a:t>residential load, commercial load, industrial load, critical load, solar generation, wind generation etc.</a:t>
            </a:r>
          </a:p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4853C7-329D-98C9-42C1-685E5179E2C4}"/>
              </a:ext>
            </a:extLst>
          </p:cNvPr>
          <p:cNvSpPr/>
          <p:nvPr/>
        </p:nvSpPr>
        <p:spPr>
          <a:xfrm>
            <a:off x="7271658" y="1764049"/>
            <a:ext cx="3703729" cy="486534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  <a:p>
            <a:r>
              <a:rPr lang="en-US" b="1" dirty="0"/>
              <a:t>Model outputs:</a:t>
            </a:r>
          </a:p>
          <a:p>
            <a:r>
              <a:rPr lang="en-US" dirty="0"/>
              <a:t>LSTM layer- learns sequential dependencies across the time window </a:t>
            </a:r>
          </a:p>
          <a:p>
            <a:r>
              <a:rPr lang="en-US" dirty="0"/>
              <a:t>Dense output layer- produces next hour multivariate forecast</a:t>
            </a:r>
          </a:p>
          <a:p>
            <a:r>
              <a:rPr lang="en-US" dirty="0"/>
              <a:t>Planned model parameters </a:t>
            </a:r>
          </a:p>
          <a:p>
            <a:r>
              <a:rPr lang="en-US" dirty="0"/>
              <a:t>Sequence window: 24 hours </a:t>
            </a:r>
          </a:p>
          <a:p>
            <a:r>
              <a:rPr lang="en-US" dirty="0"/>
              <a:t>CNN filters: 64</a:t>
            </a:r>
          </a:p>
          <a:p>
            <a:r>
              <a:rPr lang="en-US" dirty="0"/>
              <a:t>Kernel size: 3</a:t>
            </a:r>
          </a:p>
          <a:p>
            <a:r>
              <a:rPr lang="en-US" dirty="0"/>
              <a:t> LSTM hidden units: 64</a:t>
            </a:r>
          </a:p>
          <a:p>
            <a:r>
              <a:rPr lang="en-US" dirty="0"/>
              <a:t>LSTM layers: 1</a:t>
            </a:r>
          </a:p>
          <a:p>
            <a:r>
              <a:rPr lang="en-US" dirty="0"/>
              <a:t>Batch size: 32 </a:t>
            </a:r>
          </a:p>
          <a:p>
            <a:r>
              <a:rPr lang="en-US" dirty="0"/>
              <a:t>Epochs: 30</a:t>
            </a:r>
          </a:p>
          <a:p>
            <a:r>
              <a:rPr lang="en-US" dirty="0"/>
              <a:t> Learning rate: 0.001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570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0E19-74C4-FD69-DE5A-4E3BE86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2756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 Architecture for Hourly Microgrid Forecasting</a:t>
            </a:r>
            <a:endParaRPr lang="en-US" sz="3200" dirty="0"/>
          </a:p>
        </p:txBody>
      </p:sp>
      <p:sp>
        <p:nvSpPr>
          <p:cNvPr id="9" name="Text 48">
            <a:extLst>
              <a:ext uri="{FF2B5EF4-FFF2-40B4-BE49-F238E27FC236}">
                <a16:creationId xmlns:a16="http://schemas.microsoft.com/office/drawing/2014/main" id="{2C5ED6B5-263E-710F-9894-128F4463A62B}"/>
              </a:ext>
            </a:extLst>
          </p:cNvPr>
          <p:cNvSpPr/>
          <p:nvPr/>
        </p:nvSpPr>
        <p:spPr>
          <a:xfrm>
            <a:off x="620486" y="1249633"/>
            <a:ext cx="6522357" cy="317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7E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Realistic Weather Forcing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weather records from Kerala are decomposed into 24 hourly profiles using established meteorological patterns.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87E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Hour-Wise Sector Behavior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load sector follows distinct diurnal patterns — residential peaks in evening, commercial during working hours, industrial steady through daytime.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87E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Renewable Power Equations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generation follows irradiance-based bell curves; wind generation uses wind-speed dependent power curves with rated/storm thresholds.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87E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Feeder-Level Constraints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generated data respects IEEE 13-bus topology, voltage limits, and line capacity constraints through OpenDSS power flow verification.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A73C662-5A0D-69A0-941E-CC485B55A11E}"/>
              </a:ext>
            </a:extLst>
          </p:cNvPr>
          <p:cNvSpPr/>
          <p:nvPr/>
        </p:nvSpPr>
        <p:spPr>
          <a:xfrm>
            <a:off x="7932421" y="750672"/>
            <a:ext cx="3333447" cy="39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Weather Inputs </a:t>
            </a:r>
            <a:endParaRPr lang="en-US" sz="20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259891E-B5D4-2CFB-C797-B715557E7AAA}"/>
              </a:ext>
            </a:extLst>
          </p:cNvPr>
          <p:cNvGrpSpPr/>
          <p:nvPr/>
        </p:nvGrpSpPr>
        <p:grpSpPr>
          <a:xfrm>
            <a:off x="7932421" y="1169030"/>
            <a:ext cx="4102704" cy="976167"/>
            <a:chOff x="7402286" y="1492583"/>
            <a:chExt cx="4102704" cy="976167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F0109635-AD87-7919-3E45-19650533B25F}"/>
                </a:ext>
              </a:extLst>
            </p:cNvPr>
            <p:cNvSpPr/>
            <p:nvPr/>
          </p:nvSpPr>
          <p:spPr>
            <a:xfrm>
              <a:off x="7402286" y="1492583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CFD47921-0E87-209D-8D7C-A606515D8E7E}"/>
                </a:ext>
              </a:extLst>
            </p:cNvPr>
            <p:cNvSpPr/>
            <p:nvPr/>
          </p:nvSpPr>
          <p:spPr>
            <a:xfrm>
              <a:off x="7895893" y="1604145"/>
              <a:ext cx="192314" cy="334686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95250" y="0"/>
                  </a:moveTo>
                  <a:cubicBezTo>
                    <a:pt x="63698" y="0"/>
                    <a:pt x="38100" y="25598"/>
                    <a:pt x="38100" y="57150"/>
                  </a:cubicBezTo>
                  <a:lnTo>
                    <a:pt x="38100" y="155198"/>
                  </a:lnTo>
                  <a:cubicBezTo>
                    <a:pt x="20538" y="170855"/>
                    <a:pt x="9525" y="193715"/>
                    <a:pt x="9525" y="219075"/>
                  </a:cubicBezTo>
                  <a:cubicBezTo>
                    <a:pt x="9525" y="266402"/>
                    <a:pt x="47923" y="304800"/>
                    <a:pt x="95250" y="304800"/>
                  </a:cubicBezTo>
                  <a:cubicBezTo>
                    <a:pt x="142577" y="304800"/>
                    <a:pt x="180975" y="266402"/>
                    <a:pt x="180975" y="219075"/>
                  </a:cubicBezTo>
                  <a:cubicBezTo>
                    <a:pt x="180975" y="193715"/>
                    <a:pt x="169962" y="170855"/>
                    <a:pt x="152400" y="155198"/>
                  </a:cubicBezTo>
                  <a:lnTo>
                    <a:pt x="152400" y="57150"/>
                  </a:lnTo>
                  <a:cubicBezTo>
                    <a:pt x="152400" y="25598"/>
                    <a:pt x="126802" y="0"/>
                    <a:pt x="95250" y="0"/>
                  </a:cubicBezTo>
                  <a:close/>
                  <a:moveTo>
                    <a:pt x="133350" y="219075"/>
                  </a:moveTo>
                  <a:cubicBezTo>
                    <a:pt x="133350" y="240090"/>
                    <a:pt x="116265" y="257175"/>
                    <a:pt x="95250" y="257175"/>
                  </a:cubicBezTo>
                  <a:cubicBezTo>
                    <a:pt x="74235" y="257175"/>
                    <a:pt x="57150" y="240090"/>
                    <a:pt x="57150" y="219075"/>
                  </a:cubicBezTo>
                  <a:cubicBezTo>
                    <a:pt x="57150" y="203061"/>
                    <a:pt x="66973" y="189369"/>
                    <a:pt x="80962" y="183773"/>
                  </a:cubicBezTo>
                  <a:lnTo>
                    <a:pt x="80962" y="128588"/>
                  </a:lnTo>
                  <a:cubicBezTo>
                    <a:pt x="80962" y="120670"/>
                    <a:pt x="87332" y="114300"/>
                    <a:pt x="95250" y="114300"/>
                  </a:cubicBezTo>
                  <a:cubicBezTo>
                    <a:pt x="103168" y="114300"/>
                    <a:pt x="109537" y="120670"/>
                    <a:pt x="109537" y="128588"/>
                  </a:cubicBezTo>
                  <a:lnTo>
                    <a:pt x="109537" y="183773"/>
                  </a:lnTo>
                  <a:cubicBezTo>
                    <a:pt x="123527" y="189428"/>
                    <a:pt x="133350" y="203121"/>
                    <a:pt x="133350" y="219075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C692759D-DE6B-1B8A-B86E-60628A069D19}"/>
                </a:ext>
              </a:extLst>
            </p:cNvPr>
            <p:cNvSpPr/>
            <p:nvPr/>
          </p:nvSpPr>
          <p:spPr>
            <a:xfrm>
              <a:off x="7402286" y="1994612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Temp</a:t>
              </a:r>
              <a:endParaRPr lang="en-US" sz="1600" dirty="0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665D2EB6-9E54-D148-48DF-8F94911DD678}"/>
                </a:ext>
              </a:extLst>
            </p:cNvPr>
            <p:cNvSpPr/>
            <p:nvPr/>
          </p:nvSpPr>
          <p:spPr>
            <a:xfrm>
              <a:off x="8812591" y="1492583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251B2EE8-8346-4D14-8721-2F24F4CBBAB2}"/>
                </a:ext>
              </a:extLst>
            </p:cNvPr>
            <p:cNvSpPr/>
            <p:nvPr/>
          </p:nvSpPr>
          <p:spPr>
            <a:xfrm>
              <a:off x="9286966" y="1604145"/>
              <a:ext cx="230777" cy="334686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14300" y="304800"/>
                  </a:moveTo>
                  <a:cubicBezTo>
                    <a:pt x="51197" y="304800"/>
                    <a:pt x="0" y="253603"/>
                    <a:pt x="0" y="190500"/>
                  </a:cubicBezTo>
                  <a:cubicBezTo>
                    <a:pt x="0" y="136208"/>
                    <a:pt x="77510" y="27325"/>
                    <a:pt x="99179" y="-2084"/>
                  </a:cubicBezTo>
                  <a:cubicBezTo>
                    <a:pt x="102691" y="-6846"/>
                    <a:pt x="108228" y="-9525"/>
                    <a:pt x="114181" y="-9525"/>
                  </a:cubicBezTo>
                  <a:lnTo>
                    <a:pt x="114419" y="-9525"/>
                  </a:lnTo>
                  <a:cubicBezTo>
                    <a:pt x="120372" y="-9525"/>
                    <a:pt x="125909" y="-6846"/>
                    <a:pt x="129421" y="-2084"/>
                  </a:cubicBezTo>
                  <a:cubicBezTo>
                    <a:pt x="151090" y="27325"/>
                    <a:pt x="228600" y="136208"/>
                    <a:pt x="228600" y="190500"/>
                  </a:cubicBezTo>
                  <a:cubicBezTo>
                    <a:pt x="228600" y="253603"/>
                    <a:pt x="177403" y="304800"/>
                    <a:pt x="114300" y="304800"/>
                  </a:cubicBezTo>
                  <a:close/>
                  <a:moveTo>
                    <a:pt x="66675" y="185738"/>
                  </a:moveTo>
                  <a:cubicBezTo>
                    <a:pt x="66675" y="177820"/>
                    <a:pt x="60305" y="171450"/>
                    <a:pt x="52388" y="171450"/>
                  </a:cubicBezTo>
                  <a:cubicBezTo>
                    <a:pt x="44470" y="171450"/>
                    <a:pt x="38100" y="177820"/>
                    <a:pt x="38100" y="185738"/>
                  </a:cubicBezTo>
                  <a:cubicBezTo>
                    <a:pt x="38100" y="230445"/>
                    <a:pt x="74355" y="266700"/>
                    <a:pt x="119062" y="266700"/>
                  </a:cubicBezTo>
                  <a:cubicBezTo>
                    <a:pt x="126980" y="266700"/>
                    <a:pt x="133350" y="260330"/>
                    <a:pt x="133350" y="252413"/>
                  </a:cubicBezTo>
                  <a:cubicBezTo>
                    <a:pt x="133350" y="244495"/>
                    <a:pt x="126980" y="238125"/>
                    <a:pt x="119062" y="238125"/>
                  </a:cubicBezTo>
                  <a:cubicBezTo>
                    <a:pt x="90130" y="238125"/>
                    <a:pt x="66675" y="214670"/>
                    <a:pt x="66675" y="185738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8A581AD3-16D9-09CC-DB21-949E5857234B}"/>
                </a:ext>
              </a:extLst>
            </p:cNvPr>
            <p:cNvSpPr/>
            <p:nvPr/>
          </p:nvSpPr>
          <p:spPr>
            <a:xfrm>
              <a:off x="8812591" y="1994612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Humidity</a:t>
              </a:r>
              <a:endParaRPr lang="en-US" sz="16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C2F40ADB-B058-7E98-D77D-55DE9BFEDF7C}"/>
                </a:ext>
              </a:extLst>
            </p:cNvPr>
            <p:cNvSpPr/>
            <p:nvPr/>
          </p:nvSpPr>
          <p:spPr>
            <a:xfrm>
              <a:off x="10222895" y="1492583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EAF0FE46-DF84-A301-C24A-B2255B44CDB2}"/>
                </a:ext>
              </a:extLst>
            </p:cNvPr>
            <p:cNvSpPr/>
            <p:nvPr/>
          </p:nvSpPr>
          <p:spPr>
            <a:xfrm>
              <a:off x="10658808" y="1604145"/>
              <a:ext cx="307703" cy="334686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71450" y="19050"/>
                  </a:moveTo>
                  <a:cubicBezTo>
                    <a:pt x="171450" y="29587"/>
                    <a:pt x="179963" y="38100"/>
                    <a:pt x="190500" y="38100"/>
                  </a:cubicBezTo>
                  <a:lnTo>
                    <a:pt x="214313" y="38100"/>
                  </a:lnTo>
                  <a:cubicBezTo>
                    <a:pt x="222230" y="38100"/>
                    <a:pt x="228600" y="44470"/>
                    <a:pt x="228600" y="52388"/>
                  </a:cubicBezTo>
                  <a:cubicBezTo>
                    <a:pt x="228600" y="60305"/>
                    <a:pt x="222230" y="66675"/>
                    <a:pt x="214313" y="66675"/>
                  </a:cubicBezTo>
                  <a:lnTo>
                    <a:pt x="19050" y="66675"/>
                  </a:lnTo>
                  <a:cubicBezTo>
                    <a:pt x="8513" y="66675"/>
                    <a:pt x="0" y="75188"/>
                    <a:pt x="0" y="85725"/>
                  </a:cubicBezTo>
                  <a:cubicBezTo>
                    <a:pt x="0" y="96262"/>
                    <a:pt x="8513" y="104775"/>
                    <a:pt x="19050" y="104775"/>
                  </a:cubicBezTo>
                  <a:lnTo>
                    <a:pt x="214313" y="104775"/>
                  </a:lnTo>
                  <a:cubicBezTo>
                    <a:pt x="243245" y="104775"/>
                    <a:pt x="266700" y="81320"/>
                    <a:pt x="266700" y="52388"/>
                  </a:cubicBezTo>
                  <a:cubicBezTo>
                    <a:pt x="266700" y="23455"/>
                    <a:pt x="243245" y="0"/>
                    <a:pt x="214313" y="0"/>
                  </a:cubicBezTo>
                  <a:lnTo>
                    <a:pt x="190500" y="0"/>
                  </a:lnTo>
                  <a:cubicBezTo>
                    <a:pt x="179963" y="0"/>
                    <a:pt x="171450" y="8513"/>
                    <a:pt x="171450" y="19050"/>
                  </a:cubicBezTo>
                  <a:close/>
                  <a:moveTo>
                    <a:pt x="209550" y="228600"/>
                  </a:moveTo>
                  <a:cubicBezTo>
                    <a:pt x="209550" y="239137"/>
                    <a:pt x="218063" y="247650"/>
                    <a:pt x="228600" y="247650"/>
                  </a:cubicBezTo>
                  <a:lnTo>
                    <a:pt x="247650" y="247650"/>
                  </a:lnTo>
                  <a:cubicBezTo>
                    <a:pt x="279202" y="247650"/>
                    <a:pt x="304800" y="222052"/>
                    <a:pt x="304800" y="190500"/>
                  </a:cubicBezTo>
                  <a:cubicBezTo>
                    <a:pt x="304800" y="158948"/>
                    <a:pt x="279202" y="133350"/>
                    <a:pt x="247650" y="133350"/>
                  </a:cubicBezTo>
                  <a:lnTo>
                    <a:pt x="19050" y="133350"/>
                  </a:lnTo>
                  <a:cubicBezTo>
                    <a:pt x="8513" y="133350"/>
                    <a:pt x="0" y="141863"/>
                    <a:pt x="0" y="152400"/>
                  </a:cubicBezTo>
                  <a:cubicBezTo>
                    <a:pt x="0" y="162937"/>
                    <a:pt x="8513" y="171450"/>
                    <a:pt x="19050" y="171450"/>
                  </a:cubicBezTo>
                  <a:lnTo>
                    <a:pt x="247650" y="171450"/>
                  </a:lnTo>
                  <a:cubicBezTo>
                    <a:pt x="258187" y="171450"/>
                    <a:pt x="266700" y="179963"/>
                    <a:pt x="266700" y="190500"/>
                  </a:cubicBezTo>
                  <a:cubicBezTo>
                    <a:pt x="266700" y="201037"/>
                    <a:pt x="258187" y="209550"/>
                    <a:pt x="247650" y="209550"/>
                  </a:cubicBezTo>
                  <a:lnTo>
                    <a:pt x="228600" y="209550"/>
                  </a:lnTo>
                  <a:cubicBezTo>
                    <a:pt x="218063" y="209550"/>
                    <a:pt x="209550" y="218063"/>
                    <a:pt x="209550" y="228600"/>
                  </a:cubicBezTo>
                  <a:close/>
                  <a:moveTo>
                    <a:pt x="76200" y="304800"/>
                  </a:moveTo>
                  <a:lnTo>
                    <a:pt x="100013" y="304800"/>
                  </a:lnTo>
                  <a:cubicBezTo>
                    <a:pt x="128945" y="304800"/>
                    <a:pt x="152400" y="281345"/>
                    <a:pt x="152400" y="252413"/>
                  </a:cubicBezTo>
                  <a:cubicBezTo>
                    <a:pt x="152400" y="223480"/>
                    <a:pt x="128945" y="200025"/>
                    <a:pt x="100013" y="200025"/>
                  </a:cubicBezTo>
                  <a:lnTo>
                    <a:pt x="19050" y="200025"/>
                  </a:lnTo>
                  <a:cubicBezTo>
                    <a:pt x="8513" y="200025"/>
                    <a:pt x="0" y="208538"/>
                    <a:pt x="0" y="219075"/>
                  </a:cubicBezTo>
                  <a:cubicBezTo>
                    <a:pt x="0" y="229612"/>
                    <a:pt x="8513" y="238125"/>
                    <a:pt x="19050" y="238125"/>
                  </a:cubicBezTo>
                  <a:lnTo>
                    <a:pt x="100013" y="238125"/>
                  </a:lnTo>
                  <a:cubicBezTo>
                    <a:pt x="107930" y="238125"/>
                    <a:pt x="114300" y="244495"/>
                    <a:pt x="114300" y="252413"/>
                  </a:cubicBezTo>
                  <a:cubicBezTo>
                    <a:pt x="114300" y="260330"/>
                    <a:pt x="107930" y="266700"/>
                    <a:pt x="100013" y="266700"/>
                  </a:cubicBezTo>
                  <a:lnTo>
                    <a:pt x="76200" y="266700"/>
                  </a:lnTo>
                  <a:cubicBezTo>
                    <a:pt x="65663" y="266700"/>
                    <a:pt x="57150" y="275213"/>
                    <a:pt x="57150" y="285750"/>
                  </a:cubicBezTo>
                  <a:cubicBezTo>
                    <a:pt x="57150" y="296287"/>
                    <a:pt x="65663" y="304800"/>
                    <a:pt x="76200" y="304800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262C5B7F-E871-4E0B-7C67-4BFC97DA2299}"/>
                </a:ext>
              </a:extLst>
            </p:cNvPr>
            <p:cNvSpPr/>
            <p:nvPr/>
          </p:nvSpPr>
          <p:spPr>
            <a:xfrm>
              <a:off x="10222895" y="1994612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Wind Spd</a:t>
              </a:r>
              <a:endParaRPr lang="en-US" sz="16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7A4FB4-4A72-95F7-E2EE-E55BC06DE0E9}"/>
              </a:ext>
            </a:extLst>
          </p:cNvPr>
          <p:cNvGrpSpPr/>
          <p:nvPr/>
        </p:nvGrpSpPr>
        <p:grpSpPr>
          <a:xfrm>
            <a:off x="9331839" y="2235841"/>
            <a:ext cx="2692400" cy="976167"/>
            <a:chOff x="11633200" y="1492583"/>
            <a:chExt cx="2692400" cy="976167"/>
          </a:xfrm>
        </p:grpSpPr>
        <p:sp>
          <p:nvSpPr>
            <p:cNvPr id="22" name="Shape 17">
              <a:extLst>
                <a:ext uri="{FF2B5EF4-FFF2-40B4-BE49-F238E27FC236}">
                  <a16:creationId xmlns:a16="http://schemas.microsoft.com/office/drawing/2014/main" id="{C322E651-B0CE-2A80-E703-3D2AEB92C14E}"/>
                </a:ext>
              </a:extLst>
            </p:cNvPr>
            <p:cNvSpPr/>
            <p:nvPr/>
          </p:nvSpPr>
          <p:spPr>
            <a:xfrm>
              <a:off x="11633200" y="1492583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8">
              <a:extLst>
                <a:ext uri="{FF2B5EF4-FFF2-40B4-BE49-F238E27FC236}">
                  <a16:creationId xmlns:a16="http://schemas.microsoft.com/office/drawing/2014/main" id="{ABC04309-4604-6792-8498-42648286F3C1}"/>
                </a:ext>
              </a:extLst>
            </p:cNvPr>
            <p:cNvSpPr/>
            <p:nvPr/>
          </p:nvSpPr>
          <p:spPr>
            <a:xfrm>
              <a:off x="12049881" y="1604145"/>
              <a:ext cx="346166" cy="334686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200025"/>
                  </a:moveTo>
                  <a:cubicBezTo>
                    <a:pt x="0" y="247352"/>
                    <a:pt x="38398" y="285750"/>
                    <a:pt x="85725" y="285750"/>
                  </a:cubicBezTo>
                  <a:lnTo>
                    <a:pt x="266700" y="285750"/>
                  </a:lnTo>
                  <a:cubicBezTo>
                    <a:pt x="308789" y="285750"/>
                    <a:pt x="342900" y="251639"/>
                    <a:pt x="342900" y="209550"/>
                  </a:cubicBezTo>
                  <a:cubicBezTo>
                    <a:pt x="342900" y="178832"/>
                    <a:pt x="324743" y="152340"/>
                    <a:pt x="298549" y="140315"/>
                  </a:cubicBezTo>
                  <a:cubicBezTo>
                    <a:pt x="302538" y="132517"/>
                    <a:pt x="304800" y="123646"/>
                    <a:pt x="304800" y="114300"/>
                  </a:cubicBezTo>
                  <a:cubicBezTo>
                    <a:pt x="304800" y="82748"/>
                    <a:pt x="279202" y="57150"/>
                    <a:pt x="247650" y="57150"/>
                  </a:cubicBezTo>
                  <a:cubicBezTo>
                    <a:pt x="237113" y="57150"/>
                    <a:pt x="227290" y="60007"/>
                    <a:pt x="218837" y="64949"/>
                  </a:cubicBezTo>
                  <a:cubicBezTo>
                    <a:pt x="204490" y="37683"/>
                    <a:pt x="175855" y="19050"/>
                    <a:pt x="142875" y="19050"/>
                  </a:cubicBezTo>
                  <a:cubicBezTo>
                    <a:pt x="95548" y="19050"/>
                    <a:pt x="57150" y="57448"/>
                    <a:pt x="57150" y="104775"/>
                  </a:cubicBezTo>
                  <a:cubicBezTo>
                    <a:pt x="57150" y="109537"/>
                    <a:pt x="57567" y="114240"/>
                    <a:pt x="58281" y="118765"/>
                  </a:cubicBezTo>
                  <a:cubicBezTo>
                    <a:pt x="24408" y="130195"/>
                    <a:pt x="0" y="162282"/>
                    <a:pt x="0" y="200025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9771D8AE-1B1B-A02D-C522-89F7B10A3AFE}"/>
                </a:ext>
              </a:extLst>
            </p:cNvPr>
            <p:cNvSpPr/>
            <p:nvPr/>
          </p:nvSpPr>
          <p:spPr>
            <a:xfrm>
              <a:off x="11633200" y="1994612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Cloud</a:t>
              </a:r>
              <a:endParaRPr lang="en-US" sz="1600" dirty="0"/>
            </a:p>
          </p:txBody>
        </p:sp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BE48EEDF-98C1-E910-9641-45227FB4CC41}"/>
                </a:ext>
              </a:extLst>
            </p:cNvPr>
            <p:cNvSpPr/>
            <p:nvPr/>
          </p:nvSpPr>
          <p:spPr>
            <a:xfrm>
              <a:off x="13043505" y="1492583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1">
              <a:extLst>
                <a:ext uri="{FF2B5EF4-FFF2-40B4-BE49-F238E27FC236}">
                  <a16:creationId xmlns:a16="http://schemas.microsoft.com/office/drawing/2014/main" id="{340B84F1-9F3F-9E06-6688-DC7ACF3566F8}"/>
                </a:ext>
              </a:extLst>
            </p:cNvPr>
            <p:cNvSpPr/>
            <p:nvPr/>
          </p:nvSpPr>
          <p:spPr>
            <a:xfrm>
              <a:off x="13460186" y="1604145"/>
              <a:ext cx="346166" cy="334686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106085" y="-6013"/>
                  </a:moveTo>
                  <a:cubicBezTo>
                    <a:pt x="110490" y="-7858"/>
                    <a:pt x="115491" y="-7322"/>
                    <a:pt x="119479" y="-4703"/>
                  </a:cubicBezTo>
                  <a:lnTo>
                    <a:pt x="171748" y="29944"/>
                  </a:lnTo>
                  <a:lnTo>
                    <a:pt x="224016" y="-4703"/>
                  </a:lnTo>
                  <a:cubicBezTo>
                    <a:pt x="228005" y="-7322"/>
                    <a:pt x="233005" y="-7799"/>
                    <a:pt x="237411" y="-6013"/>
                  </a:cubicBezTo>
                  <a:cubicBezTo>
                    <a:pt x="241816" y="-4227"/>
                    <a:pt x="244912" y="-298"/>
                    <a:pt x="245864" y="4346"/>
                  </a:cubicBezTo>
                  <a:lnTo>
                    <a:pt x="258306" y="65782"/>
                  </a:lnTo>
                  <a:lnTo>
                    <a:pt x="319742" y="78224"/>
                  </a:lnTo>
                  <a:cubicBezTo>
                    <a:pt x="324386" y="79177"/>
                    <a:pt x="328315" y="82391"/>
                    <a:pt x="330101" y="86737"/>
                  </a:cubicBezTo>
                  <a:cubicBezTo>
                    <a:pt x="331887" y="91083"/>
                    <a:pt x="331410" y="96143"/>
                    <a:pt x="328791" y="100132"/>
                  </a:cubicBezTo>
                  <a:lnTo>
                    <a:pt x="294144" y="152400"/>
                  </a:lnTo>
                  <a:lnTo>
                    <a:pt x="328791" y="204668"/>
                  </a:lnTo>
                  <a:cubicBezTo>
                    <a:pt x="331410" y="208657"/>
                    <a:pt x="331887" y="213658"/>
                    <a:pt x="330101" y="218063"/>
                  </a:cubicBezTo>
                  <a:cubicBezTo>
                    <a:pt x="328315" y="222468"/>
                    <a:pt x="324386" y="225683"/>
                    <a:pt x="319742" y="226576"/>
                  </a:cubicBezTo>
                  <a:lnTo>
                    <a:pt x="258247" y="238958"/>
                  </a:lnTo>
                  <a:lnTo>
                    <a:pt x="245864" y="300454"/>
                  </a:lnTo>
                  <a:cubicBezTo>
                    <a:pt x="244912" y="305098"/>
                    <a:pt x="241697" y="309027"/>
                    <a:pt x="237351" y="310813"/>
                  </a:cubicBezTo>
                  <a:cubicBezTo>
                    <a:pt x="233005" y="312599"/>
                    <a:pt x="227945" y="312122"/>
                    <a:pt x="223957" y="309503"/>
                  </a:cubicBezTo>
                  <a:lnTo>
                    <a:pt x="171688" y="274856"/>
                  </a:lnTo>
                  <a:lnTo>
                    <a:pt x="119420" y="309503"/>
                  </a:lnTo>
                  <a:cubicBezTo>
                    <a:pt x="115431" y="312122"/>
                    <a:pt x="110430" y="312599"/>
                    <a:pt x="106025" y="310813"/>
                  </a:cubicBezTo>
                  <a:cubicBezTo>
                    <a:pt x="101620" y="309027"/>
                    <a:pt x="98405" y="305098"/>
                    <a:pt x="97512" y="300454"/>
                  </a:cubicBezTo>
                  <a:lnTo>
                    <a:pt x="85130" y="238958"/>
                  </a:lnTo>
                  <a:lnTo>
                    <a:pt x="23634" y="226516"/>
                  </a:lnTo>
                  <a:cubicBezTo>
                    <a:pt x="18990" y="225564"/>
                    <a:pt x="15061" y="222349"/>
                    <a:pt x="13275" y="218003"/>
                  </a:cubicBezTo>
                  <a:cubicBezTo>
                    <a:pt x="11490" y="213658"/>
                    <a:pt x="11966" y="208597"/>
                    <a:pt x="14585" y="204609"/>
                  </a:cubicBezTo>
                  <a:lnTo>
                    <a:pt x="49232" y="152400"/>
                  </a:lnTo>
                  <a:lnTo>
                    <a:pt x="14585" y="100132"/>
                  </a:lnTo>
                  <a:cubicBezTo>
                    <a:pt x="11966" y="96143"/>
                    <a:pt x="11490" y="91142"/>
                    <a:pt x="13275" y="86737"/>
                  </a:cubicBezTo>
                  <a:cubicBezTo>
                    <a:pt x="15061" y="82332"/>
                    <a:pt x="18990" y="79117"/>
                    <a:pt x="23634" y="78224"/>
                  </a:cubicBezTo>
                  <a:lnTo>
                    <a:pt x="85130" y="65842"/>
                  </a:lnTo>
                  <a:lnTo>
                    <a:pt x="97572" y="4346"/>
                  </a:lnTo>
                  <a:cubicBezTo>
                    <a:pt x="98524" y="-298"/>
                    <a:pt x="101739" y="-4227"/>
                    <a:pt x="106085" y="-6013"/>
                  </a:cubicBezTo>
                  <a:close/>
                  <a:moveTo>
                    <a:pt x="123587" y="152400"/>
                  </a:moveTo>
                  <a:cubicBezTo>
                    <a:pt x="123587" y="135300"/>
                    <a:pt x="132710" y="119499"/>
                    <a:pt x="147518" y="110949"/>
                  </a:cubicBezTo>
                  <a:cubicBezTo>
                    <a:pt x="162327" y="102399"/>
                    <a:pt x="180573" y="102399"/>
                    <a:pt x="195382" y="110949"/>
                  </a:cubicBezTo>
                  <a:cubicBezTo>
                    <a:pt x="210190" y="119499"/>
                    <a:pt x="219313" y="135300"/>
                    <a:pt x="219313" y="152400"/>
                  </a:cubicBezTo>
                  <a:cubicBezTo>
                    <a:pt x="219313" y="178816"/>
                    <a:pt x="197866" y="200263"/>
                    <a:pt x="171450" y="200263"/>
                  </a:cubicBezTo>
                  <a:cubicBezTo>
                    <a:pt x="145034" y="200263"/>
                    <a:pt x="123587" y="178816"/>
                    <a:pt x="123587" y="152400"/>
                  </a:cubicBezTo>
                  <a:close/>
                  <a:moveTo>
                    <a:pt x="247888" y="152400"/>
                  </a:moveTo>
                  <a:cubicBezTo>
                    <a:pt x="247888" y="110213"/>
                    <a:pt x="213637" y="75962"/>
                    <a:pt x="171450" y="75962"/>
                  </a:cubicBezTo>
                  <a:cubicBezTo>
                    <a:pt x="129263" y="75962"/>
                    <a:pt x="95012" y="110213"/>
                    <a:pt x="95012" y="152400"/>
                  </a:cubicBezTo>
                  <a:cubicBezTo>
                    <a:pt x="95012" y="179709"/>
                    <a:pt x="109581" y="204943"/>
                    <a:pt x="133231" y="218597"/>
                  </a:cubicBezTo>
                  <a:cubicBezTo>
                    <a:pt x="156881" y="232252"/>
                    <a:pt x="186019" y="232252"/>
                    <a:pt x="209669" y="218597"/>
                  </a:cubicBezTo>
                  <a:cubicBezTo>
                    <a:pt x="233319" y="204943"/>
                    <a:pt x="247888" y="179709"/>
                    <a:pt x="247888" y="152400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4C83D194-E384-2437-6366-73B16023E27B}"/>
                </a:ext>
              </a:extLst>
            </p:cNvPr>
            <p:cNvSpPr/>
            <p:nvPr/>
          </p:nvSpPr>
          <p:spPr>
            <a:xfrm>
              <a:off x="13043505" y="1994612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Solar Irradiation</a:t>
              </a:r>
              <a:endParaRPr lang="en-US" sz="16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1C2816-8BEF-0128-A2F0-312C093B233C}"/>
              </a:ext>
            </a:extLst>
          </p:cNvPr>
          <p:cNvGrpSpPr/>
          <p:nvPr/>
        </p:nvGrpSpPr>
        <p:grpSpPr>
          <a:xfrm>
            <a:off x="7113814" y="3039666"/>
            <a:ext cx="4230914" cy="3790768"/>
            <a:chOff x="7402286" y="2608203"/>
            <a:chExt cx="4230914" cy="3790768"/>
          </a:xfrm>
        </p:grpSpPr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78DD39BD-2F0C-9C39-8B0F-1830E4597334}"/>
                </a:ext>
              </a:extLst>
            </p:cNvPr>
            <p:cNvSpPr/>
            <p:nvPr/>
          </p:nvSpPr>
          <p:spPr>
            <a:xfrm>
              <a:off x="7402286" y="2608203"/>
              <a:ext cx="3846286" cy="3904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b="1" dirty="0">
                  <a:solidFill>
                    <a:srgbClr val="1B4D4D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Generated Hourly Outputs </a:t>
              </a:r>
              <a:endParaRPr lang="en-US" sz="2000" dirty="0"/>
            </a:p>
          </p:txBody>
        </p:sp>
        <p:sp>
          <p:nvSpPr>
            <p:cNvPr id="29" name="Shape 24">
              <a:extLst>
                <a:ext uri="{FF2B5EF4-FFF2-40B4-BE49-F238E27FC236}">
                  <a16:creationId xmlns:a16="http://schemas.microsoft.com/office/drawing/2014/main" id="{8D2CE004-508F-7B59-93B2-990EC92A4915}"/>
                </a:ext>
              </a:extLst>
            </p:cNvPr>
            <p:cNvSpPr/>
            <p:nvPr/>
          </p:nvSpPr>
          <p:spPr>
            <a:xfrm>
              <a:off x="7402286" y="3096286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5368436A-5BFB-6AC2-894B-A69F4844FE5C}"/>
                </a:ext>
              </a:extLst>
            </p:cNvPr>
            <p:cNvSpPr/>
            <p:nvPr/>
          </p:nvSpPr>
          <p:spPr>
            <a:xfrm>
              <a:off x="7838198" y="3207848"/>
              <a:ext cx="307703" cy="334686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65378" y="5120"/>
                  </a:moveTo>
                  <a:cubicBezTo>
                    <a:pt x="158055" y="-1667"/>
                    <a:pt x="146745" y="-1667"/>
                    <a:pt x="139482" y="5120"/>
                  </a:cubicBezTo>
                  <a:lnTo>
                    <a:pt x="6132" y="128945"/>
                  </a:lnTo>
                  <a:cubicBezTo>
                    <a:pt x="417" y="134303"/>
                    <a:pt x="-1488" y="142577"/>
                    <a:pt x="1369" y="149840"/>
                  </a:cubicBezTo>
                  <a:cubicBezTo>
                    <a:pt x="4227" y="157103"/>
                    <a:pt x="11192" y="161925"/>
                    <a:pt x="19050" y="161925"/>
                  </a:cubicBezTo>
                  <a:lnTo>
                    <a:pt x="28575" y="161925"/>
                  </a:lnTo>
                  <a:lnTo>
                    <a:pt x="28575" y="266700"/>
                  </a:lnTo>
                  <a:cubicBezTo>
                    <a:pt x="28575" y="287715"/>
                    <a:pt x="45660" y="304800"/>
                    <a:pt x="66675" y="304800"/>
                  </a:cubicBezTo>
                  <a:lnTo>
                    <a:pt x="238125" y="304800"/>
                  </a:lnTo>
                  <a:cubicBezTo>
                    <a:pt x="259140" y="304800"/>
                    <a:pt x="276225" y="287715"/>
                    <a:pt x="276225" y="266700"/>
                  </a:cubicBezTo>
                  <a:lnTo>
                    <a:pt x="276225" y="161925"/>
                  </a:lnTo>
                  <a:lnTo>
                    <a:pt x="285750" y="161925"/>
                  </a:lnTo>
                  <a:cubicBezTo>
                    <a:pt x="293608" y="161925"/>
                    <a:pt x="300633" y="157103"/>
                    <a:pt x="303490" y="149840"/>
                  </a:cubicBezTo>
                  <a:cubicBezTo>
                    <a:pt x="306348" y="142577"/>
                    <a:pt x="304443" y="134243"/>
                    <a:pt x="298728" y="128945"/>
                  </a:cubicBezTo>
                  <a:lnTo>
                    <a:pt x="165378" y="5120"/>
                  </a:lnTo>
                  <a:close/>
                  <a:moveTo>
                    <a:pt x="142875" y="190500"/>
                  </a:moveTo>
                  <a:lnTo>
                    <a:pt x="161925" y="190500"/>
                  </a:lnTo>
                  <a:cubicBezTo>
                    <a:pt x="177701" y="190500"/>
                    <a:pt x="190500" y="203299"/>
                    <a:pt x="190500" y="219075"/>
                  </a:cubicBezTo>
                  <a:lnTo>
                    <a:pt x="190500" y="276225"/>
                  </a:lnTo>
                  <a:lnTo>
                    <a:pt x="114300" y="276225"/>
                  </a:lnTo>
                  <a:lnTo>
                    <a:pt x="114300" y="219075"/>
                  </a:lnTo>
                  <a:cubicBezTo>
                    <a:pt x="114300" y="203299"/>
                    <a:pt x="127099" y="190500"/>
                    <a:pt x="142875" y="190500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851D6E6D-A9BD-7733-DDA8-413057D585AC}"/>
                </a:ext>
              </a:extLst>
            </p:cNvPr>
            <p:cNvSpPr/>
            <p:nvPr/>
          </p:nvSpPr>
          <p:spPr>
            <a:xfrm>
              <a:off x="7402286" y="3598315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Residential Load</a:t>
              </a:r>
              <a:endParaRPr lang="en-US" sz="1600" dirty="0"/>
            </a:p>
          </p:txBody>
        </p:sp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D226CD64-F8F4-4A77-DC1E-61309D8D293D}"/>
                </a:ext>
              </a:extLst>
            </p:cNvPr>
            <p:cNvSpPr/>
            <p:nvPr/>
          </p:nvSpPr>
          <p:spPr>
            <a:xfrm>
              <a:off x="8812591" y="3096286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28">
              <a:extLst>
                <a:ext uri="{FF2B5EF4-FFF2-40B4-BE49-F238E27FC236}">
                  <a16:creationId xmlns:a16="http://schemas.microsoft.com/office/drawing/2014/main" id="{92086EE4-E8AE-F650-6FA1-491D53F5C321}"/>
                </a:ext>
              </a:extLst>
            </p:cNvPr>
            <p:cNvSpPr/>
            <p:nvPr/>
          </p:nvSpPr>
          <p:spPr>
            <a:xfrm>
              <a:off x="9286966" y="3207848"/>
              <a:ext cx="230777" cy="334686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38100" y="0"/>
                  </a:moveTo>
                  <a:cubicBezTo>
                    <a:pt x="17085" y="0"/>
                    <a:pt x="0" y="17085"/>
                    <a:pt x="0" y="38100"/>
                  </a:cubicBezTo>
                  <a:lnTo>
                    <a:pt x="0" y="266700"/>
                  </a:lnTo>
                  <a:cubicBezTo>
                    <a:pt x="0" y="287715"/>
                    <a:pt x="17085" y="304800"/>
                    <a:pt x="38100" y="304800"/>
                  </a:cubicBezTo>
                  <a:lnTo>
                    <a:pt x="190500" y="304800"/>
                  </a:lnTo>
                  <a:cubicBezTo>
                    <a:pt x="211515" y="304800"/>
                    <a:pt x="228600" y="287715"/>
                    <a:pt x="228600" y="266700"/>
                  </a:cubicBezTo>
                  <a:lnTo>
                    <a:pt x="228600" y="38100"/>
                  </a:lnTo>
                  <a:cubicBezTo>
                    <a:pt x="228600" y="17085"/>
                    <a:pt x="211515" y="0"/>
                    <a:pt x="190500" y="0"/>
                  </a:cubicBezTo>
                  <a:lnTo>
                    <a:pt x="38100" y="0"/>
                  </a:lnTo>
                  <a:close/>
                  <a:moveTo>
                    <a:pt x="104775" y="209550"/>
                  </a:moveTo>
                  <a:lnTo>
                    <a:pt x="123825" y="209550"/>
                  </a:lnTo>
                  <a:cubicBezTo>
                    <a:pt x="134362" y="209550"/>
                    <a:pt x="142875" y="218063"/>
                    <a:pt x="142875" y="228600"/>
                  </a:cubicBezTo>
                  <a:lnTo>
                    <a:pt x="142875" y="276225"/>
                  </a:lnTo>
                  <a:lnTo>
                    <a:pt x="85725" y="276225"/>
                  </a:lnTo>
                  <a:lnTo>
                    <a:pt x="85725" y="228600"/>
                  </a:lnTo>
                  <a:cubicBezTo>
                    <a:pt x="85725" y="218063"/>
                    <a:pt x="94238" y="209550"/>
                    <a:pt x="104775" y="209550"/>
                  </a:cubicBezTo>
                  <a:close/>
                  <a:moveTo>
                    <a:pt x="57150" y="66675"/>
                  </a:moveTo>
                  <a:cubicBezTo>
                    <a:pt x="57150" y="61436"/>
                    <a:pt x="61436" y="57150"/>
                    <a:pt x="66675" y="57150"/>
                  </a:cubicBezTo>
                  <a:lnTo>
                    <a:pt x="85725" y="57150"/>
                  </a:lnTo>
                  <a:cubicBezTo>
                    <a:pt x="90964" y="57150"/>
                    <a:pt x="95250" y="61436"/>
                    <a:pt x="95250" y="66675"/>
                  </a:cubicBezTo>
                  <a:lnTo>
                    <a:pt x="95250" y="85725"/>
                  </a:lnTo>
                  <a:cubicBezTo>
                    <a:pt x="95250" y="90964"/>
                    <a:pt x="90964" y="95250"/>
                    <a:pt x="85725" y="95250"/>
                  </a:cubicBezTo>
                  <a:lnTo>
                    <a:pt x="66675" y="95250"/>
                  </a:lnTo>
                  <a:cubicBezTo>
                    <a:pt x="61436" y="95250"/>
                    <a:pt x="57150" y="90964"/>
                    <a:pt x="57150" y="85725"/>
                  </a:cubicBezTo>
                  <a:lnTo>
                    <a:pt x="57150" y="66675"/>
                  </a:lnTo>
                  <a:close/>
                  <a:moveTo>
                    <a:pt x="142875" y="57150"/>
                  </a:moveTo>
                  <a:lnTo>
                    <a:pt x="161925" y="57150"/>
                  </a:lnTo>
                  <a:cubicBezTo>
                    <a:pt x="167164" y="57150"/>
                    <a:pt x="171450" y="61436"/>
                    <a:pt x="171450" y="66675"/>
                  </a:cubicBezTo>
                  <a:lnTo>
                    <a:pt x="171450" y="85725"/>
                  </a:lnTo>
                  <a:cubicBezTo>
                    <a:pt x="171450" y="90964"/>
                    <a:pt x="167164" y="95250"/>
                    <a:pt x="161925" y="95250"/>
                  </a:cubicBezTo>
                  <a:lnTo>
                    <a:pt x="142875" y="95250"/>
                  </a:lnTo>
                  <a:cubicBezTo>
                    <a:pt x="137636" y="95250"/>
                    <a:pt x="133350" y="90964"/>
                    <a:pt x="133350" y="85725"/>
                  </a:cubicBezTo>
                  <a:lnTo>
                    <a:pt x="133350" y="66675"/>
                  </a:lnTo>
                  <a:cubicBezTo>
                    <a:pt x="133350" y="61436"/>
                    <a:pt x="137636" y="57150"/>
                    <a:pt x="142875" y="57150"/>
                  </a:cubicBezTo>
                  <a:close/>
                  <a:moveTo>
                    <a:pt x="57150" y="142875"/>
                  </a:moveTo>
                  <a:cubicBezTo>
                    <a:pt x="57150" y="137636"/>
                    <a:pt x="61436" y="133350"/>
                    <a:pt x="66675" y="133350"/>
                  </a:cubicBezTo>
                  <a:lnTo>
                    <a:pt x="85725" y="133350"/>
                  </a:lnTo>
                  <a:cubicBezTo>
                    <a:pt x="90964" y="133350"/>
                    <a:pt x="95250" y="137636"/>
                    <a:pt x="95250" y="142875"/>
                  </a:cubicBezTo>
                  <a:lnTo>
                    <a:pt x="95250" y="161925"/>
                  </a:lnTo>
                  <a:cubicBezTo>
                    <a:pt x="95250" y="167164"/>
                    <a:pt x="90964" y="171450"/>
                    <a:pt x="85725" y="171450"/>
                  </a:cubicBezTo>
                  <a:lnTo>
                    <a:pt x="66675" y="171450"/>
                  </a:lnTo>
                  <a:cubicBezTo>
                    <a:pt x="61436" y="171450"/>
                    <a:pt x="57150" y="167164"/>
                    <a:pt x="57150" y="161925"/>
                  </a:cubicBezTo>
                  <a:lnTo>
                    <a:pt x="57150" y="142875"/>
                  </a:lnTo>
                  <a:close/>
                  <a:moveTo>
                    <a:pt x="142875" y="133350"/>
                  </a:moveTo>
                  <a:lnTo>
                    <a:pt x="161925" y="133350"/>
                  </a:lnTo>
                  <a:cubicBezTo>
                    <a:pt x="167164" y="133350"/>
                    <a:pt x="171450" y="137636"/>
                    <a:pt x="171450" y="142875"/>
                  </a:cubicBezTo>
                  <a:lnTo>
                    <a:pt x="171450" y="161925"/>
                  </a:lnTo>
                  <a:cubicBezTo>
                    <a:pt x="171450" y="167164"/>
                    <a:pt x="167164" y="171450"/>
                    <a:pt x="161925" y="171450"/>
                  </a:cubicBezTo>
                  <a:lnTo>
                    <a:pt x="142875" y="171450"/>
                  </a:lnTo>
                  <a:cubicBezTo>
                    <a:pt x="137636" y="171450"/>
                    <a:pt x="133350" y="167164"/>
                    <a:pt x="133350" y="161925"/>
                  </a:cubicBezTo>
                  <a:lnTo>
                    <a:pt x="133350" y="142875"/>
                  </a:lnTo>
                  <a:cubicBezTo>
                    <a:pt x="133350" y="137636"/>
                    <a:pt x="137636" y="133350"/>
                    <a:pt x="142875" y="133350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9">
              <a:extLst>
                <a:ext uri="{FF2B5EF4-FFF2-40B4-BE49-F238E27FC236}">
                  <a16:creationId xmlns:a16="http://schemas.microsoft.com/office/drawing/2014/main" id="{336FC93A-1AA0-AA5F-37C8-5907F5CC5ED8}"/>
                </a:ext>
              </a:extLst>
            </p:cNvPr>
            <p:cNvSpPr/>
            <p:nvPr/>
          </p:nvSpPr>
          <p:spPr>
            <a:xfrm>
              <a:off x="8812591" y="3598315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Commercial Load</a:t>
              </a:r>
              <a:endParaRPr lang="en-US" sz="1600" dirty="0"/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AAB06FB2-58A0-7CAC-9832-08B243941671}"/>
                </a:ext>
              </a:extLst>
            </p:cNvPr>
            <p:cNvSpPr/>
            <p:nvPr/>
          </p:nvSpPr>
          <p:spPr>
            <a:xfrm>
              <a:off x="10222895" y="3096286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1">
              <a:extLst>
                <a:ext uri="{FF2B5EF4-FFF2-40B4-BE49-F238E27FC236}">
                  <a16:creationId xmlns:a16="http://schemas.microsoft.com/office/drawing/2014/main" id="{579F8D6A-7C00-7F73-01B4-DC360AE02C9D}"/>
                </a:ext>
              </a:extLst>
            </p:cNvPr>
            <p:cNvSpPr/>
            <p:nvPr/>
          </p:nvSpPr>
          <p:spPr>
            <a:xfrm>
              <a:off x="10658808" y="3207848"/>
              <a:ext cx="307703" cy="334686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9050" y="19050"/>
                  </a:moveTo>
                  <a:cubicBezTo>
                    <a:pt x="8513" y="19050"/>
                    <a:pt x="0" y="27563"/>
                    <a:pt x="0" y="38100"/>
                  </a:cubicBezTo>
                  <a:lnTo>
                    <a:pt x="0" y="257175"/>
                  </a:lnTo>
                  <a:cubicBezTo>
                    <a:pt x="0" y="272951"/>
                    <a:pt x="12799" y="285750"/>
                    <a:pt x="28575" y="285750"/>
                  </a:cubicBezTo>
                  <a:lnTo>
                    <a:pt x="276225" y="285750"/>
                  </a:lnTo>
                  <a:cubicBezTo>
                    <a:pt x="292001" y="285750"/>
                    <a:pt x="304800" y="272951"/>
                    <a:pt x="304800" y="257175"/>
                  </a:cubicBezTo>
                  <a:lnTo>
                    <a:pt x="304800" y="90607"/>
                  </a:lnTo>
                  <a:cubicBezTo>
                    <a:pt x="304800" y="79772"/>
                    <a:pt x="293251" y="72926"/>
                    <a:pt x="283726" y="78045"/>
                  </a:cubicBezTo>
                  <a:lnTo>
                    <a:pt x="190500" y="128230"/>
                  </a:lnTo>
                  <a:lnTo>
                    <a:pt x="190500" y="90607"/>
                  </a:lnTo>
                  <a:cubicBezTo>
                    <a:pt x="190500" y="79772"/>
                    <a:pt x="178951" y="72926"/>
                    <a:pt x="169426" y="78045"/>
                  </a:cubicBezTo>
                  <a:lnTo>
                    <a:pt x="76200" y="128230"/>
                  </a:lnTo>
                  <a:lnTo>
                    <a:pt x="76200" y="38100"/>
                  </a:lnTo>
                  <a:cubicBezTo>
                    <a:pt x="76200" y="27563"/>
                    <a:pt x="67687" y="19050"/>
                    <a:pt x="57150" y="19050"/>
                  </a:cubicBezTo>
                  <a:lnTo>
                    <a:pt x="19050" y="19050"/>
                  </a:ln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21AE298A-7A0D-D97F-7096-D27D9066FFF0}"/>
                </a:ext>
              </a:extLst>
            </p:cNvPr>
            <p:cNvSpPr/>
            <p:nvPr/>
          </p:nvSpPr>
          <p:spPr>
            <a:xfrm>
              <a:off x="10222895" y="3598315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Industrial Load</a:t>
              </a:r>
              <a:endParaRPr lang="en-US" sz="1600" dirty="0"/>
            </a:p>
          </p:txBody>
        </p:sp>
        <p:sp>
          <p:nvSpPr>
            <p:cNvPr id="38" name="Shape 33">
              <a:extLst>
                <a:ext uri="{FF2B5EF4-FFF2-40B4-BE49-F238E27FC236}">
                  <a16:creationId xmlns:a16="http://schemas.microsoft.com/office/drawing/2014/main" id="{4B1E2A09-C0B5-37A4-5473-CBDFD0CC92E9}"/>
                </a:ext>
              </a:extLst>
            </p:cNvPr>
            <p:cNvSpPr/>
            <p:nvPr/>
          </p:nvSpPr>
          <p:spPr>
            <a:xfrm>
              <a:off x="10351105" y="4277688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4">
              <a:extLst>
                <a:ext uri="{FF2B5EF4-FFF2-40B4-BE49-F238E27FC236}">
                  <a16:creationId xmlns:a16="http://schemas.microsoft.com/office/drawing/2014/main" id="{48817CDF-6208-06D6-B225-86E6C4DF9A3C}"/>
                </a:ext>
              </a:extLst>
            </p:cNvPr>
            <p:cNvSpPr/>
            <p:nvPr/>
          </p:nvSpPr>
          <p:spPr>
            <a:xfrm>
              <a:off x="10767786" y="4389250"/>
              <a:ext cx="346166" cy="334686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76200" y="38100"/>
                  </a:moveTo>
                  <a:cubicBezTo>
                    <a:pt x="76200" y="17085"/>
                    <a:pt x="93285" y="0"/>
                    <a:pt x="114300" y="0"/>
                  </a:cubicBezTo>
                  <a:lnTo>
                    <a:pt x="228600" y="0"/>
                  </a:lnTo>
                  <a:cubicBezTo>
                    <a:pt x="249615" y="0"/>
                    <a:pt x="266700" y="17085"/>
                    <a:pt x="266700" y="38100"/>
                  </a:cubicBezTo>
                  <a:lnTo>
                    <a:pt x="266700" y="76200"/>
                  </a:lnTo>
                  <a:lnTo>
                    <a:pt x="304800" y="76200"/>
                  </a:lnTo>
                  <a:cubicBezTo>
                    <a:pt x="325815" y="76200"/>
                    <a:pt x="342900" y="93285"/>
                    <a:pt x="342900" y="114300"/>
                  </a:cubicBezTo>
                  <a:lnTo>
                    <a:pt x="342900" y="266700"/>
                  </a:lnTo>
                  <a:cubicBezTo>
                    <a:pt x="342900" y="287715"/>
                    <a:pt x="325815" y="304800"/>
                    <a:pt x="304800" y="304800"/>
                  </a:cubicBezTo>
                  <a:lnTo>
                    <a:pt x="38100" y="304800"/>
                  </a:lnTo>
                  <a:cubicBezTo>
                    <a:pt x="17085" y="304800"/>
                    <a:pt x="0" y="287715"/>
                    <a:pt x="0" y="266700"/>
                  </a:cubicBezTo>
                  <a:lnTo>
                    <a:pt x="0" y="114300"/>
                  </a:lnTo>
                  <a:cubicBezTo>
                    <a:pt x="0" y="93285"/>
                    <a:pt x="17085" y="76200"/>
                    <a:pt x="38100" y="76200"/>
                  </a:cubicBezTo>
                  <a:lnTo>
                    <a:pt x="76200" y="76200"/>
                  </a:lnTo>
                  <a:lnTo>
                    <a:pt x="76200" y="38100"/>
                  </a:lnTo>
                  <a:close/>
                  <a:moveTo>
                    <a:pt x="161925" y="209550"/>
                  </a:moveTo>
                  <a:cubicBezTo>
                    <a:pt x="151388" y="209550"/>
                    <a:pt x="142875" y="218063"/>
                    <a:pt x="142875" y="228600"/>
                  </a:cubicBezTo>
                  <a:lnTo>
                    <a:pt x="142875" y="276225"/>
                  </a:lnTo>
                  <a:lnTo>
                    <a:pt x="200025" y="276225"/>
                  </a:lnTo>
                  <a:lnTo>
                    <a:pt x="200025" y="228600"/>
                  </a:lnTo>
                  <a:cubicBezTo>
                    <a:pt x="200025" y="218063"/>
                    <a:pt x="191512" y="209550"/>
                    <a:pt x="180975" y="209550"/>
                  </a:cubicBezTo>
                  <a:lnTo>
                    <a:pt x="161925" y="209550"/>
                  </a:lnTo>
                  <a:close/>
                  <a:moveTo>
                    <a:pt x="76200" y="219075"/>
                  </a:moveTo>
                  <a:lnTo>
                    <a:pt x="76200" y="200025"/>
                  </a:lnTo>
                  <a:cubicBezTo>
                    <a:pt x="76200" y="194786"/>
                    <a:pt x="71914" y="190500"/>
                    <a:pt x="66675" y="190500"/>
                  </a:cubicBezTo>
                  <a:lnTo>
                    <a:pt x="47625" y="190500"/>
                  </a:lnTo>
                  <a:cubicBezTo>
                    <a:pt x="42386" y="190500"/>
                    <a:pt x="38100" y="194786"/>
                    <a:pt x="38100" y="200025"/>
                  </a:cubicBezTo>
                  <a:lnTo>
                    <a:pt x="38100" y="219075"/>
                  </a:lnTo>
                  <a:cubicBezTo>
                    <a:pt x="38100" y="224314"/>
                    <a:pt x="42386" y="228600"/>
                    <a:pt x="47625" y="228600"/>
                  </a:cubicBezTo>
                  <a:lnTo>
                    <a:pt x="66675" y="228600"/>
                  </a:lnTo>
                  <a:cubicBezTo>
                    <a:pt x="71914" y="228600"/>
                    <a:pt x="76200" y="224314"/>
                    <a:pt x="76200" y="219075"/>
                  </a:cubicBezTo>
                  <a:close/>
                  <a:moveTo>
                    <a:pt x="66675" y="152400"/>
                  </a:moveTo>
                  <a:cubicBezTo>
                    <a:pt x="71914" y="152400"/>
                    <a:pt x="76200" y="148114"/>
                    <a:pt x="76200" y="142875"/>
                  </a:cubicBezTo>
                  <a:lnTo>
                    <a:pt x="76200" y="123825"/>
                  </a:lnTo>
                  <a:cubicBezTo>
                    <a:pt x="76200" y="118586"/>
                    <a:pt x="71914" y="114300"/>
                    <a:pt x="66675" y="114300"/>
                  </a:cubicBezTo>
                  <a:lnTo>
                    <a:pt x="47625" y="114300"/>
                  </a:lnTo>
                  <a:cubicBezTo>
                    <a:pt x="42386" y="114300"/>
                    <a:pt x="38100" y="118586"/>
                    <a:pt x="38100" y="123825"/>
                  </a:cubicBezTo>
                  <a:lnTo>
                    <a:pt x="38100" y="142875"/>
                  </a:lnTo>
                  <a:cubicBezTo>
                    <a:pt x="38100" y="148114"/>
                    <a:pt x="42386" y="152400"/>
                    <a:pt x="47625" y="152400"/>
                  </a:cubicBezTo>
                  <a:lnTo>
                    <a:pt x="66675" y="152400"/>
                  </a:lnTo>
                  <a:close/>
                  <a:moveTo>
                    <a:pt x="304800" y="219075"/>
                  </a:moveTo>
                  <a:lnTo>
                    <a:pt x="304800" y="200025"/>
                  </a:lnTo>
                  <a:cubicBezTo>
                    <a:pt x="304800" y="194786"/>
                    <a:pt x="300514" y="190500"/>
                    <a:pt x="295275" y="190500"/>
                  </a:cubicBezTo>
                  <a:lnTo>
                    <a:pt x="276225" y="190500"/>
                  </a:lnTo>
                  <a:cubicBezTo>
                    <a:pt x="270986" y="190500"/>
                    <a:pt x="266700" y="194786"/>
                    <a:pt x="266700" y="200025"/>
                  </a:cubicBezTo>
                  <a:lnTo>
                    <a:pt x="266700" y="219075"/>
                  </a:lnTo>
                  <a:cubicBezTo>
                    <a:pt x="266700" y="224314"/>
                    <a:pt x="270986" y="228600"/>
                    <a:pt x="276225" y="228600"/>
                  </a:cubicBezTo>
                  <a:lnTo>
                    <a:pt x="295275" y="228600"/>
                  </a:lnTo>
                  <a:cubicBezTo>
                    <a:pt x="300514" y="228600"/>
                    <a:pt x="304800" y="224314"/>
                    <a:pt x="304800" y="219075"/>
                  </a:cubicBezTo>
                  <a:close/>
                  <a:moveTo>
                    <a:pt x="295275" y="152400"/>
                  </a:moveTo>
                  <a:cubicBezTo>
                    <a:pt x="300514" y="152400"/>
                    <a:pt x="304800" y="148114"/>
                    <a:pt x="304800" y="142875"/>
                  </a:cubicBezTo>
                  <a:lnTo>
                    <a:pt x="304800" y="123825"/>
                  </a:lnTo>
                  <a:cubicBezTo>
                    <a:pt x="304800" y="118586"/>
                    <a:pt x="300514" y="114300"/>
                    <a:pt x="295275" y="114300"/>
                  </a:cubicBezTo>
                  <a:lnTo>
                    <a:pt x="276225" y="114300"/>
                  </a:lnTo>
                  <a:cubicBezTo>
                    <a:pt x="270986" y="114300"/>
                    <a:pt x="266700" y="118586"/>
                    <a:pt x="266700" y="123825"/>
                  </a:cubicBezTo>
                  <a:lnTo>
                    <a:pt x="266700" y="142875"/>
                  </a:lnTo>
                  <a:cubicBezTo>
                    <a:pt x="266700" y="148114"/>
                    <a:pt x="270986" y="152400"/>
                    <a:pt x="276225" y="152400"/>
                  </a:cubicBezTo>
                  <a:lnTo>
                    <a:pt x="295275" y="152400"/>
                  </a:lnTo>
                  <a:close/>
                  <a:moveTo>
                    <a:pt x="157163" y="61912"/>
                  </a:moveTo>
                  <a:lnTo>
                    <a:pt x="157163" y="80962"/>
                  </a:lnTo>
                  <a:lnTo>
                    <a:pt x="138113" y="80962"/>
                  </a:lnTo>
                  <a:cubicBezTo>
                    <a:pt x="132874" y="80962"/>
                    <a:pt x="128588" y="85249"/>
                    <a:pt x="128588" y="90488"/>
                  </a:cubicBezTo>
                  <a:lnTo>
                    <a:pt x="128588" y="100013"/>
                  </a:lnTo>
                  <a:cubicBezTo>
                    <a:pt x="128588" y="105251"/>
                    <a:pt x="132874" y="109537"/>
                    <a:pt x="138113" y="109537"/>
                  </a:cubicBezTo>
                  <a:lnTo>
                    <a:pt x="157163" y="109537"/>
                  </a:lnTo>
                  <a:lnTo>
                    <a:pt x="157163" y="128588"/>
                  </a:lnTo>
                  <a:cubicBezTo>
                    <a:pt x="157163" y="133826"/>
                    <a:pt x="161449" y="138113"/>
                    <a:pt x="166688" y="138113"/>
                  </a:cubicBezTo>
                  <a:lnTo>
                    <a:pt x="176212" y="138113"/>
                  </a:lnTo>
                  <a:cubicBezTo>
                    <a:pt x="181451" y="138113"/>
                    <a:pt x="185738" y="133826"/>
                    <a:pt x="185738" y="128588"/>
                  </a:cubicBezTo>
                  <a:lnTo>
                    <a:pt x="185738" y="109537"/>
                  </a:lnTo>
                  <a:lnTo>
                    <a:pt x="204787" y="109537"/>
                  </a:lnTo>
                  <a:cubicBezTo>
                    <a:pt x="210026" y="109537"/>
                    <a:pt x="214313" y="105251"/>
                    <a:pt x="214313" y="100013"/>
                  </a:cubicBezTo>
                  <a:lnTo>
                    <a:pt x="214313" y="90488"/>
                  </a:lnTo>
                  <a:cubicBezTo>
                    <a:pt x="214313" y="85249"/>
                    <a:pt x="210026" y="80962"/>
                    <a:pt x="204787" y="80962"/>
                  </a:cubicBezTo>
                  <a:lnTo>
                    <a:pt x="185738" y="80962"/>
                  </a:lnTo>
                  <a:lnTo>
                    <a:pt x="185738" y="61912"/>
                  </a:lnTo>
                  <a:cubicBezTo>
                    <a:pt x="185738" y="56674"/>
                    <a:pt x="181451" y="52388"/>
                    <a:pt x="176212" y="52388"/>
                  </a:cubicBezTo>
                  <a:lnTo>
                    <a:pt x="166688" y="52388"/>
                  </a:lnTo>
                  <a:cubicBezTo>
                    <a:pt x="161449" y="52388"/>
                    <a:pt x="157163" y="56674"/>
                    <a:pt x="157163" y="61912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5">
              <a:extLst>
                <a:ext uri="{FF2B5EF4-FFF2-40B4-BE49-F238E27FC236}">
                  <a16:creationId xmlns:a16="http://schemas.microsoft.com/office/drawing/2014/main" id="{D5E13824-F408-EBC6-562E-3E9A4D6E1302}"/>
                </a:ext>
              </a:extLst>
            </p:cNvPr>
            <p:cNvSpPr/>
            <p:nvPr/>
          </p:nvSpPr>
          <p:spPr>
            <a:xfrm>
              <a:off x="10351105" y="4779717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Critical Load</a:t>
              </a:r>
              <a:endParaRPr lang="en-US" sz="1600" dirty="0"/>
            </a:p>
          </p:txBody>
        </p:sp>
        <p:sp>
          <p:nvSpPr>
            <p:cNvPr id="41" name="Shape 36">
              <a:extLst>
                <a:ext uri="{FF2B5EF4-FFF2-40B4-BE49-F238E27FC236}">
                  <a16:creationId xmlns:a16="http://schemas.microsoft.com/office/drawing/2014/main" id="{ACEAB084-8F00-2409-FE97-FF1E6F61F101}"/>
                </a:ext>
              </a:extLst>
            </p:cNvPr>
            <p:cNvSpPr/>
            <p:nvPr/>
          </p:nvSpPr>
          <p:spPr>
            <a:xfrm>
              <a:off x="7402286" y="5466979"/>
              <a:ext cx="1282095" cy="9319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37">
              <a:extLst>
                <a:ext uri="{FF2B5EF4-FFF2-40B4-BE49-F238E27FC236}">
                  <a16:creationId xmlns:a16="http://schemas.microsoft.com/office/drawing/2014/main" id="{39638174-2A61-E8AA-1F05-A7CE30B15AF1}"/>
                </a:ext>
              </a:extLst>
            </p:cNvPr>
            <p:cNvSpPr/>
            <p:nvPr/>
          </p:nvSpPr>
          <p:spPr>
            <a:xfrm>
              <a:off x="7818967" y="5662212"/>
              <a:ext cx="346166" cy="334686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72509" y="19050"/>
                  </a:moveTo>
                  <a:cubicBezTo>
                    <a:pt x="54650" y="19050"/>
                    <a:pt x="39172" y="31432"/>
                    <a:pt x="35302" y="48875"/>
                  </a:cubicBezTo>
                  <a:lnTo>
                    <a:pt x="5715" y="182225"/>
                  </a:lnTo>
                  <a:cubicBezTo>
                    <a:pt x="417" y="206038"/>
                    <a:pt x="18514" y="228600"/>
                    <a:pt x="42863" y="228600"/>
                  </a:cubicBezTo>
                  <a:lnTo>
                    <a:pt x="152460" y="228600"/>
                  </a:lnTo>
                  <a:lnTo>
                    <a:pt x="152460" y="266700"/>
                  </a:lnTo>
                  <a:lnTo>
                    <a:pt x="114360" y="266700"/>
                  </a:lnTo>
                  <a:cubicBezTo>
                    <a:pt x="103823" y="266700"/>
                    <a:pt x="95310" y="275213"/>
                    <a:pt x="95310" y="285750"/>
                  </a:cubicBezTo>
                  <a:cubicBezTo>
                    <a:pt x="95310" y="296287"/>
                    <a:pt x="103823" y="304800"/>
                    <a:pt x="114360" y="304800"/>
                  </a:cubicBezTo>
                  <a:lnTo>
                    <a:pt x="228660" y="304800"/>
                  </a:lnTo>
                  <a:cubicBezTo>
                    <a:pt x="239197" y="304800"/>
                    <a:pt x="247710" y="296287"/>
                    <a:pt x="247710" y="285750"/>
                  </a:cubicBezTo>
                  <a:cubicBezTo>
                    <a:pt x="247710" y="275213"/>
                    <a:pt x="239197" y="266700"/>
                    <a:pt x="228660" y="266700"/>
                  </a:cubicBezTo>
                  <a:lnTo>
                    <a:pt x="190560" y="266700"/>
                  </a:lnTo>
                  <a:lnTo>
                    <a:pt x="190560" y="228600"/>
                  </a:lnTo>
                  <a:lnTo>
                    <a:pt x="300157" y="228600"/>
                  </a:lnTo>
                  <a:cubicBezTo>
                    <a:pt x="324505" y="228600"/>
                    <a:pt x="342662" y="206038"/>
                    <a:pt x="337364" y="182225"/>
                  </a:cubicBezTo>
                  <a:lnTo>
                    <a:pt x="307717" y="48875"/>
                  </a:lnTo>
                  <a:cubicBezTo>
                    <a:pt x="303848" y="31432"/>
                    <a:pt x="288429" y="19050"/>
                    <a:pt x="270570" y="19050"/>
                  </a:cubicBezTo>
                  <a:lnTo>
                    <a:pt x="72509" y="19050"/>
                  </a:lnTo>
                  <a:close/>
                  <a:moveTo>
                    <a:pt x="146209" y="57150"/>
                  </a:moveTo>
                  <a:lnTo>
                    <a:pt x="196929" y="57150"/>
                  </a:lnTo>
                  <a:lnTo>
                    <a:pt x="201275" y="109537"/>
                  </a:lnTo>
                  <a:lnTo>
                    <a:pt x="141863" y="109537"/>
                  </a:lnTo>
                  <a:lnTo>
                    <a:pt x="146209" y="57150"/>
                  </a:lnTo>
                  <a:close/>
                  <a:moveTo>
                    <a:pt x="113169" y="109537"/>
                  </a:moveTo>
                  <a:lnTo>
                    <a:pt x="60900" y="109537"/>
                  </a:lnTo>
                  <a:lnTo>
                    <a:pt x="72569" y="57150"/>
                  </a:lnTo>
                  <a:lnTo>
                    <a:pt x="117574" y="57150"/>
                  </a:lnTo>
                  <a:lnTo>
                    <a:pt x="113228" y="109537"/>
                  </a:lnTo>
                  <a:close/>
                  <a:moveTo>
                    <a:pt x="54531" y="138113"/>
                  </a:moveTo>
                  <a:lnTo>
                    <a:pt x="110788" y="138113"/>
                  </a:lnTo>
                  <a:lnTo>
                    <a:pt x="106442" y="190500"/>
                  </a:lnTo>
                  <a:lnTo>
                    <a:pt x="42922" y="190500"/>
                  </a:lnTo>
                  <a:lnTo>
                    <a:pt x="54590" y="138113"/>
                  </a:lnTo>
                  <a:close/>
                  <a:moveTo>
                    <a:pt x="139422" y="138113"/>
                  </a:moveTo>
                  <a:lnTo>
                    <a:pt x="203597" y="138113"/>
                  </a:lnTo>
                  <a:lnTo>
                    <a:pt x="207943" y="190500"/>
                  </a:lnTo>
                  <a:lnTo>
                    <a:pt x="135017" y="190500"/>
                  </a:lnTo>
                  <a:lnTo>
                    <a:pt x="139363" y="138113"/>
                  </a:lnTo>
                  <a:close/>
                  <a:moveTo>
                    <a:pt x="232291" y="138113"/>
                  </a:moveTo>
                  <a:lnTo>
                    <a:pt x="288548" y="138113"/>
                  </a:lnTo>
                  <a:lnTo>
                    <a:pt x="300216" y="190500"/>
                  </a:lnTo>
                  <a:lnTo>
                    <a:pt x="236696" y="190500"/>
                  </a:lnTo>
                  <a:lnTo>
                    <a:pt x="232350" y="138113"/>
                  </a:lnTo>
                  <a:close/>
                  <a:moveTo>
                    <a:pt x="282178" y="109537"/>
                  </a:moveTo>
                  <a:lnTo>
                    <a:pt x="229910" y="109537"/>
                  </a:lnTo>
                  <a:lnTo>
                    <a:pt x="225564" y="57150"/>
                  </a:lnTo>
                  <a:lnTo>
                    <a:pt x="270570" y="57150"/>
                  </a:lnTo>
                  <a:lnTo>
                    <a:pt x="282238" y="109537"/>
                  </a:ln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38">
              <a:extLst>
                <a:ext uri="{FF2B5EF4-FFF2-40B4-BE49-F238E27FC236}">
                  <a16:creationId xmlns:a16="http://schemas.microsoft.com/office/drawing/2014/main" id="{231137B9-7DE4-3A09-83A5-4B3ACC403CFE}"/>
                </a:ext>
              </a:extLst>
            </p:cNvPr>
            <p:cNvSpPr/>
            <p:nvPr/>
          </p:nvSpPr>
          <p:spPr>
            <a:xfrm>
              <a:off x="7402286" y="5969007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Solar Generated</a:t>
              </a:r>
              <a:endParaRPr lang="en-US" sz="1600" dirty="0"/>
            </a:p>
          </p:txBody>
        </p:sp>
        <p:sp>
          <p:nvSpPr>
            <p:cNvPr id="44" name="Shape 39">
              <a:extLst>
                <a:ext uri="{FF2B5EF4-FFF2-40B4-BE49-F238E27FC236}">
                  <a16:creationId xmlns:a16="http://schemas.microsoft.com/office/drawing/2014/main" id="{B29414EB-FF2E-E374-21F4-D663A151BC3B}"/>
                </a:ext>
              </a:extLst>
            </p:cNvPr>
            <p:cNvSpPr/>
            <p:nvPr/>
          </p:nvSpPr>
          <p:spPr>
            <a:xfrm>
              <a:off x="7402286" y="4281632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0">
              <a:extLst>
                <a:ext uri="{FF2B5EF4-FFF2-40B4-BE49-F238E27FC236}">
                  <a16:creationId xmlns:a16="http://schemas.microsoft.com/office/drawing/2014/main" id="{462CA596-4C16-0B05-8C1B-37DDEAC806A7}"/>
                </a:ext>
              </a:extLst>
            </p:cNvPr>
            <p:cNvSpPr/>
            <p:nvPr/>
          </p:nvSpPr>
          <p:spPr>
            <a:xfrm>
              <a:off x="7838198" y="4393194"/>
              <a:ext cx="307703" cy="334686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95250" y="85725"/>
                  </a:moveTo>
                  <a:cubicBezTo>
                    <a:pt x="95250" y="38398"/>
                    <a:pt x="133648" y="0"/>
                    <a:pt x="180975" y="0"/>
                  </a:cubicBezTo>
                  <a:cubicBezTo>
                    <a:pt x="186214" y="0"/>
                    <a:pt x="190500" y="4286"/>
                    <a:pt x="190500" y="9525"/>
                  </a:cubicBezTo>
                  <a:lnTo>
                    <a:pt x="190500" y="100132"/>
                  </a:lnTo>
                  <a:cubicBezTo>
                    <a:pt x="199430" y="96976"/>
                    <a:pt x="209074" y="95250"/>
                    <a:pt x="219075" y="95250"/>
                  </a:cubicBezTo>
                  <a:cubicBezTo>
                    <a:pt x="266402" y="95250"/>
                    <a:pt x="304800" y="133648"/>
                    <a:pt x="304800" y="180975"/>
                  </a:cubicBezTo>
                  <a:cubicBezTo>
                    <a:pt x="304800" y="186214"/>
                    <a:pt x="300514" y="190500"/>
                    <a:pt x="295275" y="190500"/>
                  </a:cubicBezTo>
                  <a:lnTo>
                    <a:pt x="204668" y="190500"/>
                  </a:lnTo>
                  <a:cubicBezTo>
                    <a:pt x="207824" y="199430"/>
                    <a:pt x="209550" y="209074"/>
                    <a:pt x="209550" y="219075"/>
                  </a:cubicBezTo>
                  <a:cubicBezTo>
                    <a:pt x="209550" y="266402"/>
                    <a:pt x="171152" y="304800"/>
                    <a:pt x="123825" y="304800"/>
                  </a:cubicBezTo>
                  <a:cubicBezTo>
                    <a:pt x="118586" y="304800"/>
                    <a:pt x="114300" y="300514"/>
                    <a:pt x="114300" y="295275"/>
                  </a:cubicBezTo>
                  <a:lnTo>
                    <a:pt x="114300" y="204668"/>
                  </a:lnTo>
                  <a:cubicBezTo>
                    <a:pt x="105370" y="207824"/>
                    <a:pt x="95726" y="209550"/>
                    <a:pt x="85725" y="209550"/>
                  </a:cubicBezTo>
                  <a:cubicBezTo>
                    <a:pt x="38398" y="209550"/>
                    <a:pt x="0" y="171152"/>
                    <a:pt x="0" y="123825"/>
                  </a:cubicBezTo>
                  <a:cubicBezTo>
                    <a:pt x="0" y="118586"/>
                    <a:pt x="4286" y="114300"/>
                    <a:pt x="9525" y="114300"/>
                  </a:cubicBezTo>
                  <a:lnTo>
                    <a:pt x="100132" y="114300"/>
                  </a:lnTo>
                  <a:cubicBezTo>
                    <a:pt x="96976" y="105370"/>
                    <a:pt x="95250" y="95726"/>
                    <a:pt x="95250" y="85725"/>
                  </a:cubicBezTo>
                  <a:close/>
                  <a:moveTo>
                    <a:pt x="152400" y="171450"/>
                  </a:moveTo>
                  <a:cubicBezTo>
                    <a:pt x="162914" y="171450"/>
                    <a:pt x="171450" y="162914"/>
                    <a:pt x="171450" y="152400"/>
                  </a:cubicBezTo>
                  <a:cubicBezTo>
                    <a:pt x="171450" y="141886"/>
                    <a:pt x="162914" y="133350"/>
                    <a:pt x="152400" y="133350"/>
                  </a:cubicBezTo>
                  <a:cubicBezTo>
                    <a:pt x="141886" y="133350"/>
                    <a:pt x="133350" y="141886"/>
                    <a:pt x="133350" y="152400"/>
                  </a:cubicBezTo>
                  <a:cubicBezTo>
                    <a:pt x="133350" y="162914"/>
                    <a:pt x="141886" y="171450"/>
                    <a:pt x="152400" y="171450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1">
              <a:extLst>
                <a:ext uri="{FF2B5EF4-FFF2-40B4-BE49-F238E27FC236}">
                  <a16:creationId xmlns:a16="http://schemas.microsoft.com/office/drawing/2014/main" id="{5171B755-5830-0E56-D0D7-FD32F05DA878}"/>
                </a:ext>
              </a:extLst>
            </p:cNvPr>
            <p:cNvSpPr/>
            <p:nvPr/>
          </p:nvSpPr>
          <p:spPr>
            <a:xfrm>
              <a:off x="7402286" y="4783661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Wind Generated</a:t>
              </a:r>
              <a:endParaRPr lang="en-US" sz="1600" dirty="0"/>
            </a:p>
          </p:txBody>
        </p:sp>
        <p:sp>
          <p:nvSpPr>
            <p:cNvPr id="47" name="Shape 42">
              <a:extLst>
                <a:ext uri="{FF2B5EF4-FFF2-40B4-BE49-F238E27FC236}">
                  <a16:creationId xmlns:a16="http://schemas.microsoft.com/office/drawing/2014/main" id="{107BA282-9735-EB20-D2F7-1711DC114F5D}"/>
                </a:ext>
              </a:extLst>
            </p:cNvPr>
            <p:cNvSpPr/>
            <p:nvPr/>
          </p:nvSpPr>
          <p:spPr>
            <a:xfrm>
              <a:off x="8812591" y="4281632"/>
              <a:ext cx="1282095" cy="97616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3">
              <a:extLst>
                <a:ext uri="{FF2B5EF4-FFF2-40B4-BE49-F238E27FC236}">
                  <a16:creationId xmlns:a16="http://schemas.microsoft.com/office/drawing/2014/main" id="{FFDF83C8-CE77-3B6C-8AC6-4DA9C127605B}"/>
                </a:ext>
              </a:extLst>
            </p:cNvPr>
            <p:cNvSpPr/>
            <p:nvPr/>
          </p:nvSpPr>
          <p:spPr>
            <a:xfrm>
              <a:off x="9267734" y="4393194"/>
              <a:ext cx="269240" cy="334686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01692" y="-5894"/>
                  </a:moveTo>
                  <a:cubicBezTo>
                    <a:pt x="208776" y="-774"/>
                    <a:pt x="211395" y="8513"/>
                    <a:pt x="208181" y="16609"/>
                  </a:cubicBezTo>
                  <a:lnTo>
                    <a:pt x="161508" y="133350"/>
                  </a:lnTo>
                  <a:lnTo>
                    <a:pt x="247650" y="133350"/>
                  </a:lnTo>
                  <a:cubicBezTo>
                    <a:pt x="255687" y="133350"/>
                    <a:pt x="262830" y="138351"/>
                    <a:pt x="265569" y="145911"/>
                  </a:cubicBezTo>
                  <a:cubicBezTo>
                    <a:pt x="268307" y="153472"/>
                    <a:pt x="265986" y="161925"/>
                    <a:pt x="259854" y="167045"/>
                  </a:cubicBezTo>
                  <a:lnTo>
                    <a:pt x="88404" y="309920"/>
                  </a:lnTo>
                  <a:cubicBezTo>
                    <a:pt x="81677" y="315516"/>
                    <a:pt x="72092" y="315813"/>
                    <a:pt x="65008" y="310694"/>
                  </a:cubicBezTo>
                  <a:cubicBezTo>
                    <a:pt x="57924" y="305574"/>
                    <a:pt x="55305" y="296287"/>
                    <a:pt x="58519" y="288191"/>
                  </a:cubicBezTo>
                  <a:lnTo>
                    <a:pt x="105192" y="171450"/>
                  </a:lnTo>
                  <a:lnTo>
                    <a:pt x="19050" y="171450"/>
                  </a:lnTo>
                  <a:cubicBezTo>
                    <a:pt x="11013" y="171450"/>
                    <a:pt x="3870" y="166449"/>
                    <a:pt x="1131" y="158889"/>
                  </a:cubicBezTo>
                  <a:cubicBezTo>
                    <a:pt x="-1607" y="151328"/>
                    <a:pt x="714" y="142875"/>
                    <a:pt x="6846" y="137755"/>
                  </a:cubicBezTo>
                  <a:lnTo>
                    <a:pt x="178296" y="-5120"/>
                  </a:lnTo>
                  <a:cubicBezTo>
                    <a:pt x="185023" y="-10716"/>
                    <a:pt x="194608" y="-11013"/>
                    <a:pt x="201692" y="-5894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4">
              <a:extLst>
                <a:ext uri="{FF2B5EF4-FFF2-40B4-BE49-F238E27FC236}">
                  <a16:creationId xmlns:a16="http://schemas.microsoft.com/office/drawing/2014/main" id="{76A8CF9A-9491-07C4-E93D-B4648505406E}"/>
                </a:ext>
              </a:extLst>
            </p:cNvPr>
            <p:cNvSpPr/>
            <p:nvPr/>
          </p:nvSpPr>
          <p:spPr>
            <a:xfrm>
              <a:off x="8812591" y="4783661"/>
              <a:ext cx="1282095" cy="334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Total Load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432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A705-4898-838B-C579-C9C1B675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1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and Model Training Pipeline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0993102-A1C2-6125-1CB1-7B3E38498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290246"/>
              </p:ext>
            </p:extLst>
          </p:nvPr>
        </p:nvGraphicFramePr>
        <p:xfrm>
          <a:off x="1890445" y="1129841"/>
          <a:ext cx="9011292" cy="319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B43752E9-1161-32D7-D574-0EB7E3C0C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546698"/>
              </p:ext>
            </p:extLst>
          </p:nvPr>
        </p:nvGraphicFramePr>
        <p:xfrm>
          <a:off x="735458" y="4130211"/>
          <a:ext cx="8154540" cy="2102385"/>
        </p:xfrm>
        <a:graphic>
          <a:graphicData uri="http://schemas.openxmlformats.org/drawingml/2006/table">
            <a:tbl>
              <a:tblPr/>
              <a:tblGrid>
                <a:gridCol w="2854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4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4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Sequence Window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 hours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Batch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CNN Filters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Kernel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Epochs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 Hidden Units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29">
            <a:extLst>
              <a:ext uri="{FF2B5EF4-FFF2-40B4-BE49-F238E27FC236}">
                <a16:creationId xmlns:a16="http://schemas.microsoft.com/office/drawing/2014/main" id="{C795E39F-B8FC-9942-45F1-984E6F42010F}"/>
              </a:ext>
            </a:extLst>
          </p:cNvPr>
          <p:cNvSpPr/>
          <p:nvPr/>
        </p:nvSpPr>
        <p:spPr>
          <a:xfrm>
            <a:off x="9043540" y="4348021"/>
            <a:ext cx="2823111" cy="1713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Loss Function: </a:t>
            </a: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Mean Squared Error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Optimizer: </a:t>
            </a: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Adam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Learning Rate: </a:t>
            </a: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0.001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Framework: </a:t>
            </a: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PyTorch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0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D1455-4BB0-1BF3-A887-45D4C554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DECA5-A1F1-D11B-7CB4-E7EA2281B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49" y="136525"/>
            <a:ext cx="11621886" cy="607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9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D0E8-BCC9-534F-F68B-7D7EE0CC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45485" cy="489639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Forecasting Results: Actual vs Predicted</a:t>
            </a:r>
            <a:endParaRPr lang="ml-IN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A3A441-FC04-7C91-C43C-DA63E973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74CDB-8CA6-B1BA-13FA-53E5850DC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9" y="1252329"/>
            <a:ext cx="11608904" cy="54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27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3BDF1-984A-1857-9336-ECE44930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36A31-06C8-D67F-D1F7-B64158849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4" y="147758"/>
            <a:ext cx="11159125" cy="2923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17F3C-B9E0-8873-EE6E-5D1E19703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5" y="3289853"/>
            <a:ext cx="11811796" cy="306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2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2F973-4B92-186A-F564-A88F2D27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9AAFC-6F03-7542-5200-45F16DE5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3" y="77431"/>
            <a:ext cx="10817087" cy="3563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05DEBA-B9EB-6BA6-F47D-D4CA7BB60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3" y="3600590"/>
            <a:ext cx="11318457" cy="325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35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3EC19-C1CE-0807-4AB3-57D59234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571C9-968F-8DD8-E9BF-3FE9B049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" y="0"/>
            <a:ext cx="11234873" cy="637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5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4AC453-2275-6F05-D625-CE4C3E4A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A8A3-9105-49CC-8E0A-FCA3BDBF2B31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E78F5-4845-8CFA-5A5C-01E999AB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13" y="565060"/>
            <a:ext cx="10797974" cy="584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4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>
            <a:spLocks noGrp="1"/>
          </p:cNvSpPr>
          <p:nvPr>
            <p:ph type="title"/>
          </p:nvPr>
        </p:nvSpPr>
        <p:spPr>
          <a:xfrm>
            <a:off x="105306" y="-73254"/>
            <a:ext cx="3114971" cy="112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Timeline</a:t>
            </a:r>
            <a:endParaRPr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317" name="Google Shape;317;p29"/>
          <p:cNvGraphicFramePr/>
          <p:nvPr/>
        </p:nvGraphicFramePr>
        <p:xfrm>
          <a:off x="650895" y="1070529"/>
          <a:ext cx="10691645" cy="529840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450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15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Work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Month 1-2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Month 3-4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Month 5-6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Month 7-8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Finalizing objectives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highlight>
                          <a:srgbClr val="38761D"/>
                        </a:highlight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 and finalization of data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highlight>
                          <a:srgbClr val="38761D"/>
                        </a:highlight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Deploying Server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highlight>
                          <a:srgbClr val="38761D"/>
                        </a:highlight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Displaying historical data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0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 of LSTM model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4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Smart Energy Monitoring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45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control strategy</a:t>
                      </a:r>
                      <a:endParaRPr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45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of system under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controlled, real-world conditions</a:t>
                      </a:r>
                      <a:endParaRPr sz="18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52404"/>
                  </a:ext>
                </a:extLst>
              </a:tr>
              <a:tr h="7745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Penalty and billing system integration</a:t>
                      </a:r>
                      <a:endParaRPr sz="18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758323"/>
                  </a:ext>
                </a:extLst>
              </a:tr>
            </a:tbl>
          </a:graphicData>
        </a:graphic>
      </p:graphicFrame>
      <p:sp>
        <p:nvSpPr>
          <p:cNvPr id="318" name="Google Shape;31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1B1D-8B77-38FC-3357-88ADE06C2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of CNN-LSTM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2B93E063-CD61-C7AC-A9BC-68450B00D31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51166860"/>
                  </p:ext>
                </p:extLst>
              </p:nvPr>
            </p:nvGraphicFramePr>
            <p:xfrm>
              <a:off x="3521528" y="1945368"/>
              <a:ext cx="5148943" cy="37084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318657">
                      <a:extLst>
                        <a:ext uri="{9D8B030D-6E8A-4147-A177-3AD203B41FA5}">
                          <a16:colId xmlns:a16="http://schemas.microsoft.com/office/drawing/2014/main" val="152612043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0687142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Metric Used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CNN-LSTM 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62766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5976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1926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013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654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Explained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7415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0592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3030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2275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116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2B93E063-CD61-C7AC-A9BC-68450B00D31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51166860"/>
                  </p:ext>
                </p:extLst>
              </p:nvPr>
            </p:nvGraphicFramePr>
            <p:xfrm>
              <a:off x="3521528" y="1945368"/>
              <a:ext cx="5148943" cy="37094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318657">
                      <a:extLst>
                        <a:ext uri="{9D8B030D-6E8A-4147-A177-3AD203B41FA5}">
                          <a16:colId xmlns:a16="http://schemas.microsoft.com/office/drawing/2014/main" val="152612043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0687142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Metric Used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CNN-LSTM 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62766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5976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1926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0131996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2" t="-406557" r="-123097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8654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Explained Variance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74151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 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0592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3030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2275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1161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739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E76C-F44C-17C4-6604-3F7BF21E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CNN-LSTM vs Baseline Forecasting Models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13B960-10A8-0CA9-3B86-747C4CC1F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629508"/>
              </p:ext>
            </p:extLst>
          </p:nvPr>
        </p:nvGraphicFramePr>
        <p:xfrm>
          <a:off x="838199" y="1825625"/>
          <a:ext cx="10014858" cy="4325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143">
                  <a:extLst>
                    <a:ext uri="{9D8B030D-6E8A-4147-A177-3AD203B41FA5}">
                      <a16:colId xmlns:a16="http://schemas.microsoft.com/office/drawing/2014/main" val="2255157127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910717049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2301377749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2615444027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1896594989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836474951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Model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MAE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RMSE                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R²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MAPE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Remarks               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147426"/>
                  </a:ext>
                </a:extLst>
              </a:tr>
              <a:tr h="782048">
                <a:tc>
                  <a:txBody>
                    <a:bodyPr/>
                    <a:lstStyle/>
                    <a:p>
                      <a:r>
                        <a:rPr lang="en-US" sz="1600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nonlinear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740218"/>
                  </a:ext>
                </a:extLst>
              </a:tr>
              <a:tr h="782048">
                <a:tc>
                  <a:txBody>
                    <a:bodyPr/>
                    <a:lstStyle/>
                    <a:p>
                      <a:r>
                        <a:rPr lang="en-US" sz="1600" dirty="0"/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lighter recurrent 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251971"/>
                  </a:ext>
                </a:extLst>
              </a:tr>
              <a:tr h="547434">
                <a:tc>
                  <a:txBody>
                    <a:bodyPr/>
                    <a:lstStyle/>
                    <a:p>
                      <a:r>
                        <a:rPr lang="en-US" sz="1600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sequential learning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013516"/>
                  </a:ext>
                </a:extLst>
              </a:tr>
              <a:tr h="1251277">
                <a:tc>
                  <a:txBody>
                    <a:bodyPr/>
                    <a:lstStyle/>
                    <a:p>
                      <a:r>
                        <a:rPr lang="en-US" sz="1600" dirty="0"/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combines feature extraction and temporal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24601"/>
                  </a:ext>
                </a:extLst>
              </a:tr>
              <a:tr h="317164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001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1938-FF17-74F1-1313-80184C69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79" y="318951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OpenDSS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Validation of AI Forecasts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2D5C46-636D-2F03-B156-D32E80C16A6F}"/>
              </a:ext>
            </a:extLst>
          </p:cNvPr>
          <p:cNvGrpSpPr/>
          <p:nvPr/>
        </p:nvGrpSpPr>
        <p:grpSpPr>
          <a:xfrm>
            <a:off x="289333" y="1803703"/>
            <a:ext cx="11214299" cy="4422436"/>
            <a:chOff x="289333" y="1803703"/>
            <a:chExt cx="11214299" cy="4422436"/>
          </a:xfrm>
        </p:grpSpPr>
        <p:sp>
          <p:nvSpPr>
            <p:cNvPr id="4" name="Text 6">
              <a:extLst>
                <a:ext uri="{FF2B5EF4-FFF2-40B4-BE49-F238E27FC236}">
                  <a16:creationId xmlns:a16="http://schemas.microsoft.com/office/drawing/2014/main" id="{9B3768E8-010E-76D1-671B-A24D01169B5A}"/>
                </a:ext>
              </a:extLst>
            </p:cNvPr>
            <p:cNvSpPr/>
            <p:nvPr/>
          </p:nvSpPr>
          <p:spPr>
            <a:xfrm>
              <a:off x="289333" y="1803703"/>
              <a:ext cx="2141274" cy="339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b="1" dirty="0">
                  <a:solidFill>
                    <a:srgbClr val="1B4D4D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Inputs to OpenDSS</a:t>
              </a:r>
              <a:endParaRPr lang="en-US" sz="1200" dirty="0"/>
            </a:p>
          </p:txBody>
        </p:sp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23BCCCF4-EC78-4E91-A734-A4266F490922}"/>
                </a:ext>
              </a:extLst>
            </p:cNvPr>
            <p:cNvSpPr/>
            <p:nvPr/>
          </p:nvSpPr>
          <p:spPr>
            <a:xfrm>
              <a:off x="289333" y="2227772"/>
              <a:ext cx="1541717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C38C007D-B230-9BA9-148E-1DDABB1BDA5F}"/>
                </a:ext>
              </a:extLst>
            </p:cNvPr>
            <p:cNvSpPr/>
            <p:nvPr/>
          </p:nvSpPr>
          <p:spPr>
            <a:xfrm>
              <a:off x="417809" y="2324702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65378" y="5120"/>
                  </a:moveTo>
                  <a:cubicBezTo>
                    <a:pt x="158055" y="-1667"/>
                    <a:pt x="146745" y="-1667"/>
                    <a:pt x="139482" y="5120"/>
                  </a:cubicBezTo>
                  <a:lnTo>
                    <a:pt x="6132" y="128945"/>
                  </a:lnTo>
                  <a:cubicBezTo>
                    <a:pt x="417" y="134303"/>
                    <a:pt x="-1488" y="142577"/>
                    <a:pt x="1369" y="149840"/>
                  </a:cubicBezTo>
                  <a:cubicBezTo>
                    <a:pt x="4227" y="157103"/>
                    <a:pt x="11192" y="161925"/>
                    <a:pt x="19050" y="161925"/>
                  </a:cubicBezTo>
                  <a:lnTo>
                    <a:pt x="28575" y="161925"/>
                  </a:lnTo>
                  <a:lnTo>
                    <a:pt x="28575" y="266700"/>
                  </a:lnTo>
                  <a:cubicBezTo>
                    <a:pt x="28575" y="287715"/>
                    <a:pt x="45660" y="304800"/>
                    <a:pt x="66675" y="304800"/>
                  </a:cubicBezTo>
                  <a:lnTo>
                    <a:pt x="238125" y="304800"/>
                  </a:lnTo>
                  <a:cubicBezTo>
                    <a:pt x="259140" y="304800"/>
                    <a:pt x="276225" y="287715"/>
                    <a:pt x="276225" y="266700"/>
                  </a:cubicBezTo>
                  <a:lnTo>
                    <a:pt x="276225" y="161925"/>
                  </a:lnTo>
                  <a:lnTo>
                    <a:pt x="285750" y="161925"/>
                  </a:lnTo>
                  <a:cubicBezTo>
                    <a:pt x="293608" y="161925"/>
                    <a:pt x="300633" y="157103"/>
                    <a:pt x="303490" y="149840"/>
                  </a:cubicBezTo>
                  <a:cubicBezTo>
                    <a:pt x="306348" y="142577"/>
                    <a:pt x="304443" y="134243"/>
                    <a:pt x="298728" y="128945"/>
                  </a:cubicBezTo>
                  <a:lnTo>
                    <a:pt x="165378" y="5120"/>
                  </a:lnTo>
                  <a:close/>
                  <a:moveTo>
                    <a:pt x="142875" y="190500"/>
                  </a:moveTo>
                  <a:lnTo>
                    <a:pt x="161925" y="190500"/>
                  </a:lnTo>
                  <a:cubicBezTo>
                    <a:pt x="177701" y="190500"/>
                    <a:pt x="190500" y="203299"/>
                    <a:pt x="190500" y="219075"/>
                  </a:cubicBezTo>
                  <a:lnTo>
                    <a:pt x="190500" y="276225"/>
                  </a:lnTo>
                  <a:lnTo>
                    <a:pt x="114300" y="276225"/>
                  </a:lnTo>
                  <a:lnTo>
                    <a:pt x="114300" y="219075"/>
                  </a:lnTo>
                  <a:cubicBezTo>
                    <a:pt x="114300" y="203299"/>
                    <a:pt x="127099" y="190500"/>
                    <a:pt x="142875" y="190500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F0450ECC-E1A1-AD15-04C1-6C37A0CEA5B4}"/>
                </a:ext>
              </a:extLst>
            </p:cNvPr>
            <p:cNvSpPr/>
            <p:nvPr/>
          </p:nvSpPr>
          <p:spPr>
            <a:xfrm>
              <a:off x="674762" y="2324702"/>
              <a:ext cx="1070637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Residential Load</a:t>
              </a:r>
              <a:endParaRPr lang="en-US" sz="1200" dirty="0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4DFB19EA-547C-F321-0C15-74113355DD2F}"/>
                </a:ext>
              </a:extLst>
            </p:cNvPr>
            <p:cNvSpPr/>
            <p:nvPr/>
          </p:nvSpPr>
          <p:spPr>
            <a:xfrm>
              <a:off x="1916701" y="2227772"/>
              <a:ext cx="1541717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6CB31566-7253-ADB7-2C85-2812DBCB6921}"/>
                </a:ext>
              </a:extLst>
            </p:cNvPr>
            <p:cNvSpPr/>
            <p:nvPr/>
          </p:nvSpPr>
          <p:spPr>
            <a:xfrm>
              <a:off x="2070873" y="2324702"/>
              <a:ext cx="154172" cy="29079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38100" y="0"/>
                  </a:moveTo>
                  <a:cubicBezTo>
                    <a:pt x="17085" y="0"/>
                    <a:pt x="0" y="17085"/>
                    <a:pt x="0" y="38100"/>
                  </a:cubicBezTo>
                  <a:lnTo>
                    <a:pt x="0" y="266700"/>
                  </a:lnTo>
                  <a:cubicBezTo>
                    <a:pt x="0" y="287715"/>
                    <a:pt x="17085" y="304800"/>
                    <a:pt x="38100" y="304800"/>
                  </a:cubicBezTo>
                  <a:lnTo>
                    <a:pt x="190500" y="304800"/>
                  </a:lnTo>
                  <a:cubicBezTo>
                    <a:pt x="211515" y="304800"/>
                    <a:pt x="228600" y="287715"/>
                    <a:pt x="228600" y="266700"/>
                  </a:cubicBezTo>
                  <a:lnTo>
                    <a:pt x="228600" y="38100"/>
                  </a:lnTo>
                  <a:cubicBezTo>
                    <a:pt x="228600" y="17085"/>
                    <a:pt x="211515" y="0"/>
                    <a:pt x="190500" y="0"/>
                  </a:cubicBezTo>
                  <a:lnTo>
                    <a:pt x="38100" y="0"/>
                  </a:lnTo>
                  <a:close/>
                  <a:moveTo>
                    <a:pt x="104775" y="209550"/>
                  </a:moveTo>
                  <a:lnTo>
                    <a:pt x="123825" y="209550"/>
                  </a:lnTo>
                  <a:cubicBezTo>
                    <a:pt x="134362" y="209550"/>
                    <a:pt x="142875" y="218063"/>
                    <a:pt x="142875" y="228600"/>
                  </a:cubicBezTo>
                  <a:lnTo>
                    <a:pt x="142875" y="276225"/>
                  </a:lnTo>
                  <a:lnTo>
                    <a:pt x="85725" y="276225"/>
                  </a:lnTo>
                  <a:lnTo>
                    <a:pt x="85725" y="228600"/>
                  </a:lnTo>
                  <a:cubicBezTo>
                    <a:pt x="85725" y="218063"/>
                    <a:pt x="94238" y="209550"/>
                    <a:pt x="104775" y="209550"/>
                  </a:cubicBezTo>
                  <a:close/>
                  <a:moveTo>
                    <a:pt x="57150" y="66675"/>
                  </a:moveTo>
                  <a:cubicBezTo>
                    <a:pt x="57150" y="61436"/>
                    <a:pt x="61436" y="57150"/>
                    <a:pt x="66675" y="57150"/>
                  </a:cubicBezTo>
                  <a:lnTo>
                    <a:pt x="85725" y="57150"/>
                  </a:lnTo>
                  <a:cubicBezTo>
                    <a:pt x="90964" y="57150"/>
                    <a:pt x="95250" y="61436"/>
                    <a:pt x="95250" y="66675"/>
                  </a:cubicBezTo>
                  <a:lnTo>
                    <a:pt x="95250" y="85725"/>
                  </a:lnTo>
                  <a:cubicBezTo>
                    <a:pt x="95250" y="90964"/>
                    <a:pt x="90964" y="95250"/>
                    <a:pt x="85725" y="95250"/>
                  </a:cubicBezTo>
                  <a:lnTo>
                    <a:pt x="66675" y="95250"/>
                  </a:lnTo>
                  <a:cubicBezTo>
                    <a:pt x="61436" y="95250"/>
                    <a:pt x="57150" y="90964"/>
                    <a:pt x="57150" y="85725"/>
                  </a:cubicBezTo>
                  <a:lnTo>
                    <a:pt x="57150" y="66675"/>
                  </a:lnTo>
                  <a:close/>
                  <a:moveTo>
                    <a:pt x="142875" y="57150"/>
                  </a:moveTo>
                  <a:lnTo>
                    <a:pt x="161925" y="57150"/>
                  </a:lnTo>
                  <a:cubicBezTo>
                    <a:pt x="167164" y="57150"/>
                    <a:pt x="171450" y="61436"/>
                    <a:pt x="171450" y="66675"/>
                  </a:cubicBezTo>
                  <a:lnTo>
                    <a:pt x="171450" y="85725"/>
                  </a:lnTo>
                  <a:cubicBezTo>
                    <a:pt x="171450" y="90964"/>
                    <a:pt x="167164" y="95250"/>
                    <a:pt x="161925" y="95250"/>
                  </a:cubicBezTo>
                  <a:lnTo>
                    <a:pt x="142875" y="95250"/>
                  </a:lnTo>
                  <a:cubicBezTo>
                    <a:pt x="137636" y="95250"/>
                    <a:pt x="133350" y="90964"/>
                    <a:pt x="133350" y="85725"/>
                  </a:cubicBezTo>
                  <a:lnTo>
                    <a:pt x="133350" y="66675"/>
                  </a:lnTo>
                  <a:cubicBezTo>
                    <a:pt x="133350" y="61436"/>
                    <a:pt x="137636" y="57150"/>
                    <a:pt x="142875" y="57150"/>
                  </a:cubicBezTo>
                  <a:close/>
                  <a:moveTo>
                    <a:pt x="57150" y="142875"/>
                  </a:moveTo>
                  <a:cubicBezTo>
                    <a:pt x="57150" y="137636"/>
                    <a:pt x="61436" y="133350"/>
                    <a:pt x="66675" y="133350"/>
                  </a:cubicBezTo>
                  <a:lnTo>
                    <a:pt x="85725" y="133350"/>
                  </a:lnTo>
                  <a:cubicBezTo>
                    <a:pt x="90964" y="133350"/>
                    <a:pt x="95250" y="137636"/>
                    <a:pt x="95250" y="142875"/>
                  </a:cubicBezTo>
                  <a:lnTo>
                    <a:pt x="95250" y="161925"/>
                  </a:lnTo>
                  <a:cubicBezTo>
                    <a:pt x="95250" y="167164"/>
                    <a:pt x="90964" y="171450"/>
                    <a:pt x="85725" y="171450"/>
                  </a:cubicBezTo>
                  <a:lnTo>
                    <a:pt x="66675" y="171450"/>
                  </a:lnTo>
                  <a:cubicBezTo>
                    <a:pt x="61436" y="171450"/>
                    <a:pt x="57150" y="167164"/>
                    <a:pt x="57150" y="161925"/>
                  </a:cubicBezTo>
                  <a:lnTo>
                    <a:pt x="57150" y="142875"/>
                  </a:lnTo>
                  <a:close/>
                  <a:moveTo>
                    <a:pt x="142875" y="133350"/>
                  </a:moveTo>
                  <a:lnTo>
                    <a:pt x="161925" y="133350"/>
                  </a:lnTo>
                  <a:cubicBezTo>
                    <a:pt x="167164" y="133350"/>
                    <a:pt x="171450" y="137636"/>
                    <a:pt x="171450" y="142875"/>
                  </a:cubicBezTo>
                  <a:lnTo>
                    <a:pt x="171450" y="161925"/>
                  </a:lnTo>
                  <a:cubicBezTo>
                    <a:pt x="171450" y="167164"/>
                    <a:pt x="167164" y="171450"/>
                    <a:pt x="161925" y="171450"/>
                  </a:cubicBezTo>
                  <a:lnTo>
                    <a:pt x="142875" y="171450"/>
                  </a:lnTo>
                  <a:cubicBezTo>
                    <a:pt x="137636" y="171450"/>
                    <a:pt x="133350" y="167164"/>
                    <a:pt x="133350" y="161925"/>
                  </a:cubicBezTo>
                  <a:lnTo>
                    <a:pt x="133350" y="142875"/>
                  </a:lnTo>
                  <a:cubicBezTo>
                    <a:pt x="133350" y="137636"/>
                    <a:pt x="137636" y="133350"/>
                    <a:pt x="142875" y="133350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B8FD0A8A-A9F3-5C2D-6131-85F898A18377}"/>
                </a:ext>
              </a:extLst>
            </p:cNvPr>
            <p:cNvSpPr/>
            <p:nvPr/>
          </p:nvSpPr>
          <p:spPr>
            <a:xfrm>
              <a:off x="2302131" y="2324702"/>
              <a:ext cx="1070637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Commercial Load</a:t>
              </a:r>
              <a:endParaRPr lang="en-US" sz="1200" dirty="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FA9F18A6-C98A-BA4B-674C-E95C07089D79}"/>
                </a:ext>
              </a:extLst>
            </p:cNvPr>
            <p:cNvSpPr/>
            <p:nvPr/>
          </p:nvSpPr>
          <p:spPr>
            <a:xfrm>
              <a:off x="3544070" y="2227772"/>
              <a:ext cx="1541717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1A85F073-E20C-CF54-239D-8BAE880DA5A3}"/>
                </a:ext>
              </a:extLst>
            </p:cNvPr>
            <p:cNvSpPr/>
            <p:nvPr/>
          </p:nvSpPr>
          <p:spPr>
            <a:xfrm>
              <a:off x="3672546" y="2324702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9050" y="19050"/>
                  </a:moveTo>
                  <a:cubicBezTo>
                    <a:pt x="8513" y="19050"/>
                    <a:pt x="0" y="27563"/>
                    <a:pt x="0" y="38100"/>
                  </a:cubicBezTo>
                  <a:lnTo>
                    <a:pt x="0" y="257175"/>
                  </a:lnTo>
                  <a:cubicBezTo>
                    <a:pt x="0" y="272951"/>
                    <a:pt x="12799" y="285750"/>
                    <a:pt x="28575" y="285750"/>
                  </a:cubicBezTo>
                  <a:lnTo>
                    <a:pt x="276225" y="285750"/>
                  </a:lnTo>
                  <a:cubicBezTo>
                    <a:pt x="292001" y="285750"/>
                    <a:pt x="304800" y="272951"/>
                    <a:pt x="304800" y="257175"/>
                  </a:cubicBezTo>
                  <a:lnTo>
                    <a:pt x="304800" y="90607"/>
                  </a:lnTo>
                  <a:cubicBezTo>
                    <a:pt x="304800" y="79772"/>
                    <a:pt x="293251" y="72926"/>
                    <a:pt x="283726" y="78045"/>
                  </a:cubicBezTo>
                  <a:lnTo>
                    <a:pt x="190500" y="128230"/>
                  </a:lnTo>
                  <a:lnTo>
                    <a:pt x="190500" y="90607"/>
                  </a:lnTo>
                  <a:cubicBezTo>
                    <a:pt x="190500" y="79772"/>
                    <a:pt x="178951" y="72926"/>
                    <a:pt x="169426" y="78045"/>
                  </a:cubicBezTo>
                  <a:lnTo>
                    <a:pt x="76200" y="128230"/>
                  </a:lnTo>
                  <a:lnTo>
                    <a:pt x="76200" y="38100"/>
                  </a:lnTo>
                  <a:cubicBezTo>
                    <a:pt x="76200" y="27563"/>
                    <a:pt x="67687" y="19050"/>
                    <a:pt x="57150" y="19050"/>
                  </a:cubicBezTo>
                  <a:lnTo>
                    <a:pt x="19050" y="19050"/>
                  </a:ln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876C44F3-1E49-AC50-6B7B-B37D4EA5B5BD}"/>
                </a:ext>
              </a:extLst>
            </p:cNvPr>
            <p:cNvSpPr/>
            <p:nvPr/>
          </p:nvSpPr>
          <p:spPr>
            <a:xfrm>
              <a:off x="3929499" y="2324702"/>
              <a:ext cx="1070637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Industrial Load</a:t>
              </a:r>
              <a:endParaRPr lang="en-US" sz="1200" dirty="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A8C0FDA5-F9D9-42F3-AF0F-C53630D1B2CA}"/>
                </a:ext>
              </a:extLst>
            </p:cNvPr>
            <p:cNvSpPr/>
            <p:nvPr/>
          </p:nvSpPr>
          <p:spPr>
            <a:xfrm>
              <a:off x="5171438" y="2227772"/>
              <a:ext cx="1541717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9AE90287-4750-1CC0-768C-ED2C7B32AF01}"/>
                </a:ext>
              </a:extLst>
            </p:cNvPr>
            <p:cNvSpPr/>
            <p:nvPr/>
          </p:nvSpPr>
          <p:spPr>
            <a:xfrm>
              <a:off x="5287067" y="2324702"/>
              <a:ext cx="231258" cy="29079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76200" y="38100"/>
                  </a:moveTo>
                  <a:cubicBezTo>
                    <a:pt x="76200" y="17085"/>
                    <a:pt x="93285" y="0"/>
                    <a:pt x="114300" y="0"/>
                  </a:cubicBezTo>
                  <a:lnTo>
                    <a:pt x="228600" y="0"/>
                  </a:lnTo>
                  <a:cubicBezTo>
                    <a:pt x="249615" y="0"/>
                    <a:pt x="266700" y="17085"/>
                    <a:pt x="266700" y="38100"/>
                  </a:cubicBezTo>
                  <a:lnTo>
                    <a:pt x="266700" y="76200"/>
                  </a:lnTo>
                  <a:lnTo>
                    <a:pt x="304800" y="76200"/>
                  </a:lnTo>
                  <a:cubicBezTo>
                    <a:pt x="325815" y="76200"/>
                    <a:pt x="342900" y="93285"/>
                    <a:pt x="342900" y="114300"/>
                  </a:cubicBezTo>
                  <a:lnTo>
                    <a:pt x="342900" y="266700"/>
                  </a:lnTo>
                  <a:cubicBezTo>
                    <a:pt x="342900" y="287715"/>
                    <a:pt x="325815" y="304800"/>
                    <a:pt x="304800" y="304800"/>
                  </a:cubicBezTo>
                  <a:lnTo>
                    <a:pt x="38100" y="304800"/>
                  </a:lnTo>
                  <a:cubicBezTo>
                    <a:pt x="17085" y="304800"/>
                    <a:pt x="0" y="287715"/>
                    <a:pt x="0" y="266700"/>
                  </a:cubicBezTo>
                  <a:lnTo>
                    <a:pt x="0" y="114300"/>
                  </a:lnTo>
                  <a:cubicBezTo>
                    <a:pt x="0" y="93285"/>
                    <a:pt x="17085" y="76200"/>
                    <a:pt x="38100" y="76200"/>
                  </a:cubicBezTo>
                  <a:lnTo>
                    <a:pt x="76200" y="76200"/>
                  </a:lnTo>
                  <a:lnTo>
                    <a:pt x="76200" y="38100"/>
                  </a:lnTo>
                  <a:close/>
                  <a:moveTo>
                    <a:pt x="161925" y="209550"/>
                  </a:moveTo>
                  <a:cubicBezTo>
                    <a:pt x="151388" y="209550"/>
                    <a:pt x="142875" y="218063"/>
                    <a:pt x="142875" y="228600"/>
                  </a:cubicBezTo>
                  <a:lnTo>
                    <a:pt x="142875" y="276225"/>
                  </a:lnTo>
                  <a:lnTo>
                    <a:pt x="200025" y="276225"/>
                  </a:lnTo>
                  <a:lnTo>
                    <a:pt x="200025" y="228600"/>
                  </a:lnTo>
                  <a:cubicBezTo>
                    <a:pt x="200025" y="218063"/>
                    <a:pt x="191512" y="209550"/>
                    <a:pt x="180975" y="209550"/>
                  </a:cubicBezTo>
                  <a:lnTo>
                    <a:pt x="161925" y="209550"/>
                  </a:lnTo>
                  <a:close/>
                  <a:moveTo>
                    <a:pt x="76200" y="219075"/>
                  </a:moveTo>
                  <a:lnTo>
                    <a:pt x="76200" y="200025"/>
                  </a:lnTo>
                  <a:cubicBezTo>
                    <a:pt x="76200" y="194786"/>
                    <a:pt x="71914" y="190500"/>
                    <a:pt x="66675" y="190500"/>
                  </a:cubicBezTo>
                  <a:lnTo>
                    <a:pt x="47625" y="190500"/>
                  </a:lnTo>
                  <a:cubicBezTo>
                    <a:pt x="42386" y="190500"/>
                    <a:pt x="38100" y="194786"/>
                    <a:pt x="38100" y="200025"/>
                  </a:cubicBezTo>
                  <a:lnTo>
                    <a:pt x="38100" y="219075"/>
                  </a:lnTo>
                  <a:cubicBezTo>
                    <a:pt x="38100" y="224314"/>
                    <a:pt x="42386" y="228600"/>
                    <a:pt x="47625" y="228600"/>
                  </a:cubicBezTo>
                  <a:lnTo>
                    <a:pt x="66675" y="228600"/>
                  </a:lnTo>
                  <a:cubicBezTo>
                    <a:pt x="71914" y="228600"/>
                    <a:pt x="76200" y="224314"/>
                    <a:pt x="76200" y="219075"/>
                  </a:cubicBezTo>
                  <a:close/>
                  <a:moveTo>
                    <a:pt x="66675" y="152400"/>
                  </a:moveTo>
                  <a:cubicBezTo>
                    <a:pt x="71914" y="152400"/>
                    <a:pt x="76200" y="148114"/>
                    <a:pt x="76200" y="142875"/>
                  </a:cubicBezTo>
                  <a:lnTo>
                    <a:pt x="76200" y="123825"/>
                  </a:lnTo>
                  <a:cubicBezTo>
                    <a:pt x="76200" y="118586"/>
                    <a:pt x="71914" y="114300"/>
                    <a:pt x="66675" y="114300"/>
                  </a:cubicBezTo>
                  <a:lnTo>
                    <a:pt x="47625" y="114300"/>
                  </a:lnTo>
                  <a:cubicBezTo>
                    <a:pt x="42386" y="114300"/>
                    <a:pt x="38100" y="118586"/>
                    <a:pt x="38100" y="123825"/>
                  </a:cubicBezTo>
                  <a:lnTo>
                    <a:pt x="38100" y="142875"/>
                  </a:lnTo>
                  <a:cubicBezTo>
                    <a:pt x="38100" y="148114"/>
                    <a:pt x="42386" y="152400"/>
                    <a:pt x="47625" y="152400"/>
                  </a:cubicBezTo>
                  <a:lnTo>
                    <a:pt x="66675" y="152400"/>
                  </a:lnTo>
                  <a:close/>
                  <a:moveTo>
                    <a:pt x="304800" y="219075"/>
                  </a:moveTo>
                  <a:lnTo>
                    <a:pt x="304800" y="200025"/>
                  </a:lnTo>
                  <a:cubicBezTo>
                    <a:pt x="304800" y="194786"/>
                    <a:pt x="300514" y="190500"/>
                    <a:pt x="295275" y="190500"/>
                  </a:cubicBezTo>
                  <a:lnTo>
                    <a:pt x="276225" y="190500"/>
                  </a:lnTo>
                  <a:cubicBezTo>
                    <a:pt x="270986" y="190500"/>
                    <a:pt x="266700" y="194786"/>
                    <a:pt x="266700" y="200025"/>
                  </a:cubicBezTo>
                  <a:lnTo>
                    <a:pt x="266700" y="219075"/>
                  </a:lnTo>
                  <a:cubicBezTo>
                    <a:pt x="266700" y="224314"/>
                    <a:pt x="270986" y="228600"/>
                    <a:pt x="276225" y="228600"/>
                  </a:cubicBezTo>
                  <a:lnTo>
                    <a:pt x="295275" y="228600"/>
                  </a:lnTo>
                  <a:cubicBezTo>
                    <a:pt x="300514" y="228600"/>
                    <a:pt x="304800" y="224314"/>
                    <a:pt x="304800" y="219075"/>
                  </a:cubicBezTo>
                  <a:close/>
                  <a:moveTo>
                    <a:pt x="295275" y="152400"/>
                  </a:moveTo>
                  <a:cubicBezTo>
                    <a:pt x="300514" y="152400"/>
                    <a:pt x="304800" y="148114"/>
                    <a:pt x="304800" y="142875"/>
                  </a:cubicBezTo>
                  <a:lnTo>
                    <a:pt x="304800" y="123825"/>
                  </a:lnTo>
                  <a:cubicBezTo>
                    <a:pt x="304800" y="118586"/>
                    <a:pt x="300514" y="114300"/>
                    <a:pt x="295275" y="114300"/>
                  </a:cubicBezTo>
                  <a:lnTo>
                    <a:pt x="276225" y="114300"/>
                  </a:lnTo>
                  <a:cubicBezTo>
                    <a:pt x="270986" y="114300"/>
                    <a:pt x="266700" y="118586"/>
                    <a:pt x="266700" y="123825"/>
                  </a:cubicBezTo>
                  <a:lnTo>
                    <a:pt x="266700" y="142875"/>
                  </a:lnTo>
                  <a:cubicBezTo>
                    <a:pt x="266700" y="148114"/>
                    <a:pt x="270986" y="152400"/>
                    <a:pt x="276225" y="152400"/>
                  </a:cubicBezTo>
                  <a:lnTo>
                    <a:pt x="295275" y="152400"/>
                  </a:lnTo>
                  <a:close/>
                  <a:moveTo>
                    <a:pt x="157163" y="61912"/>
                  </a:moveTo>
                  <a:lnTo>
                    <a:pt x="157163" y="80962"/>
                  </a:lnTo>
                  <a:lnTo>
                    <a:pt x="138113" y="80962"/>
                  </a:lnTo>
                  <a:cubicBezTo>
                    <a:pt x="132874" y="80962"/>
                    <a:pt x="128588" y="85249"/>
                    <a:pt x="128588" y="90488"/>
                  </a:cubicBezTo>
                  <a:lnTo>
                    <a:pt x="128588" y="100013"/>
                  </a:lnTo>
                  <a:cubicBezTo>
                    <a:pt x="128588" y="105251"/>
                    <a:pt x="132874" y="109537"/>
                    <a:pt x="138113" y="109537"/>
                  </a:cubicBezTo>
                  <a:lnTo>
                    <a:pt x="157163" y="109537"/>
                  </a:lnTo>
                  <a:lnTo>
                    <a:pt x="157163" y="128588"/>
                  </a:lnTo>
                  <a:cubicBezTo>
                    <a:pt x="157163" y="133826"/>
                    <a:pt x="161449" y="138113"/>
                    <a:pt x="166688" y="138113"/>
                  </a:cubicBezTo>
                  <a:lnTo>
                    <a:pt x="176212" y="138113"/>
                  </a:lnTo>
                  <a:cubicBezTo>
                    <a:pt x="181451" y="138113"/>
                    <a:pt x="185738" y="133826"/>
                    <a:pt x="185738" y="128588"/>
                  </a:cubicBezTo>
                  <a:lnTo>
                    <a:pt x="185738" y="109537"/>
                  </a:lnTo>
                  <a:lnTo>
                    <a:pt x="204787" y="109537"/>
                  </a:lnTo>
                  <a:cubicBezTo>
                    <a:pt x="210026" y="109537"/>
                    <a:pt x="214313" y="105251"/>
                    <a:pt x="214313" y="100013"/>
                  </a:cubicBezTo>
                  <a:lnTo>
                    <a:pt x="214313" y="90488"/>
                  </a:lnTo>
                  <a:cubicBezTo>
                    <a:pt x="214313" y="85249"/>
                    <a:pt x="210026" y="80962"/>
                    <a:pt x="204787" y="80962"/>
                  </a:cubicBezTo>
                  <a:lnTo>
                    <a:pt x="185738" y="80962"/>
                  </a:lnTo>
                  <a:lnTo>
                    <a:pt x="185738" y="61912"/>
                  </a:lnTo>
                  <a:cubicBezTo>
                    <a:pt x="185738" y="56674"/>
                    <a:pt x="181451" y="52388"/>
                    <a:pt x="176212" y="52388"/>
                  </a:cubicBezTo>
                  <a:lnTo>
                    <a:pt x="166688" y="52388"/>
                  </a:lnTo>
                  <a:cubicBezTo>
                    <a:pt x="161449" y="52388"/>
                    <a:pt x="157163" y="56674"/>
                    <a:pt x="157163" y="61912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 18">
              <a:extLst>
                <a:ext uri="{FF2B5EF4-FFF2-40B4-BE49-F238E27FC236}">
                  <a16:creationId xmlns:a16="http://schemas.microsoft.com/office/drawing/2014/main" id="{75F3C445-CEF8-CD83-5CF3-3949C4A964EA}"/>
                </a:ext>
              </a:extLst>
            </p:cNvPr>
            <p:cNvSpPr/>
            <p:nvPr/>
          </p:nvSpPr>
          <p:spPr>
            <a:xfrm>
              <a:off x="5556867" y="2324702"/>
              <a:ext cx="1070637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Critical Load</a:t>
              </a:r>
              <a:endParaRPr lang="en-US" sz="1200" dirty="0"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EA38CE4A-4890-25FC-D5B3-78E5BB2BAAB3}"/>
                </a:ext>
              </a:extLst>
            </p:cNvPr>
            <p:cNvSpPr/>
            <p:nvPr/>
          </p:nvSpPr>
          <p:spPr>
            <a:xfrm>
              <a:off x="6798807" y="2227772"/>
              <a:ext cx="1541717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9658CE35-430C-D5C1-B711-902C43C3D95F}"/>
                </a:ext>
              </a:extLst>
            </p:cNvPr>
            <p:cNvSpPr/>
            <p:nvPr/>
          </p:nvSpPr>
          <p:spPr>
            <a:xfrm>
              <a:off x="6914435" y="2324702"/>
              <a:ext cx="231258" cy="29079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72509" y="19050"/>
                  </a:moveTo>
                  <a:cubicBezTo>
                    <a:pt x="54650" y="19050"/>
                    <a:pt x="39172" y="31432"/>
                    <a:pt x="35302" y="48875"/>
                  </a:cubicBezTo>
                  <a:lnTo>
                    <a:pt x="5715" y="182225"/>
                  </a:lnTo>
                  <a:cubicBezTo>
                    <a:pt x="417" y="206038"/>
                    <a:pt x="18514" y="228600"/>
                    <a:pt x="42863" y="228600"/>
                  </a:cubicBezTo>
                  <a:lnTo>
                    <a:pt x="152460" y="228600"/>
                  </a:lnTo>
                  <a:lnTo>
                    <a:pt x="152460" y="266700"/>
                  </a:lnTo>
                  <a:lnTo>
                    <a:pt x="114360" y="266700"/>
                  </a:lnTo>
                  <a:cubicBezTo>
                    <a:pt x="103823" y="266700"/>
                    <a:pt x="95310" y="275213"/>
                    <a:pt x="95310" y="285750"/>
                  </a:cubicBezTo>
                  <a:cubicBezTo>
                    <a:pt x="95310" y="296287"/>
                    <a:pt x="103823" y="304800"/>
                    <a:pt x="114360" y="304800"/>
                  </a:cubicBezTo>
                  <a:lnTo>
                    <a:pt x="228660" y="304800"/>
                  </a:lnTo>
                  <a:cubicBezTo>
                    <a:pt x="239197" y="304800"/>
                    <a:pt x="247710" y="296287"/>
                    <a:pt x="247710" y="285750"/>
                  </a:cubicBezTo>
                  <a:cubicBezTo>
                    <a:pt x="247710" y="275213"/>
                    <a:pt x="239197" y="266700"/>
                    <a:pt x="228660" y="266700"/>
                  </a:cubicBezTo>
                  <a:lnTo>
                    <a:pt x="190560" y="266700"/>
                  </a:lnTo>
                  <a:lnTo>
                    <a:pt x="190560" y="228600"/>
                  </a:lnTo>
                  <a:lnTo>
                    <a:pt x="300157" y="228600"/>
                  </a:lnTo>
                  <a:cubicBezTo>
                    <a:pt x="324505" y="228600"/>
                    <a:pt x="342662" y="206038"/>
                    <a:pt x="337364" y="182225"/>
                  </a:cubicBezTo>
                  <a:lnTo>
                    <a:pt x="307717" y="48875"/>
                  </a:lnTo>
                  <a:cubicBezTo>
                    <a:pt x="303848" y="31432"/>
                    <a:pt x="288429" y="19050"/>
                    <a:pt x="270570" y="19050"/>
                  </a:cubicBezTo>
                  <a:lnTo>
                    <a:pt x="72509" y="19050"/>
                  </a:lnTo>
                  <a:close/>
                  <a:moveTo>
                    <a:pt x="146209" y="57150"/>
                  </a:moveTo>
                  <a:lnTo>
                    <a:pt x="196929" y="57150"/>
                  </a:lnTo>
                  <a:lnTo>
                    <a:pt x="201275" y="109537"/>
                  </a:lnTo>
                  <a:lnTo>
                    <a:pt x="141863" y="109537"/>
                  </a:lnTo>
                  <a:lnTo>
                    <a:pt x="146209" y="57150"/>
                  </a:lnTo>
                  <a:close/>
                  <a:moveTo>
                    <a:pt x="113169" y="109537"/>
                  </a:moveTo>
                  <a:lnTo>
                    <a:pt x="60900" y="109537"/>
                  </a:lnTo>
                  <a:lnTo>
                    <a:pt x="72569" y="57150"/>
                  </a:lnTo>
                  <a:lnTo>
                    <a:pt x="117574" y="57150"/>
                  </a:lnTo>
                  <a:lnTo>
                    <a:pt x="113228" y="109537"/>
                  </a:lnTo>
                  <a:close/>
                  <a:moveTo>
                    <a:pt x="54531" y="138113"/>
                  </a:moveTo>
                  <a:lnTo>
                    <a:pt x="110788" y="138113"/>
                  </a:lnTo>
                  <a:lnTo>
                    <a:pt x="106442" y="190500"/>
                  </a:lnTo>
                  <a:lnTo>
                    <a:pt x="42922" y="190500"/>
                  </a:lnTo>
                  <a:lnTo>
                    <a:pt x="54590" y="138113"/>
                  </a:lnTo>
                  <a:close/>
                  <a:moveTo>
                    <a:pt x="139422" y="138113"/>
                  </a:moveTo>
                  <a:lnTo>
                    <a:pt x="203597" y="138113"/>
                  </a:lnTo>
                  <a:lnTo>
                    <a:pt x="207943" y="190500"/>
                  </a:lnTo>
                  <a:lnTo>
                    <a:pt x="135017" y="190500"/>
                  </a:lnTo>
                  <a:lnTo>
                    <a:pt x="139363" y="138113"/>
                  </a:lnTo>
                  <a:close/>
                  <a:moveTo>
                    <a:pt x="232291" y="138113"/>
                  </a:moveTo>
                  <a:lnTo>
                    <a:pt x="288548" y="138113"/>
                  </a:lnTo>
                  <a:lnTo>
                    <a:pt x="300216" y="190500"/>
                  </a:lnTo>
                  <a:lnTo>
                    <a:pt x="236696" y="190500"/>
                  </a:lnTo>
                  <a:lnTo>
                    <a:pt x="232350" y="138113"/>
                  </a:lnTo>
                  <a:close/>
                  <a:moveTo>
                    <a:pt x="282178" y="109537"/>
                  </a:moveTo>
                  <a:lnTo>
                    <a:pt x="229910" y="109537"/>
                  </a:lnTo>
                  <a:lnTo>
                    <a:pt x="225564" y="57150"/>
                  </a:lnTo>
                  <a:lnTo>
                    <a:pt x="270570" y="57150"/>
                  </a:lnTo>
                  <a:lnTo>
                    <a:pt x="282238" y="109537"/>
                  </a:ln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 21">
              <a:extLst>
                <a:ext uri="{FF2B5EF4-FFF2-40B4-BE49-F238E27FC236}">
                  <a16:creationId xmlns:a16="http://schemas.microsoft.com/office/drawing/2014/main" id="{27E66BC9-E40F-672F-85BC-9B4B6E35281E}"/>
                </a:ext>
              </a:extLst>
            </p:cNvPr>
            <p:cNvSpPr/>
            <p:nvPr/>
          </p:nvSpPr>
          <p:spPr>
            <a:xfrm>
              <a:off x="7184236" y="2324702"/>
              <a:ext cx="1070637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Solar Gen</a:t>
              </a:r>
              <a:endParaRPr lang="en-US" sz="1200" dirty="0"/>
            </a:p>
          </p:txBody>
        </p:sp>
        <p:sp>
          <p:nvSpPr>
            <p:cNvPr id="20" name="Shape 22">
              <a:extLst>
                <a:ext uri="{FF2B5EF4-FFF2-40B4-BE49-F238E27FC236}">
                  <a16:creationId xmlns:a16="http://schemas.microsoft.com/office/drawing/2014/main" id="{095B5AA8-EDBF-FEE3-6117-03D170DA7699}"/>
                </a:ext>
              </a:extLst>
            </p:cNvPr>
            <p:cNvSpPr/>
            <p:nvPr/>
          </p:nvSpPr>
          <p:spPr>
            <a:xfrm>
              <a:off x="8426175" y="2227772"/>
              <a:ext cx="1798670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18F7E94F-68B6-B8C2-F3C5-CE764E92675C}"/>
                </a:ext>
              </a:extLst>
            </p:cNvPr>
            <p:cNvSpPr/>
            <p:nvPr/>
          </p:nvSpPr>
          <p:spPr>
            <a:xfrm>
              <a:off x="8554651" y="2324702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95250" y="85725"/>
                  </a:moveTo>
                  <a:cubicBezTo>
                    <a:pt x="95250" y="38398"/>
                    <a:pt x="133648" y="0"/>
                    <a:pt x="180975" y="0"/>
                  </a:cubicBezTo>
                  <a:cubicBezTo>
                    <a:pt x="186214" y="0"/>
                    <a:pt x="190500" y="4286"/>
                    <a:pt x="190500" y="9525"/>
                  </a:cubicBezTo>
                  <a:lnTo>
                    <a:pt x="190500" y="100132"/>
                  </a:lnTo>
                  <a:cubicBezTo>
                    <a:pt x="199430" y="96976"/>
                    <a:pt x="209074" y="95250"/>
                    <a:pt x="219075" y="95250"/>
                  </a:cubicBezTo>
                  <a:cubicBezTo>
                    <a:pt x="266402" y="95250"/>
                    <a:pt x="304800" y="133648"/>
                    <a:pt x="304800" y="180975"/>
                  </a:cubicBezTo>
                  <a:cubicBezTo>
                    <a:pt x="304800" y="186214"/>
                    <a:pt x="300514" y="190500"/>
                    <a:pt x="295275" y="190500"/>
                  </a:cubicBezTo>
                  <a:lnTo>
                    <a:pt x="204668" y="190500"/>
                  </a:lnTo>
                  <a:cubicBezTo>
                    <a:pt x="207824" y="199430"/>
                    <a:pt x="209550" y="209074"/>
                    <a:pt x="209550" y="219075"/>
                  </a:cubicBezTo>
                  <a:cubicBezTo>
                    <a:pt x="209550" y="266402"/>
                    <a:pt x="171152" y="304800"/>
                    <a:pt x="123825" y="304800"/>
                  </a:cubicBezTo>
                  <a:cubicBezTo>
                    <a:pt x="118586" y="304800"/>
                    <a:pt x="114300" y="300514"/>
                    <a:pt x="114300" y="295275"/>
                  </a:cubicBezTo>
                  <a:lnTo>
                    <a:pt x="114300" y="204668"/>
                  </a:lnTo>
                  <a:cubicBezTo>
                    <a:pt x="105370" y="207824"/>
                    <a:pt x="95726" y="209550"/>
                    <a:pt x="85725" y="209550"/>
                  </a:cubicBezTo>
                  <a:cubicBezTo>
                    <a:pt x="38398" y="209550"/>
                    <a:pt x="0" y="171152"/>
                    <a:pt x="0" y="123825"/>
                  </a:cubicBezTo>
                  <a:cubicBezTo>
                    <a:pt x="0" y="118586"/>
                    <a:pt x="4286" y="114300"/>
                    <a:pt x="9525" y="114300"/>
                  </a:cubicBezTo>
                  <a:lnTo>
                    <a:pt x="100132" y="114300"/>
                  </a:lnTo>
                  <a:cubicBezTo>
                    <a:pt x="96976" y="105370"/>
                    <a:pt x="95250" y="95726"/>
                    <a:pt x="95250" y="85725"/>
                  </a:cubicBezTo>
                  <a:close/>
                  <a:moveTo>
                    <a:pt x="152400" y="171450"/>
                  </a:moveTo>
                  <a:cubicBezTo>
                    <a:pt x="162914" y="171450"/>
                    <a:pt x="171450" y="162914"/>
                    <a:pt x="171450" y="152400"/>
                  </a:cubicBezTo>
                  <a:cubicBezTo>
                    <a:pt x="171450" y="141886"/>
                    <a:pt x="162914" y="133350"/>
                    <a:pt x="152400" y="133350"/>
                  </a:cubicBezTo>
                  <a:cubicBezTo>
                    <a:pt x="141886" y="133350"/>
                    <a:pt x="133350" y="141886"/>
                    <a:pt x="133350" y="152400"/>
                  </a:cubicBezTo>
                  <a:cubicBezTo>
                    <a:pt x="133350" y="162914"/>
                    <a:pt x="141886" y="171450"/>
                    <a:pt x="152400" y="171450"/>
                  </a:cubicBezTo>
                  <a:close/>
                </a:path>
              </a:pathLst>
            </a:cu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0EB08509-DE2A-11A1-8A2C-48F1B723EB96}"/>
                </a:ext>
              </a:extLst>
            </p:cNvPr>
            <p:cNvSpPr/>
            <p:nvPr/>
          </p:nvSpPr>
          <p:spPr>
            <a:xfrm>
              <a:off x="8811604" y="2324702"/>
              <a:ext cx="1327590" cy="2907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Wind Generation</a:t>
              </a:r>
              <a:endParaRPr lang="en-US" sz="1200" dirty="0"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BF489EBA-251E-5E56-6631-5EE5FEC6B276}"/>
                </a:ext>
              </a:extLst>
            </p:cNvPr>
            <p:cNvSpPr/>
            <p:nvPr/>
          </p:nvSpPr>
          <p:spPr>
            <a:xfrm>
              <a:off x="3544070" y="3439399"/>
              <a:ext cx="3426039" cy="1211626"/>
            </a:xfrm>
            <a:prstGeom prst="rect">
              <a:avLst/>
            </a:prstGeom>
            <a:solidFill>
              <a:srgbClr val="1B4D4D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8B7F0CC2-6A64-1E1B-24A3-93C8FF5E7FAB}"/>
                </a:ext>
              </a:extLst>
            </p:cNvPr>
            <p:cNvSpPr/>
            <p:nvPr/>
          </p:nvSpPr>
          <p:spPr>
            <a:xfrm>
              <a:off x="3758197" y="3621142"/>
              <a:ext cx="342604" cy="484651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174625" y="23812"/>
                  </a:moveTo>
                  <a:cubicBezTo>
                    <a:pt x="174625" y="10616"/>
                    <a:pt x="164009" y="0"/>
                    <a:pt x="150813" y="0"/>
                  </a:cubicBezTo>
                  <a:cubicBezTo>
                    <a:pt x="137616" y="0"/>
                    <a:pt x="127000" y="10616"/>
                    <a:pt x="127000" y="23812"/>
                  </a:cubicBezTo>
                  <a:lnTo>
                    <a:pt x="127000" y="63500"/>
                  </a:lnTo>
                  <a:cubicBezTo>
                    <a:pt x="91976" y="63500"/>
                    <a:pt x="63500" y="91976"/>
                    <a:pt x="63500" y="127000"/>
                  </a:cubicBezTo>
                  <a:lnTo>
                    <a:pt x="23812" y="127000"/>
                  </a:lnTo>
                  <a:cubicBezTo>
                    <a:pt x="10616" y="127000"/>
                    <a:pt x="0" y="137616"/>
                    <a:pt x="0" y="150813"/>
                  </a:cubicBezTo>
                  <a:cubicBezTo>
                    <a:pt x="0" y="164009"/>
                    <a:pt x="10616" y="174625"/>
                    <a:pt x="23812" y="174625"/>
                  </a:cubicBezTo>
                  <a:lnTo>
                    <a:pt x="63500" y="174625"/>
                  </a:lnTo>
                  <a:lnTo>
                    <a:pt x="63500" y="230188"/>
                  </a:lnTo>
                  <a:lnTo>
                    <a:pt x="23812" y="230188"/>
                  </a:lnTo>
                  <a:cubicBezTo>
                    <a:pt x="10616" y="230188"/>
                    <a:pt x="0" y="240804"/>
                    <a:pt x="0" y="254000"/>
                  </a:cubicBezTo>
                  <a:cubicBezTo>
                    <a:pt x="0" y="267196"/>
                    <a:pt x="10616" y="277813"/>
                    <a:pt x="23812" y="277813"/>
                  </a:cubicBezTo>
                  <a:lnTo>
                    <a:pt x="63500" y="277813"/>
                  </a:lnTo>
                  <a:lnTo>
                    <a:pt x="63500" y="333375"/>
                  </a:lnTo>
                  <a:lnTo>
                    <a:pt x="23812" y="333375"/>
                  </a:lnTo>
                  <a:cubicBezTo>
                    <a:pt x="10616" y="333375"/>
                    <a:pt x="0" y="343991"/>
                    <a:pt x="0" y="357188"/>
                  </a:cubicBezTo>
                  <a:cubicBezTo>
                    <a:pt x="0" y="370384"/>
                    <a:pt x="10616" y="381000"/>
                    <a:pt x="23812" y="381000"/>
                  </a:cubicBezTo>
                  <a:lnTo>
                    <a:pt x="63500" y="381000"/>
                  </a:lnTo>
                  <a:cubicBezTo>
                    <a:pt x="63500" y="416024"/>
                    <a:pt x="91976" y="444500"/>
                    <a:pt x="127000" y="444500"/>
                  </a:cubicBezTo>
                  <a:lnTo>
                    <a:pt x="127000" y="484187"/>
                  </a:lnTo>
                  <a:cubicBezTo>
                    <a:pt x="127000" y="497384"/>
                    <a:pt x="137616" y="508000"/>
                    <a:pt x="150813" y="508000"/>
                  </a:cubicBezTo>
                  <a:cubicBezTo>
                    <a:pt x="164009" y="508000"/>
                    <a:pt x="174625" y="497384"/>
                    <a:pt x="174625" y="484187"/>
                  </a:cubicBezTo>
                  <a:lnTo>
                    <a:pt x="174625" y="444500"/>
                  </a:lnTo>
                  <a:lnTo>
                    <a:pt x="230188" y="444500"/>
                  </a:lnTo>
                  <a:lnTo>
                    <a:pt x="230188" y="484187"/>
                  </a:lnTo>
                  <a:cubicBezTo>
                    <a:pt x="230188" y="497384"/>
                    <a:pt x="240804" y="508000"/>
                    <a:pt x="254000" y="508000"/>
                  </a:cubicBezTo>
                  <a:cubicBezTo>
                    <a:pt x="267196" y="508000"/>
                    <a:pt x="277813" y="497384"/>
                    <a:pt x="277813" y="484187"/>
                  </a:cubicBezTo>
                  <a:lnTo>
                    <a:pt x="277813" y="444500"/>
                  </a:lnTo>
                  <a:lnTo>
                    <a:pt x="333375" y="444500"/>
                  </a:lnTo>
                  <a:lnTo>
                    <a:pt x="333375" y="484187"/>
                  </a:lnTo>
                  <a:cubicBezTo>
                    <a:pt x="333375" y="497384"/>
                    <a:pt x="343991" y="508000"/>
                    <a:pt x="357188" y="508000"/>
                  </a:cubicBezTo>
                  <a:cubicBezTo>
                    <a:pt x="370384" y="508000"/>
                    <a:pt x="381000" y="497384"/>
                    <a:pt x="381000" y="484187"/>
                  </a:cubicBezTo>
                  <a:lnTo>
                    <a:pt x="381000" y="444500"/>
                  </a:lnTo>
                  <a:cubicBezTo>
                    <a:pt x="416024" y="444500"/>
                    <a:pt x="444500" y="416024"/>
                    <a:pt x="444500" y="381000"/>
                  </a:cubicBezTo>
                  <a:lnTo>
                    <a:pt x="484187" y="381000"/>
                  </a:lnTo>
                  <a:cubicBezTo>
                    <a:pt x="497384" y="381000"/>
                    <a:pt x="508000" y="370384"/>
                    <a:pt x="508000" y="357188"/>
                  </a:cubicBezTo>
                  <a:cubicBezTo>
                    <a:pt x="508000" y="343991"/>
                    <a:pt x="497384" y="333375"/>
                    <a:pt x="484187" y="333375"/>
                  </a:cubicBezTo>
                  <a:lnTo>
                    <a:pt x="444500" y="333375"/>
                  </a:lnTo>
                  <a:lnTo>
                    <a:pt x="444500" y="277813"/>
                  </a:lnTo>
                  <a:lnTo>
                    <a:pt x="484187" y="277813"/>
                  </a:lnTo>
                  <a:cubicBezTo>
                    <a:pt x="497384" y="277813"/>
                    <a:pt x="508000" y="267196"/>
                    <a:pt x="508000" y="254000"/>
                  </a:cubicBezTo>
                  <a:cubicBezTo>
                    <a:pt x="508000" y="240804"/>
                    <a:pt x="497384" y="230188"/>
                    <a:pt x="484187" y="230188"/>
                  </a:cubicBezTo>
                  <a:lnTo>
                    <a:pt x="444500" y="230188"/>
                  </a:lnTo>
                  <a:lnTo>
                    <a:pt x="444500" y="174625"/>
                  </a:lnTo>
                  <a:lnTo>
                    <a:pt x="484187" y="174625"/>
                  </a:lnTo>
                  <a:cubicBezTo>
                    <a:pt x="497384" y="174625"/>
                    <a:pt x="508000" y="164009"/>
                    <a:pt x="508000" y="150813"/>
                  </a:cubicBezTo>
                  <a:cubicBezTo>
                    <a:pt x="508000" y="137616"/>
                    <a:pt x="497384" y="127000"/>
                    <a:pt x="484187" y="127000"/>
                  </a:cubicBezTo>
                  <a:lnTo>
                    <a:pt x="444500" y="127000"/>
                  </a:lnTo>
                  <a:cubicBezTo>
                    <a:pt x="444500" y="91976"/>
                    <a:pt x="416024" y="63500"/>
                    <a:pt x="381000" y="63500"/>
                  </a:cubicBezTo>
                  <a:lnTo>
                    <a:pt x="381000" y="23812"/>
                  </a:lnTo>
                  <a:cubicBezTo>
                    <a:pt x="381000" y="10616"/>
                    <a:pt x="370384" y="0"/>
                    <a:pt x="357188" y="0"/>
                  </a:cubicBezTo>
                  <a:cubicBezTo>
                    <a:pt x="343991" y="0"/>
                    <a:pt x="333375" y="10616"/>
                    <a:pt x="333375" y="23812"/>
                  </a:cubicBezTo>
                  <a:lnTo>
                    <a:pt x="333375" y="63500"/>
                  </a:lnTo>
                  <a:lnTo>
                    <a:pt x="277813" y="63500"/>
                  </a:lnTo>
                  <a:lnTo>
                    <a:pt x="277813" y="23812"/>
                  </a:lnTo>
                  <a:cubicBezTo>
                    <a:pt x="277813" y="10616"/>
                    <a:pt x="267196" y="0"/>
                    <a:pt x="254000" y="0"/>
                  </a:cubicBezTo>
                  <a:cubicBezTo>
                    <a:pt x="240804" y="0"/>
                    <a:pt x="230188" y="10616"/>
                    <a:pt x="230188" y="23812"/>
                  </a:cubicBezTo>
                  <a:lnTo>
                    <a:pt x="230188" y="63500"/>
                  </a:lnTo>
                  <a:lnTo>
                    <a:pt x="174625" y="63500"/>
                  </a:lnTo>
                  <a:lnTo>
                    <a:pt x="174625" y="23812"/>
                  </a:lnTo>
                  <a:close/>
                  <a:moveTo>
                    <a:pt x="158750" y="127000"/>
                  </a:moveTo>
                  <a:lnTo>
                    <a:pt x="349250" y="127000"/>
                  </a:lnTo>
                  <a:cubicBezTo>
                    <a:pt x="366812" y="127000"/>
                    <a:pt x="381000" y="141188"/>
                    <a:pt x="381000" y="158750"/>
                  </a:cubicBezTo>
                  <a:lnTo>
                    <a:pt x="381000" y="349250"/>
                  </a:lnTo>
                  <a:cubicBezTo>
                    <a:pt x="381000" y="366812"/>
                    <a:pt x="366812" y="381000"/>
                    <a:pt x="349250" y="381000"/>
                  </a:cubicBezTo>
                  <a:lnTo>
                    <a:pt x="158750" y="381000"/>
                  </a:lnTo>
                  <a:cubicBezTo>
                    <a:pt x="141188" y="381000"/>
                    <a:pt x="127000" y="366812"/>
                    <a:pt x="127000" y="349250"/>
                  </a:cubicBezTo>
                  <a:lnTo>
                    <a:pt x="127000" y="158750"/>
                  </a:lnTo>
                  <a:cubicBezTo>
                    <a:pt x="127000" y="141188"/>
                    <a:pt x="141188" y="127000"/>
                    <a:pt x="158750" y="127000"/>
                  </a:cubicBezTo>
                  <a:close/>
                  <a:moveTo>
                    <a:pt x="174625" y="174625"/>
                  </a:moveTo>
                  <a:lnTo>
                    <a:pt x="174625" y="333375"/>
                  </a:lnTo>
                  <a:lnTo>
                    <a:pt x="333375" y="333375"/>
                  </a:lnTo>
                  <a:lnTo>
                    <a:pt x="333375" y="174625"/>
                  </a:lnTo>
                  <a:lnTo>
                    <a:pt x="174625" y="174625"/>
                  </a:ln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891E0C1A-5690-317D-FD7F-98764E364ED8}"/>
                </a:ext>
              </a:extLst>
            </p:cNvPr>
            <p:cNvSpPr/>
            <p:nvPr/>
          </p:nvSpPr>
          <p:spPr>
            <a:xfrm>
              <a:off x="4229277" y="3499980"/>
              <a:ext cx="2569529" cy="1090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OpenDSS Engine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Power Flow Solver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Physics-Based Validation</a:t>
              </a:r>
              <a:endParaRPr lang="en-US" sz="12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891F4AF5-B58A-3378-E681-2D24FA4AA7A2}"/>
                </a:ext>
              </a:extLst>
            </p:cNvPr>
            <p:cNvSpPr/>
            <p:nvPr/>
          </p:nvSpPr>
          <p:spPr>
            <a:xfrm>
              <a:off x="5257089" y="3075911"/>
              <a:ext cx="0" cy="363488"/>
            </a:xfrm>
            <a:prstGeom prst="straightConnector1">
              <a:avLst/>
            </a:prstGeom>
            <a:noFill/>
            <a:ln w="25400">
              <a:solidFill>
                <a:srgbClr val="6B8E8E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0735ACB6-C8A6-D02C-5CFD-FCB01CB0F209}"/>
                </a:ext>
              </a:extLst>
            </p:cNvPr>
            <p:cNvSpPr/>
            <p:nvPr/>
          </p:nvSpPr>
          <p:spPr>
            <a:xfrm>
              <a:off x="5257089" y="4651025"/>
              <a:ext cx="0" cy="363488"/>
            </a:xfrm>
            <a:prstGeom prst="straightConnector1">
              <a:avLst/>
            </a:prstGeom>
            <a:noFill/>
            <a:ln w="25400">
              <a:solidFill>
                <a:srgbClr val="6B8E8E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C143BB9A-08E9-D822-4E83-9A23555F8566}"/>
                </a:ext>
              </a:extLst>
            </p:cNvPr>
            <p:cNvSpPr/>
            <p:nvPr/>
          </p:nvSpPr>
          <p:spPr>
            <a:xfrm>
              <a:off x="289333" y="4893350"/>
              <a:ext cx="2569529" cy="339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b="1" dirty="0">
                  <a:solidFill>
                    <a:srgbClr val="1B4D4D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Outputs from OpenDSS</a:t>
              </a:r>
              <a:endParaRPr lang="en-US" sz="1200" dirty="0"/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B0AEF666-B0F1-F6F0-988D-B45D3F10D6D5}"/>
                </a:ext>
              </a:extLst>
            </p:cNvPr>
            <p:cNvSpPr/>
            <p:nvPr/>
          </p:nvSpPr>
          <p:spPr>
            <a:xfrm>
              <a:off x="289333" y="5378001"/>
              <a:ext cx="2312576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Shape 34">
              <a:extLst>
                <a:ext uri="{FF2B5EF4-FFF2-40B4-BE49-F238E27FC236}">
                  <a16:creationId xmlns:a16="http://schemas.microsoft.com/office/drawing/2014/main" id="{C3CA2DD4-5B2B-F187-4FAA-254FDB5DE067}"/>
                </a:ext>
              </a:extLst>
            </p:cNvPr>
            <p:cNvSpPr/>
            <p:nvPr/>
          </p:nvSpPr>
          <p:spPr>
            <a:xfrm>
              <a:off x="430657" y="5499163"/>
              <a:ext cx="179867" cy="29079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01692" y="-5894"/>
                  </a:moveTo>
                  <a:cubicBezTo>
                    <a:pt x="208776" y="-774"/>
                    <a:pt x="211395" y="8513"/>
                    <a:pt x="208181" y="16609"/>
                  </a:cubicBezTo>
                  <a:lnTo>
                    <a:pt x="161508" y="133350"/>
                  </a:lnTo>
                  <a:lnTo>
                    <a:pt x="247650" y="133350"/>
                  </a:lnTo>
                  <a:cubicBezTo>
                    <a:pt x="255687" y="133350"/>
                    <a:pt x="262830" y="138351"/>
                    <a:pt x="265569" y="145911"/>
                  </a:cubicBezTo>
                  <a:cubicBezTo>
                    <a:pt x="268307" y="153472"/>
                    <a:pt x="265986" y="161925"/>
                    <a:pt x="259854" y="167045"/>
                  </a:cubicBezTo>
                  <a:lnTo>
                    <a:pt x="88404" y="309920"/>
                  </a:lnTo>
                  <a:cubicBezTo>
                    <a:pt x="81677" y="315516"/>
                    <a:pt x="72092" y="315813"/>
                    <a:pt x="65008" y="310694"/>
                  </a:cubicBezTo>
                  <a:cubicBezTo>
                    <a:pt x="57924" y="305574"/>
                    <a:pt x="55305" y="296287"/>
                    <a:pt x="58519" y="288191"/>
                  </a:cubicBezTo>
                  <a:lnTo>
                    <a:pt x="105192" y="171450"/>
                  </a:lnTo>
                  <a:lnTo>
                    <a:pt x="19050" y="171450"/>
                  </a:lnTo>
                  <a:cubicBezTo>
                    <a:pt x="11013" y="171450"/>
                    <a:pt x="3870" y="166449"/>
                    <a:pt x="1131" y="158889"/>
                  </a:cubicBezTo>
                  <a:cubicBezTo>
                    <a:pt x="-1607" y="151328"/>
                    <a:pt x="714" y="142875"/>
                    <a:pt x="6846" y="137755"/>
                  </a:cubicBezTo>
                  <a:lnTo>
                    <a:pt x="178296" y="-5120"/>
                  </a:lnTo>
                  <a:cubicBezTo>
                    <a:pt x="185023" y="-10716"/>
                    <a:pt x="194608" y="-11013"/>
                    <a:pt x="201692" y="-5894"/>
                  </a:cubicBezTo>
                  <a:close/>
                </a:path>
              </a:pathLst>
            </a:custGeom>
            <a:solidFill>
              <a:srgbClr val="4A7C7C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3" name="Text 35">
              <a:extLst>
                <a:ext uri="{FF2B5EF4-FFF2-40B4-BE49-F238E27FC236}">
                  <a16:creationId xmlns:a16="http://schemas.microsoft.com/office/drawing/2014/main" id="{63EC0BBA-F494-DA10-CEDF-1A84AB7E1EAE}"/>
                </a:ext>
              </a:extLst>
            </p:cNvPr>
            <p:cNvSpPr/>
            <p:nvPr/>
          </p:nvSpPr>
          <p:spPr>
            <a:xfrm>
              <a:off x="717588" y="5499163"/>
              <a:ext cx="1755845" cy="6058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Bus Voltages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Line Currents &amp; Loading</a:t>
              </a:r>
              <a:endParaRPr lang="en-US" sz="1200" dirty="0"/>
            </a:p>
          </p:txBody>
        </p:sp>
        <p:sp>
          <p:nvSpPr>
            <p:cNvPr id="34" name="Shape 36">
              <a:extLst>
                <a:ext uri="{FF2B5EF4-FFF2-40B4-BE49-F238E27FC236}">
                  <a16:creationId xmlns:a16="http://schemas.microsoft.com/office/drawing/2014/main" id="{7CF368F9-1EBC-A13C-4A8E-57CFDA4BC0E3}"/>
                </a:ext>
              </a:extLst>
            </p:cNvPr>
            <p:cNvSpPr/>
            <p:nvPr/>
          </p:nvSpPr>
          <p:spPr>
            <a:xfrm>
              <a:off x="2773211" y="5378001"/>
              <a:ext cx="2312576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0AD21039-F33B-03A8-000F-C64CFFFBEAF9}"/>
                </a:ext>
              </a:extLst>
            </p:cNvPr>
            <p:cNvSpPr/>
            <p:nvPr/>
          </p:nvSpPr>
          <p:spPr>
            <a:xfrm>
              <a:off x="2901688" y="5499163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38100"/>
                  </a:moveTo>
                  <a:cubicBezTo>
                    <a:pt x="38100" y="27563"/>
                    <a:pt x="29587" y="19050"/>
                    <a:pt x="19050" y="19050"/>
                  </a:cubicBezTo>
                  <a:cubicBezTo>
                    <a:pt x="8513" y="19050"/>
                    <a:pt x="0" y="27563"/>
                    <a:pt x="0" y="38100"/>
                  </a:cubicBezTo>
                  <a:lnTo>
                    <a:pt x="0" y="238125"/>
                  </a:lnTo>
                  <a:cubicBezTo>
                    <a:pt x="0" y="264438"/>
                    <a:pt x="21312" y="285750"/>
                    <a:pt x="47625" y="285750"/>
                  </a:cubicBezTo>
                  <a:lnTo>
                    <a:pt x="285750" y="285750"/>
                  </a:lnTo>
                  <a:cubicBezTo>
                    <a:pt x="296287" y="285750"/>
                    <a:pt x="304800" y="277237"/>
                    <a:pt x="304800" y="266700"/>
                  </a:cubicBezTo>
                  <a:cubicBezTo>
                    <a:pt x="304800" y="256163"/>
                    <a:pt x="296287" y="247650"/>
                    <a:pt x="285750" y="247650"/>
                  </a:cubicBezTo>
                  <a:lnTo>
                    <a:pt x="47625" y="247650"/>
                  </a:lnTo>
                  <a:cubicBezTo>
                    <a:pt x="42386" y="247650"/>
                    <a:pt x="38100" y="243364"/>
                    <a:pt x="38100" y="238125"/>
                  </a:cubicBezTo>
                  <a:lnTo>
                    <a:pt x="38100" y="38100"/>
                  </a:lnTo>
                  <a:close/>
                  <a:moveTo>
                    <a:pt x="280154" y="89654"/>
                  </a:moveTo>
                  <a:cubicBezTo>
                    <a:pt x="287595" y="82213"/>
                    <a:pt x="287595" y="70128"/>
                    <a:pt x="280154" y="62686"/>
                  </a:cubicBezTo>
                  <a:cubicBezTo>
                    <a:pt x="272713" y="55245"/>
                    <a:pt x="260628" y="55245"/>
                    <a:pt x="253186" y="62686"/>
                  </a:cubicBezTo>
                  <a:lnTo>
                    <a:pt x="190500" y="125432"/>
                  </a:lnTo>
                  <a:lnTo>
                    <a:pt x="156329" y="91321"/>
                  </a:lnTo>
                  <a:cubicBezTo>
                    <a:pt x="148888" y="83880"/>
                    <a:pt x="136803" y="83880"/>
                    <a:pt x="129361" y="91321"/>
                  </a:cubicBezTo>
                  <a:lnTo>
                    <a:pt x="72211" y="148471"/>
                  </a:lnTo>
                  <a:cubicBezTo>
                    <a:pt x="64770" y="155912"/>
                    <a:pt x="64770" y="167997"/>
                    <a:pt x="72211" y="175439"/>
                  </a:cubicBezTo>
                  <a:cubicBezTo>
                    <a:pt x="79653" y="182880"/>
                    <a:pt x="91738" y="182880"/>
                    <a:pt x="99179" y="175439"/>
                  </a:cubicBezTo>
                  <a:lnTo>
                    <a:pt x="142875" y="131743"/>
                  </a:lnTo>
                  <a:lnTo>
                    <a:pt x="177046" y="165914"/>
                  </a:lnTo>
                  <a:cubicBezTo>
                    <a:pt x="184487" y="173355"/>
                    <a:pt x="196572" y="173355"/>
                    <a:pt x="204014" y="165914"/>
                  </a:cubicBezTo>
                  <a:lnTo>
                    <a:pt x="280214" y="89714"/>
                  </a:lnTo>
                  <a:close/>
                </a:path>
              </a:pathLst>
            </a:custGeom>
            <a:solidFill>
              <a:srgbClr val="4A7C7C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B0FCAE1B-7828-8B2F-7A3E-E962BFCE883D}"/>
                </a:ext>
              </a:extLst>
            </p:cNvPr>
            <p:cNvSpPr/>
            <p:nvPr/>
          </p:nvSpPr>
          <p:spPr>
            <a:xfrm>
              <a:off x="3201466" y="5499163"/>
              <a:ext cx="1755845" cy="6058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Feeder Power Losses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Grid Import / Export</a:t>
              </a:r>
              <a:endParaRPr lang="en-US" sz="1200" dirty="0"/>
            </a:p>
          </p:txBody>
        </p:sp>
        <p:sp>
          <p:nvSpPr>
            <p:cNvPr id="37" name="Shape 39">
              <a:extLst>
                <a:ext uri="{FF2B5EF4-FFF2-40B4-BE49-F238E27FC236}">
                  <a16:creationId xmlns:a16="http://schemas.microsoft.com/office/drawing/2014/main" id="{152E4027-0BAC-B86D-1164-B66E317EA38B}"/>
                </a:ext>
              </a:extLst>
            </p:cNvPr>
            <p:cNvSpPr/>
            <p:nvPr/>
          </p:nvSpPr>
          <p:spPr>
            <a:xfrm>
              <a:off x="5257089" y="5378001"/>
              <a:ext cx="2312576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Shape 40">
              <a:extLst>
                <a:ext uri="{FF2B5EF4-FFF2-40B4-BE49-F238E27FC236}">
                  <a16:creationId xmlns:a16="http://schemas.microsoft.com/office/drawing/2014/main" id="{AE7D0D2D-BC3A-E468-A04E-5E14B75A75C4}"/>
                </a:ext>
              </a:extLst>
            </p:cNvPr>
            <p:cNvSpPr/>
            <p:nvPr/>
          </p:nvSpPr>
          <p:spPr>
            <a:xfrm>
              <a:off x="5385566" y="5499163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cubicBezTo>
                    <a:pt x="161151" y="0"/>
                    <a:pt x="169188" y="4822"/>
                    <a:pt x="173355" y="12502"/>
                  </a:cubicBezTo>
                  <a:lnTo>
                    <a:pt x="301943" y="250627"/>
                  </a:lnTo>
                  <a:cubicBezTo>
                    <a:pt x="305931" y="258008"/>
                    <a:pt x="305753" y="266938"/>
                    <a:pt x="301466" y="274141"/>
                  </a:cubicBezTo>
                  <a:cubicBezTo>
                    <a:pt x="297180" y="281345"/>
                    <a:pt x="289381" y="285750"/>
                    <a:pt x="280987" y="285750"/>
                  </a:cubicBezTo>
                  <a:lnTo>
                    <a:pt x="23813" y="285750"/>
                  </a:lnTo>
                  <a:cubicBezTo>
                    <a:pt x="15419" y="285750"/>
                    <a:pt x="7680" y="281345"/>
                    <a:pt x="3334" y="274141"/>
                  </a:cubicBezTo>
                  <a:cubicBezTo>
                    <a:pt x="-1012" y="266938"/>
                    <a:pt x="-1131" y="258008"/>
                    <a:pt x="2858" y="250627"/>
                  </a:cubicBezTo>
                  <a:lnTo>
                    <a:pt x="131445" y="12502"/>
                  </a:lnTo>
                  <a:cubicBezTo>
                    <a:pt x="135612" y="4822"/>
                    <a:pt x="143649" y="0"/>
                    <a:pt x="152400" y="0"/>
                  </a:cubicBezTo>
                  <a:close/>
                  <a:moveTo>
                    <a:pt x="152400" y="100013"/>
                  </a:moveTo>
                  <a:cubicBezTo>
                    <a:pt x="144482" y="100013"/>
                    <a:pt x="138113" y="106382"/>
                    <a:pt x="138113" y="114300"/>
                  </a:cubicBezTo>
                  <a:lnTo>
                    <a:pt x="138113" y="180975"/>
                  </a:lnTo>
                  <a:cubicBezTo>
                    <a:pt x="138113" y="188893"/>
                    <a:pt x="144482" y="195263"/>
                    <a:pt x="152400" y="195263"/>
                  </a:cubicBezTo>
                  <a:cubicBezTo>
                    <a:pt x="160318" y="195263"/>
                    <a:pt x="166688" y="188893"/>
                    <a:pt x="166688" y="180975"/>
                  </a:cubicBezTo>
                  <a:lnTo>
                    <a:pt x="166688" y="114300"/>
                  </a:lnTo>
                  <a:cubicBezTo>
                    <a:pt x="166688" y="106382"/>
                    <a:pt x="160318" y="100013"/>
                    <a:pt x="152400" y="100013"/>
                  </a:cubicBezTo>
                  <a:close/>
                  <a:moveTo>
                    <a:pt x="168295" y="228600"/>
                  </a:moveTo>
                  <a:cubicBezTo>
                    <a:pt x="168656" y="222700"/>
                    <a:pt x="165714" y="217087"/>
                    <a:pt x="160656" y="214027"/>
                  </a:cubicBezTo>
                  <a:cubicBezTo>
                    <a:pt x="155599" y="210968"/>
                    <a:pt x="149261" y="210968"/>
                    <a:pt x="144203" y="214027"/>
                  </a:cubicBezTo>
                  <a:cubicBezTo>
                    <a:pt x="139145" y="217087"/>
                    <a:pt x="136203" y="222700"/>
                    <a:pt x="136565" y="228600"/>
                  </a:cubicBezTo>
                  <a:cubicBezTo>
                    <a:pt x="136203" y="234500"/>
                    <a:pt x="139145" y="240113"/>
                    <a:pt x="144203" y="243173"/>
                  </a:cubicBezTo>
                  <a:cubicBezTo>
                    <a:pt x="149261" y="246232"/>
                    <a:pt x="155599" y="246232"/>
                    <a:pt x="160656" y="243173"/>
                  </a:cubicBezTo>
                  <a:cubicBezTo>
                    <a:pt x="165714" y="240113"/>
                    <a:pt x="168656" y="234500"/>
                    <a:pt x="168295" y="228600"/>
                  </a:cubicBezTo>
                  <a:close/>
                </a:path>
              </a:pathLst>
            </a:custGeom>
            <a:solidFill>
              <a:srgbClr val="C87E2F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9" name="Text 41">
              <a:extLst>
                <a:ext uri="{FF2B5EF4-FFF2-40B4-BE49-F238E27FC236}">
                  <a16:creationId xmlns:a16="http://schemas.microsoft.com/office/drawing/2014/main" id="{AA28D7FA-A86D-4D28-887E-5CE1F67DB0EA}"/>
                </a:ext>
              </a:extLst>
            </p:cNvPr>
            <p:cNvSpPr/>
            <p:nvPr/>
          </p:nvSpPr>
          <p:spPr>
            <a:xfrm>
              <a:off x="5685344" y="5499163"/>
              <a:ext cx="1755845" cy="6058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Voltage Violations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Overload Conditions</a:t>
              </a:r>
              <a:endParaRPr lang="en-US" sz="1200" dirty="0"/>
            </a:p>
          </p:txBody>
        </p:sp>
        <p:sp>
          <p:nvSpPr>
            <p:cNvPr id="40" name="Shape 42">
              <a:extLst>
                <a:ext uri="{FF2B5EF4-FFF2-40B4-BE49-F238E27FC236}">
                  <a16:creationId xmlns:a16="http://schemas.microsoft.com/office/drawing/2014/main" id="{2076FB20-F972-5D49-C26C-D0E70B330326}"/>
                </a:ext>
              </a:extLst>
            </p:cNvPr>
            <p:cNvSpPr/>
            <p:nvPr/>
          </p:nvSpPr>
          <p:spPr>
            <a:xfrm>
              <a:off x="7740967" y="5378001"/>
              <a:ext cx="2483878" cy="8481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1" name="Shape 43">
              <a:extLst>
                <a:ext uri="{FF2B5EF4-FFF2-40B4-BE49-F238E27FC236}">
                  <a16:creationId xmlns:a16="http://schemas.microsoft.com/office/drawing/2014/main" id="{F81665BF-2BB3-9F87-8309-256A6EB9D5A6}"/>
                </a:ext>
              </a:extLst>
            </p:cNvPr>
            <p:cNvSpPr/>
            <p:nvPr/>
          </p:nvSpPr>
          <p:spPr>
            <a:xfrm>
              <a:off x="7869444" y="5499163"/>
              <a:ext cx="205562" cy="29079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12" y="304800"/>
                    <a:pt x="304800" y="236512"/>
                    <a:pt x="304800" y="152400"/>
                  </a:cubicBezTo>
                  <a:cubicBezTo>
                    <a:pt x="304800" y="68288"/>
                    <a:pt x="236512" y="0"/>
                    <a:pt x="152400" y="0"/>
                  </a:cubicBezTo>
                  <a:cubicBezTo>
                    <a:pt x="68288" y="0"/>
                    <a:pt x="0" y="68288"/>
                    <a:pt x="0" y="152400"/>
                  </a:cubicBezTo>
                  <a:cubicBezTo>
                    <a:pt x="0" y="236512"/>
                    <a:pt x="68288" y="304800"/>
                    <a:pt x="152400" y="304800"/>
                  </a:cubicBezTo>
                  <a:close/>
                  <a:moveTo>
                    <a:pt x="202644" y="126623"/>
                  </a:moveTo>
                  <a:lnTo>
                    <a:pt x="155019" y="202823"/>
                  </a:lnTo>
                  <a:cubicBezTo>
                    <a:pt x="152519" y="206812"/>
                    <a:pt x="148233" y="209312"/>
                    <a:pt x="143530" y="209550"/>
                  </a:cubicBezTo>
                  <a:cubicBezTo>
                    <a:pt x="138827" y="209788"/>
                    <a:pt x="134302" y="207645"/>
                    <a:pt x="131505" y="203835"/>
                  </a:cubicBezTo>
                  <a:lnTo>
                    <a:pt x="102930" y="165735"/>
                  </a:lnTo>
                  <a:cubicBezTo>
                    <a:pt x="98167" y="159425"/>
                    <a:pt x="99477" y="150495"/>
                    <a:pt x="105787" y="145733"/>
                  </a:cubicBezTo>
                  <a:cubicBezTo>
                    <a:pt x="112097" y="140970"/>
                    <a:pt x="121027" y="142280"/>
                    <a:pt x="125790" y="148590"/>
                  </a:cubicBezTo>
                  <a:lnTo>
                    <a:pt x="141863" y="170021"/>
                  </a:lnTo>
                  <a:lnTo>
                    <a:pt x="178415" y="111502"/>
                  </a:lnTo>
                  <a:cubicBezTo>
                    <a:pt x="182582" y="104835"/>
                    <a:pt x="191393" y="102751"/>
                    <a:pt x="198120" y="106978"/>
                  </a:cubicBezTo>
                  <a:cubicBezTo>
                    <a:pt x="204847" y="111204"/>
                    <a:pt x="206871" y="119955"/>
                    <a:pt x="202644" y="126683"/>
                  </a:cubicBezTo>
                  <a:close/>
                </a:path>
              </a:pathLst>
            </a:custGeom>
            <a:solidFill>
              <a:srgbClr val="6B8E8E"/>
            </a:solidFill>
            <a:ln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5D950FB1-5C35-55D8-D5B8-3E72A64F98E8}"/>
                </a:ext>
              </a:extLst>
            </p:cNvPr>
            <p:cNvSpPr/>
            <p:nvPr/>
          </p:nvSpPr>
          <p:spPr>
            <a:xfrm>
              <a:off x="8169222" y="5499163"/>
              <a:ext cx="1927147" cy="6058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Physical Feasibility</a:t>
              </a:r>
              <a:endParaRPr lang="en-US" sz="1200" dirty="0"/>
            </a:p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Verified Operating States</a:t>
              </a:r>
              <a:endParaRPr 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515BA7-F14C-AD57-A97A-747AEE0B6432}"/>
                </a:ext>
              </a:extLst>
            </p:cNvPr>
            <p:cNvSpPr txBox="1"/>
            <p:nvPr/>
          </p:nvSpPr>
          <p:spPr>
            <a:xfrm>
              <a:off x="6084264" y="4657132"/>
              <a:ext cx="5419368" cy="593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C87E2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AI performs forecasting</a:t>
              </a:r>
              <a:r>
                <a:rPr lang="en-US" sz="18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→ </a:t>
              </a:r>
              <a:r>
                <a:rPr lang="en-US" sz="1800" dirty="0" err="1">
                  <a:solidFill>
                    <a:srgbClr val="1B4D4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OpenDSS</a:t>
              </a:r>
              <a:r>
                <a:rPr lang="en-US" sz="1800" dirty="0">
                  <a:solidFill>
                    <a:srgbClr val="1B4D4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performs load-flow</a:t>
              </a:r>
              <a:r>
                <a:rPr lang="en-US" sz="18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→ </a:t>
              </a:r>
              <a:r>
                <a:rPr lang="en-US" sz="1800" dirty="0">
                  <a:solidFill>
                    <a:srgbClr val="4A7C7C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System feasibility is verified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4668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4EB14661-E628-3858-297A-8A4B2C1031F2}"/>
              </a:ext>
            </a:extLst>
          </p:cNvPr>
          <p:cNvSpPr/>
          <p:nvPr/>
        </p:nv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w="12700">
            <a:solidFill>
              <a:srgbClr val="D0D8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DCA8651-F09E-B938-DC1B-BB59506A2A87}"/>
              </a:ext>
            </a:extLst>
          </p:cNvPr>
          <p:cNvSpPr/>
          <p:nvPr/>
        </p:nvSpPr>
        <p:spPr>
          <a:xfrm>
            <a:off x="347609" y="1808435"/>
            <a:ext cx="3429000" cy="11430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9765C0D-2ED9-CD53-7DC1-3D65A7D8A87E}"/>
              </a:ext>
            </a:extLst>
          </p:cNvPr>
          <p:cNvSpPr/>
          <p:nvPr/>
        </p:nvSpPr>
        <p:spPr>
          <a:xfrm>
            <a:off x="601609" y="1871935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Days</a:t>
            </a:r>
            <a:endParaRPr lang="en-US" sz="1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366EC865-4ECC-FCBA-4C8D-28EF94A4E980}"/>
              </a:ext>
            </a:extLst>
          </p:cNvPr>
          <p:cNvSpPr/>
          <p:nvPr/>
        </p:nvSpPr>
        <p:spPr>
          <a:xfrm>
            <a:off x="601609" y="2506935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Horizon</a:t>
            </a:r>
            <a:endParaRPr lang="en-US" sz="16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62FB70C-40DE-CD5F-CBC6-9F88CFBA9B86}"/>
              </a:ext>
            </a:extLst>
          </p:cNvPr>
          <p:cNvSpPr/>
          <p:nvPr/>
        </p:nvSpPr>
        <p:spPr>
          <a:xfrm>
            <a:off x="4030609" y="1808435"/>
            <a:ext cx="3429000" cy="11430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7516AB4-264E-3E0B-A389-DC13D91DFB82}"/>
              </a:ext>
            </a:extLst>
          </p:cNvPr>
          <p:cNvSpPr/>
          <p:nvPr/>
        </p:nvSpPr>
        <p:spPr>
          <a:xfrm>
            <a:off x="4284609" y="1871935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Hour</a:t>
            </a:r>
            <a:endParaRPr lang="en-US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CA73DADB-0570-4E0E-FAD2-08289C018C64}"/>
              </a:ext>
            </a:extLst>
          </p:cNvPr>
          <p:cNvSpPr/>
          <p:nvPr/>
        </p:nvSpPr>
        <p:spPr>
          <a:xfrm>
            <a:off x="4284609" y="2506935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Resolution</a:t>
            </a:r>
            <a:endParaRPr lang="en-US" sz="16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0D54648-3347-079B-CCF9-821E85D87506}"/>
              </a:ext>
            </a:extLst>
          </p:cNvPr>
          <p:cNvSpPr/>
          <p:nvPr/>
        </p:nvSpPr>
        <p:spPr>
          <a:xfrm>
            <a:off x="7713609" y="1808435"/>
            <a:ext cx="3429000" cy="1143000"/>
          </a:xfrm>
          <a:prstGeom prst="rect">
            <a:avLst/>
          </a:prstGeom>
          <a:solidFill>
            <a:srgbClr val="1B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94921418-12AD-D265-11C6-CA5F54D0C5BC}"/>
              </a:ext>
            </a:extLst>
          </p:cNvPr>
          <p:cNvSpPr/>
          <p:nvPr/>
        </p:nvSpPr>
        <p:spPr>
          <a:xfrm>
            <a:off x="7967609" y="1871935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168</a:t>
            </a:r>
            <a:endParaRPr lang="en-US" sz="16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476765EF-35E5-2D50-35AE-1ADFE08B62F4}"/>
              </a:ext>
            </a:extLst>
          </p:cNvPr>
          <p:cNvSpPr/>
          <p:nvPr/>
        </p:nvSpPr>
        <p:spPr>
          <a:xfrm>
            <a:off x="7967609" y="2506935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Simulation Instances</a:t>
            </a:r>
            <a:endParaRPr lang="en-US" sz="16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0BE653-3460-ACB4-B2EC-7E94F3218920}"/>
              </a:ext>
            </a:extLst>
          </p:cNvPr>
          <p:cNvGrpSpPr/>
          <p:nvPr/>
        </p:nvGrpSpPr>
        <p:grpSpPr>
          <a:xfrm>
            <a:off x="172951" y="3605224"/>
            <a:ext cx="11844391" cy="2092777"/>
            <a:chOff x="11987" y="2921000"/>
            <a:chExt cx="15482013" cy="1805781"/>
          </a:xfrm>
        </p:grpSpPr>
        <p:sp>
          <p:nvSpPr>
            <p:cNvPr id="17" name="Text 17">
              <a:extLst>
                <a:ext uri="{FF2B5EF4-FFF2-40B4-BE49-F238E27FC236}">
                  <a16:creationId xmlns:a16="http://schemas.microsoft.com/office/drawing/2014/main" id="{A2F20025-AEC8-F55E-BE33-FAEDB7FFD0EF}"/>
                </a:ext>
              </a:extLst>
            </p:cNvPr>
            <p:cNvSpPr/>
            <p:nvPr/>
          </p:nvSpPr>
          <p:spPr>
            <a:xfrm>
              <a:off x="762000" y="2921000"/>
              <a:ext cx="5080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b="1" dirty="0">
                  <a:solidFill>
                    <a:srgbClr val="1B4D4D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Hourly Simulation Workflow</a:t>
              </a:r>
              <a:endParaRPr lang="en-US" sz="2000" dirty="0"/>
            </a:p>
          </p:txBody>
        </p:sp>
        <p:sp>
          <p:nvSpPr>
            <p:cNvPr id="18" name="Shape 18">
              <a:extLst>
                <a:ext uri="{FF2B5EF4-FFF2-40B4-BE49-F238E27FC236}">
                  <a16:creationId xmlns:a16="http://schemas.microsoft.com/office/drawing/2014/main" id="{2E435540-9B6B-42F7-0533-ED6C09BC5D2B}"/>
                </a:ext>
              </a:extLst>
            </p:cNvPr>
            <p:cNvSpPr/>
            <p:nvPr/>
          </p:nvSpPr>
          <p:spPr>
            <a:xfrm>
              <a:off x="11987" y="3456781"/>
              <a:ext cx="4318000" cy="127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2ABE9179-B89C-92FA-5B7C-1EBCACD7A92C}"/>
                </a:ext>
              </a:extLst>
            </p:cNvPr>
            <p:cNvSpPr/>
            <p:nvPr/>
          </p:nvSpPr>
          <p:spPr>
            <a:xfrm>
              <a:off x="11987" y="3456781"/>
              <a:ext cx="50800" cy="1270000"/>
            </a:xfrm>
            <a:prstGeom prst="rect">
              <a:avLst/>
            </a:prstGeom>
            <a:solidFill>
              <a:srgbClr val="1B4D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20">
              <a:extLst>
                <a:ext uri="{FF2B5EF4-FFF2-40B4-BE49-F238E27FC236}">
                  <a16:creationId xmlns:a16="http://schemas.microsoft.com/office/drawing/2014/main" id="{48B5BE8A-77D4-14F8-80DB-A7A5799124BF}"/>
                </a:ext>
              </a:extLst>
            </p:cNvPr>
            <p:cNvSpPr/>
            <p:nvPr/>
          </p:nvSpPr>
          <p:spPr>
            <a:xfrm>
              <a:off x="265987" y="3558381"/>
              <a:ext cx="635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1B4D4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0E8215DD-7A7D-68E0-6FB4-306F862D68E4}"/>
                </a:ext>
              </a:extLst>
            </p:cNvPr>
            <p:cNvSpPr/>
            <p:nvPr/>
          </p:nvSpPr>
          <p:spPr>
            <a:xfrm>
              <a:off x="900987" y="3558381"/>
              <a:ext cx="3175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CNN-LSTM Prediction</a:t>
              </a:r>
              <a:endParaRPr lang="en-US" sz="1600" dirty="0"/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AACE6A08-E9D2-0B07-B0DC-D6EE19941357}"/>
                </a:ext>
              </a:extLst>
            </p:cNvPr>
            <p:cNvSpPr/>
            <p:nvPr/>
          </p:nvSpPr>
          <p:spPr>
            <a:xfrm>
              <a:off x="265987" y="3990181"/>
              <a:ext cx="38100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40000"/>
                </a:lnSpc>
              </a:pPr>
              <a:r>
                <a:rPr lang="en-US" sz="13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Predicts sector-wise load and renewable generation for the next hour</a:t>
              </a:r>
              <a:endParaRPr lang="en-US" sz="1600" dirty="0"/>
            </a:p>
          </p:txBody>
        </p:sp>
        <p:sp>
          <p:nvSpPr>
            <p:cNvPr id="23" name="Shape 23">
              <a:extLst>
                <a:ext uri="{FF2B5EF4-FFF2-40B4-BE49-F238E27FC236}">
                  <a16:creationId xmlns:a16="http://schemas.microsoft.com/office/drawing/2014/main" id="{40D62A12-F960-A0AE-BBCF-4965AE06BDCE}"/>
                </a:ext>
              </a:extLst>
            </p:cNvPr>
            <p:cNvSpPr/>
            <p:nvPr/>
          </p:nvSpPr>
          <p:spPr>
            <a:xfrm>
              <a:off x="4583987" y="4091781"/>
              <a:ext cx="762000" cy="0"/>
            </a:xfrm>
            <a:prstGeom prst="straightConnector1">
              <a:avLst/>
            </a:prstGeom>
            <a:noFill/>
            <a:ln w="25400">
              <a:solidFill>
                <a:srgbClr val="6B8E8E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4">
              <a:extLst>
                <a:ext uri="{FF2B5EF4-FFF2-40B4-BE49-F238E27FC236}">
                  <a16:creationId xmlns:a16="http://schemas.microsoft.com/office/drawing/2014/main" id="{C6665B0D-79EA-C023-E06B-FDCCDEB4B897}"/>
                </a:ext>
              </a:extLst>
            </p:cNvPr>
            <p:cNvSpPr/>
            <p:nvPr/>
          </p:nvSpPr>
          <p:spPr>
            <a:xfrm>
              <a:off x="5599987" y="3456781"/>
              <a:ext cx="4318000" cy="127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5">
              <a:extLst>
                <a:ext uri="{FF2B5EF4-FFF2-40B4-BE49-F238E27FC236}">
                  <a16:creationId xmlns:a16="http://schemas.microsoft.com/office/drawing/2014/main" id="{0E68BF23-1E19-BA34-A7EA-3A8C82C1E1DB}"/>
                </a:ext>
              </a:extLst>
            </p:cNvPr>
            <p:cNvSpPr/>
            <p:nvPr/>
          </p:nvSpPr>
          <p:spPr>
            <a:xfrm>
              <a:off x="5599987" y="3456781"/>
              <a:ext cx="50800" cy="1270000"/>
            </a:xfrm>
            <a:prstGeom prst="rect">
              <a:avLst/>
            </a:prstGeom>
            <a:solidFill>
              <a:srgbClr val="4A7C7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6">
              <a:extLst>
                <a:ext uri="{FF2B5EF4-FFF2-40B4-BE49-F238E27FC236}">
                  <a16:creationId xmlns:a16="http://schemas.microsoft.com/office/drawing/2014/main" id="{0B1A9B88-F98A-17C8-44B6-8D52ABDF4906}"/>
                </a:ext>
              </a:extLst>
            </p:cNvPr>
            <p:cNvSpPr/>
            <p:nvPr/>
          </p:nvSpPr>
          <p:spPr>
            <a:xfrm>
              <a:off x="5853987" y="3558381"/>
              <a:ext cx="635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4A7C7C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27" name="Text 27">
              <a:extLst>
                <a:ext uri="{FF2B5EF4-FFF2-40B4-BE49-F238E27FC236}">
                  <a16:creationId xmlns:a16="http://schemas.microsoft.com/office/drawing/2014/main" id="{943D3DDC-4A75-AE3C-4DD7-3C5C4CCBAE69}"/>
                </a:ext>
              </a:extLst>
            </p:cNvPr>
            <p:cNvSpPr/>
            <p:nvPr/>
          </p:nvSpPr>
          <p:spPr>
            <a:xfrm>
              <a:off x="6488987" y="3558381"/>
              <a:ext cx="3175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OpenDSS Load Flow</a:t>
              </a:r>
              <a:endParaRPr lang="en-US" sz="1600" dirty="0"/>
            </a:p>
          </p:txBody>
        </p:sp>
        <p:sp>
          <p:nvSpPr>
            <p:cNvPr id="28" name="Text 28">
              <a:extLst>
                <a:ext uri="{FF2B5EF4-FFF2-40B4-BE49-F238E27FC236}">
                  <a16:creationId xmlns:a16="http://schemas.microsoft.com/office/drawing/2014/main" id="{5E8106D9-AF46-019E-C3DF-521B95D12C1E}"/>
                </a:ext>
              </a:extLst>
            </p:cNvPr>
            <p:cNvSpPr/>
            <p:nvPr/>
          </p:nvSpPr>
          <p:spPr>
            <a:xfrm>
              <a:off x="5853987" y="3990181"/>
              <a:ext cx="38100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40000"/>
                </a:lnSpc>
              </a:pPr>
              <a:r>
                <a:rPr lang="en-US" sz="13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Solves corresponding power flow for the predicted operating point</a:t>
              </a:r>
              <a:endParaRPr lang="en-US" sz="1600" dirty="0"/>
            </a:p>
          </p:txBody>
        </p:sp>
        <p:sp>
          <p:nvSpPr>
            <p:cNvPr id="29" name="Shape 29">
              <a:extLst>
                <a:ext uri="{FF2B5EF4-FFF2-40B4-BE49-F238E27FC236}">
                  <a16:creationId xmlns:a16="http://schemas.microsoft.com/office/drawing/2014/main" id="{BA3FC662-4739-7D7B-1185-8BE9F2ACDCC1}"/>
                </a:ext>
              </a:extLst>
            </p:cNvPr>
            <p:cNvSpPr/>
            <p:nvPr/>
          </p:nvSpPr>
          <p:spPr>
            <a:xfrm>
              <a:off x="10171987" y="4091781"/>
              <a:ext cx="762000" cy="0"/>
            </a:xfrm>
            <a:prstGeom prst="straightConnector1">
              <a:avLst/>
            </a:prstGeom>
            <a:noFill/>
            <a:ln w="25400">
              <a:solidFill>
                <a:srgbClr val="6B8E8E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7775CCFA-1F3A-A364-6849-AAE5E9519D9B}"/>
                </a:ext>
              </a:extLst>
            </p:cNvPr>
            <p:cNvSpPr/>
            <p:nvPr/>
          </p:nvSpPr>
          <p:spPr>
            <a:xfrm>
              <a:off x="11938000" y="3429000"/>
              <a:ext cx="3556000" cy="127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D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31">
              <a:extLst>
                <a:ext uri="{FF2B5EF4-FFF2-40B4-BE49-F238E27FC236}">
                  <a16:creationId xmlns:a16="http://schemas.microsoft.com/office/drawing/2014/main" id="{B55ACE9B-0A2D-9399-3D2B-D6ABBB69FAE2}"/>
                </a:ext>
              </a:extLst>
            </p:cNvPr>
            <p:cNvSpPr/>
            <p:nvPr/>
          </p:nvSpPr>
          <p:spPr>
            <a:xfrm>
              <a:off x="11187987" y="3456781"/>
              <a:ext cx="50800" cy="1270000"/>
            </a:xfrm>
            <a:prstGeom prst="rect">
              <a:avLst/>
            </a:prstGeom>
            <a:solidFill>
              <a:srgbClr val="C87E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2">
              <a:extLst>
                <a:ext uri="{FF2B5EF4-FFF2-40B4-BE49-F238E27FC236}">
                  <a16:creationId xmlns:a16="http://schemas.microsoft.com/office/drawing/2014/main" id="{2271853D-3CCF-FBB3-EC36-82F6E7767D6B}"/>
                </a:ext>
              </a:extLst>
            </p:cNvPr>
            <p:cNvSpPr/>
            <p:nvPr/>
          </p:nvSpPr>
          <p:spPr>
            <a:xfrm>
              <a:off x="11441987" y="3558381"/>
              <a:ext cx="635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C87E2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33" name="Text 33">
              <a:extLst>
                <a:ext uri="{FF2B5EF4-FFF2-40B4-BE49-F238E27FC236}">
                  <a16:creationId xmlns:a16="http://schemas.microsoft.com/office/drawing/2014/main" id="{B6263459-D620-BDD4-1381-E05C63F6A9C2}"/>
                </a:ext>
              </a:extLst>
            </p:cNvPr>
            <p:cNvSpPr/>
            <p:nvPr/>
          </p:nvSpPr>
          <p:spPr>
            <a:xfrm>
              <a:off x="12076987" y="3558381"/>
              <a:ext cx="2413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500" b="1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Violation Check</a:t>
              </a:r>
              <a:endParaRPr lang="en-US" sz="1600" dirty="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6BEA453A-1046-555D-A716-40A24CFC22E4}"/>
                </a:ext>
              </a:extLst>
            </p:cNvPr>
            <p:cNvSpPr/>
            <p:nvPr/>
          </p:nvSpPr>
          <p:spPr>
            <a:xfrm>
              <a:off x="11441987" y="3990181"/>
              <a:ext cx="30480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40000"/>
                </a:lnSpc>
              </a:pPr>
              <a:r>
                <a:rPr lang="en-US" sz="1300" dirty="0">
                  <a:solidFill>
                    <a:srgbClr val="1A1A1A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Checks for voltage and loading violations in system state</a:t>
              </a:r>
              <a:endParaRPr lang="en-US" sz="1600" dirty="0"/>
            </a:p>
          </p:txBody>
        </p:sp>
      </p:grpSp>
      <p:sp>
        <p:nvSpPr>
          <p:cNvPr id="37" name="Title 36">
            <a:extLst>
              <a:ext uri="{FF2B5EF4-FFF2-40B4-BE49-F238E27FC236}">
                <a16:creationId xmlns:a16="http://schemas.microsoft.com/office/drawing/2014/main" id="{2B1FF9EB-23C0-FC51-25CD-6CCB5894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Seven-Day Ahead Forecast and Hourly Load Flow Analysis</a:t>
            </a:r>
          </a:p>
        </p:txBody>
      </p:sp>
    </p:spTree>
    <p:extLst>
      <p:ext uri="{BB962C8B-B14F-4D97-AF65-F5344CB8AC3E}">
        <p14:creationId xmlns:p14="http://schemas.microsoft.com/office/powerpoint/2010/main" val="3509434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FAFA-7BA7-39A3-E063-AACD061B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LLM-Assisted Analysis of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OpenDSS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6E0809-1BDC-D0EA-B20E-1DDEAFF56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941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0221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C206-9429-324B-69A4-E594A755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950645-42AB-29BC-F46C-64670E332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8101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384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1048</Words>
  <Application>Microsoft Office PowerPoint</Application>
  <PresentationFormat>Widescreen</PresentationFormat>
  <Paragraphs>276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Quattrocento Sans</vt:lpstr>
      <vt:lpstr>QuattrocentoSans</vt:lpstr>
      <vt:lpstr>Times New Roman</vt:lpstr>
      <vt:lpstr>Office Theme</vt:lpstr>
      <vt:lpstr>PowerPoint Presentation</vt:lpstr>
      <vt:lpstr>System Design</vt:lpstr>
      <vt:lpstr>Single Line Diagram</vt:lpstr>
      <vt:lpstr>System Ratings and Design Choices</vt:lpstr>
      <vt:lpstr>Weather-Driven Dataset for Kerala Microgrid</vt:lpstr>
      <vt:lpstr>CNN-LSTM Architecture for Hourly Microgrid Forecasting</vt:lpstr>
      <vt:lpstr>CNN-LSTM Architecture for Hourly Microgrid Forecasting</vt:lpstr>
      <vt:lpstr>Data Preparation and Model Training Pipeline</vt:lpstr>
      <vt:lpstr>PowerPoint Presentation</vt:lpstr>
      <vt:lpstr>Forecasting Results: Actual vs Predicted</vt:lpstr>
      <vt:lpstr>PowerPoint Presentation</vt:lpstr>
      <vt:lpstr>PowerPoint Presentation</vt:lpstr>
      <vt:lpstr>PowerPoint Presentation</vt:lpstr>
      <vt:lpstr>PowerPoint Presentation</vt:lpstr>
      <vt:lpstr>Work Timeline</vt:lpstr>
      <vt:lpstr>Performance Evaluation of CNN-LSTM</vt:lpstr>
      <vt:lpstr>CNN-LSTM vs Baseline Forecasting Models</vt:lpstr>
      <vt:lpstr>OpenDSS-Based Validation of AI Forecasts</vt:lpstr>
      <vt:lpstr>Seven-Day Ahead Forecast and Hourly Load Flow Analysis</vt:lpstr>
      <vt:lpstr>LLM-Assisted Analysis of OpenDSS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Cherin Jacob</dc:creator>
  <cp:lastModifiedBy>Cherin Jacob</cp:lastModifiedBy>
  <cp:revision>2</cp:revision>
  <dcterms:created xsi:type="dcterms:W3CDTF">2026-05-02T06:58:24Z</dcterms:created>
  <dcterms:modified xsi:type="dcterms:W3CDTF">2026-05-02T19:54:33Z</dcterms:modified>
</cp:coreProperties>
</file>